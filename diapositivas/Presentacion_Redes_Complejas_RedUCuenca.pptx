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Flujo máximo (Mbps)</c:v>
                </c:pt>
              </c:strCache>
            </c:strRef>
          </c:tx>
          <c:spPr>
            <a:solidFill>
              <a:srgbClr val="1E2761"/>
            </a:solidFill>
            <a:effectLst/>
          </c:spPr>
          <c:invertIfNegative val="0"/>
          <c:dLbls>
            <c:numFmt formatCode="#,##0" sourceLinked="0"/>
            <c:txPr>
              <a:bodyPr/>
              <a:lstStyle/>
              <a:p>
                <a:pPr>
                  <a:defRPr b="0" i="0" strike="noStrike" sz="1100" u="none">
                    <a:solidFill>
                      <a:srgbClr val="1B1F2A"/>
                    </a:solidFill>
                    <a:latin typeface="Calibri"/>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1E2761"/>
              </a:solidFill>
              <a:effectLst/>
            </c:spPr>
          </c:dPt>
          <c:dPt>
            <c:idx val="2"/>
            <c:invertIfNegative val="0"/>
            <c:bubble3D val="0"/>
            <c:spPr>
              <a:solidFill>
                <a:srgbClr val="1E2761"/>
              </a:solidFill>
              <a:effectLst/>
            </c:spPr>
          </c:dPt>
          <c:dPt>
            <c:idx val="3"/>
            <c:invertIfNegative val="0"/>
            <c:bubble3D val="0"/>
            <c:spPr>
              <a:solidFill>
                <a:srgbClr val="1E2761"/>
              </a:solidFill>
              <a:effectLst/>
            </c:spPr>
          </c:dPt>
          <c:dPt>
            <c:idx val="4"/>
            <c:invertIfNegative val="0"/>
            <c:bubble3D val="0"/>
            <c:spPr>
              <a:solidFill>
                <a:srgbClr val="1E2761"/>
              </a:solidFill>
              <a:effectLst/>
            </c:spPr>
          </c:dPt>
          <c:dPt>
            <c:idx val="5"/>
            <c:invertIfNegative val="0"/>
            <c:bubble3D val="0"/>
            <c:spPr>
              <a:solidFill>
                <a:srgbClr val="1E2761"/>
              </a:solidFill>
              <a:effectLst/>
            </c:spPr>
          </c:dPt>
          <c:dPt>
            <c:idx val="6"/>
            <c:invertIfNegative val="0"/>
            <c:bubble3D val="0"/>
            <c:spPr>
              <a:solidFill>
                <a:srgbClr val="A01A24"/>
              </a:solidFill>
              <a:effectLst/>
            </c:spPr>
          </c:dPt>
          <c:cat>
            <c:multiLvlStrRef>
              <c:f>Sheet1!$A$2:$A$8</c:f>
              <c:multiLvlStrCache>
                <c:ptCount val="7"/>
                <c:lvl>
                  <c:pt idx="0">
                    <c:v>Central
(56 acc.)</c:v>
                  </c:pt>
                  <c:pt idx="1">
                    <c:v>Balzay
(24 acc.)</c:v>
                  </c:pt>
                  <c:pt idx="2">
                    <c:v>Museo
(1)</c:v>
                  </c:pt>
                  <c:pt idx="3">
                    <c:v>C. Histórico
(1)</c:v>
                  </c:pt>
                  <c:pt idx="4">
                    <c:v>Yanuncay
(11 acc.)</c:v>
                  </c:pt>
                  <c:pt idx="5">
                    <c:v>Hospitalidad
(4 acc.)</c:v>
                  </c:pt>
                  <c:pt idx="6">
                    <c:v>PARAÍSO
(35 acc.)</c:v>
                  </c:pt>
                </c:lvl>
              </c:multiLvlStrCache>
            </c:multiLvlStrRef>
          </c:cat>
          <c:val>
            <c:numRef>
              <c:f>Sheet1!$B$2:$B$8</c:f>
              <c:numCache>
                <c:formatCode>General</c:formatCode>
                <c:ptCount val="7"/>
                <c:pt idx="0">
                  <c:v>44000</c:v>
                </c:pt>
                <c:pt idx="1">
                  <c:v>23000</c:v>
                </c:pt>
                <c:pt idx="2">
                  <c:v>11000</c:v>
                </c:pt>
                <c:pt idx="3">
                  <c:v>11000</c:v>
                </c:pt>
                <c:pt idx="4">
                  <c:v>10000</c:v>
                </c:pt>
                <c:pt idx="5">
                  <c:v>4000</c:v>
                </c:pt>
                <c:pt idx="6">
                  <c:v>1000</c:v>
                </c:pt>
              </c:numCache>
            </c:numRef>
          </c:val>
        </c:ser>
        <c:dLbls>
          <c:numFmt formatCode="#,##0" sourceLinked="0"/>
          <c:txPr>
            <a:bodyPr/>
            <a:lstStyle/>
            <a:p>
              <a:pPr>
                <a:defRPr b="0" i="0" strike="noStrike" sz="1100" u="none">
                  <a:solidFill>
                    <a:srgbClr val="1B1F2A"/>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Calibri"/>
              </a:defRPr>
            </a:pPr>
            <a:endParaRPr lang="en-US"/>
          </a:p>
        </c:txPr>
        <c:crossAx val="2094734552"/>
        <c:crosses val="autoZero"/>
        <c:auto val="1"/>
        <c:lblAlgn val="ctr"/>
        <c:noMultiLvlLbl val="1"/>
      </c:catAx>
      <c:valAx>
        <c:axId val="2094734552"/>
        <c:scaling>
          <c:orientation val="minMax"/>
          <c:max val="5000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Tamaño final del brote (%)</c:v>
                </c:pt>
              </c:strCache>
            </c:strRef>
          </c:tx>
          <c:spPr>
            <a:solidFill>
              <a:srgbClr val="5B6472"/>
            </a:solidFill>
            <a:effectLst/>
          </c:spPr>
          <c:invertIfNegative val="0"/>
          <c:dLbls>
            <c:numFmt formatCode="0.0&quot;%&quot;" sourceLinked="0"/>
            <c:txPr>
              <a:bodyPr/>
              <a:lstStyle/>
              <a:p>
                <a:pPr>
                  <a:defRPr b="0" i="0" strike="noStrike" sz="1100" u="none">
                    <a:solidFill>
                      <a:srgbClr val="1B1F2A"/>
                    </a:solidFill>
                    <a:latin typeface="Calibri"/>
                  </a:defRPr>
                </a:pPr>
              </a:p>
            </c:txPr>
            <c:showLegendKey val="0"/>
            <c:showVal val="1"/>
            <c:showCatName val="0"/>
            <c:showSerName val="0"/>
            <c:showPercent val="0"/>
            <c:showBubbleSize val="0"/>
            <c:showLeaderLines val="0"/>
          </c:dLbls>
          <c:dPt>
            <c:idx val="0"/>
            <c:invertIfNegative val="0"/>
            <c:bubble3D val="0"/>
            <c:spPr>
              <a:solidFill>
                <a:srgbClr val="5B6472"/>
              </a:solidFill>
              <a:effectLst/>
            </c:spPr>
          </c:dPt>
          <c:dPt>
            <c:idx val="1"/>
            <c:invertIfNegative val="0"/>
            <c:bubble3D val="0"/>
            <c:spPr>
              <a:solidFill>
                <a:srgbClr val="8794AB"/>
              </a:solidFill>
              <a:effectLst/>
            </c:spPr>
          </c:dPt>
          <c:dPt>
            <c:idx val="2"/>
            <c:invertIfNegative val="0"/>
            <c:bubble3D val="0"/>
            <c:spPr>
              <a:solidFill>
                <a:srgbClr val="A01A24"/>
              </a:solidFill>
              <a:effectLst/>
            </c:spPr>
          </c:dPt>
          <c:cat>
            <c:multiLvlStrRef>
              <c:f>Sheet1!$A$2:$A$4</c:f>
              <c:multiLvlStrCache>
                <c:ptCount val="3"/>
                <c:lvl>
                  <c:pt idx="0">
                    <c:v>Sin inmunizar</c:v>
                  </c:pt>
                  <c:pt idx="1">
                    <c:v>Aleatoria (11)</c:v>
                  </c:pt>
                  <c:pt idx="2">
                    <c:v>Por centralidad (11)</c:v>
                  </c:pt>
                </c:lvl>
              </c:multiLvlStrCache>
            </c:multiLvlStrRef>
          </c:cat>
          <c:val>
            <c:numRef>
              <c:f>Sheet1!$B$2:$B$4</c:f>
              <c:numCache>
                <c:formatCode>General</c:formatCode>
                <c:ptCount val="3"/>
                <c:pt idx="0">
                  <c:v>40.5</c:v>
                </c:pt>
                <c:pt idx="1">
                  <c:v>36.1</c:v>
                </c:pt>
                <c:pt idx="2">
                  <c:v>9.2</c:v>
                </c:pt>
              </c:numCache>
            </c:numRef>
          </c:val>
        </c:ser>
        <c:dLbls>
          <c:numFmt formatCode="0.0&quot;%&quot;" sourceLinked="0"/>
          <c:txPr>
            <a:bodyPr/>
            <a:lstStyle/>
            <a:p>
              <a:pPr>
                <a:defRPr b="0" i="0" strike="noStrike" sz="1100" u="none">
                  <a:solidFill>
                    <a:srgbClr val="1B1F2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Calibri"/>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Presento el proyecto integrador del módulo de Redes Complejas.
El caso de estudio es la red de datos real de la Universidad de Cuenca: 177 equipos, 209 enlaces, seis campus y dos sedes, reconstruida a partir de los 34 diagramas del informe técnico institucional.
La presentación dura 15 minutos y sigue las cinco fases del módulo. Adelanto el mensaje central para que lo tengan en mente: la red está bien construida en el núcleo, pero tiene un punto débil grave y documentable en Campus Paraíso, y ese punto se puede corregir con la más barata de las cinco intervenciones que propongo.
[Tiempo: 0:00 –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Recorro las cinco fases del proyecto en orden, porque cada una se apoya en los resultados de la anterior: sin los cortes mínimos de la Fase 3 no hay ranking de criticidad en la Fase 4, y sin ese ranking no hay propuesta defendible en la Fase 5.
Voy a dedicar poco tiempo a "qué se calculó" y mucho a "qué decisión de ingeniería se deriva de cada resultado", que es el criterio de excelencia del enunciado.
[Tiempo: 0:40 –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cosas importan de esta lámina.
Primero, la escala: 177 nodos y 209 enlaces con densidad 0,0134. Es una red extremadamente dispersa; un nodo típico tiene dos o tres vecinos. Eso condiciona absolutamente todo lo que viene después.
Segundo, la jerarquía declarada: core, agregación y acceso. El informe técnico afirma que los troncales entre capas operan a 10 Gbps y que Balzay y Paraíso tienen redundancia física completa. Voy a volver sobre esa afirmación, porque los datos la contradicen en un caso.
Tercero, y es la cifra que quiero que retengan: solo 17 enlaces cruzan la frontera entre campus. Toda la institución cuelga de esos 17. Eso ya anticipa dónde van a estar los puntos críticos.
[Tiempo: 1:05 –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pregunta del enunciado, y es la que la última lámina tiene que poder responder.
El método son cinco fases encadenadas. Quiero subrayar la palabra "encadenadas": el ranking de criticidad de la Fase 4 usa los cortes mínimos calculados en la Fase 3, y las intervenciones de la Fase 5 salen de ese ranking. No es una colección de ejercicios independientes.
Y una nota de método: todos los algoritmos centrales están implementados desde cero. Graphs.jl solo se usa para verificar que mi BFS da las mismas distancias, y esa verificación es una aserción que aborta el script si falla. De Ford-Fulkerson, Edmonds-Karp y k-means reutilicé el código de referencia del módulo, citando la procedencia.
[Tiempo: 2:00 –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Empiezo por la Fase 1: medir la red y contrastar esas medidas con lo que el informe técnico institucional afirma. Es la fase que produce el hallazgo más importante de todo el proyecto.
[Tiempo: 2:40 –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medidas globales. Grado medio 2,36, clustering casi nulo, asortatividad negativa, distancia media 5,83 y diámetro 11.
Las dos cifras rojas son las que importan operativamente: 141 de las 209 aristas son puentes — el 67,5 % — y 47 de los 177 nodos son puntos de articulación. Ambos calculados con Tarjan implementado a mano.
Pero el dato más útil no es el total, es dónde están. Solo hay un punto de articulación en la capa core. El núcleo está bien construido. En cambio hay 26 en la capa de agregación, y cada uno de ellos es el único paso hacia un grupo entero de equipos de acceso. La fragilidad de esta red no está en el núcleo: está un nivel más abajo. Eso va a marcar toda la propuesta de rediseño.
[Tiempo: 2:45 – 3:40]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insiste en que no basta con tabular. Estas son las dos preguntas explícitas de P1 y las contesto directamente.
El clustering bajo: en una red social los amigos de una persona tienden a conocerse, y eso da un clustering de 0,3 a 0,6. En una jerarquía de red, dos equipos de acceso colgados del mismo switch no se conectan entre sí porque no aporta nada y consume puertos. El 0,0952 no es un defecto de la red, es la firma de una topología en estrella de estrellas.
La asortatividad negativa dice lo mismo desde otro ángulo: los nodos de alto grado se conectan con los de bajo grado. Un switch con 12 puertos los usa para colgar 12 equipos de acceso, no para hablar con otros 12 switches. En una red social el signo sería el contrario.
Es decir: dos cifras bastan para saber, sin ver un solo diagrama, que esto es infraestructura diseñada y no crecimiento social.
[Tiempo: 3:40 – 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distribución de grado. 113 de los 177 nodos tienen grado 1: son hojas, equipos de acceso terminales. En el otro extremo, los dos core de Campus Central con grado 17 y 16.
El enunciado pregunta si tiene sentido hablar de red libre de escala. Un ajuste de ley de potencias sobre la cola da alfa ≈ 2,04, que en la literatura se leería como "libre de escala". Sostengo que esa lectura sería incorrecta, y digo por qué: con 177 nodos la cola tiene 64 observaciones. Para afirmarlo haría falta el procedimiento completo de Clauset, Shalizi y Newman: estimar k mínimo por Kolmogorov-Smirnov, una prueba de bondad de ajuste con p-valor por remuestreo, y una comparación por razón de verosimilitud contra log-normal y exponencial, que en muestras pequeñas suelen ajustar igual de bien.
Lo que sí es indiscutible es la heterogeneidad de grado, y eso basta para explicar casi todo lo que viene después.
[Tiempo: 4:20 – 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pregunta si los nodos más centrales por grado coinciden con los más centrales por intermediación. La respuesta es no: solo 4 de los 10.
Y esa discrepancia es informativa. El grado cuenta vecinos directos: un switch de agregación con muchos puertos ocupados puntúa alto aunque no pase nadie por él. La intermediación cuenta por cuántos caminos mínimos entre terceros pasa un nodo: ahí puntúan los core y los routers de interconexión, que están en el único camino posible entre campus.
La consecuencia operativa está a la derecha, y es la parte que importa. BAL-AUL2-D1 es crítico para sus diez equipos; si cae, esos diez se quedan sin servicio y nadie más se entera. DATCC-2A-C3 o CPAR-C10 son críticos para todos los demás; si caen, se parte la red. Un plan de continuidad que priorice solo por número de usuarios afectados protegerá los primeros y descuidará los segundos.
[Tiempo: 4:55 –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hallazgo central del proyecto, y sale de contrastar los datos con lo que el informe técnico afirma.
El informe dice, textualmente, que Balzay y Paraíso implementan redundancia física completa entre core y agregación. Conté, para cada nodo de agregación, cuántas aristas tiene hacia nodos de capa core: dos o más es redundancia real, exactamente una es enlace simple.
Los datos confirman Balzay: sus nodos de agregación tienen doble enlace. Y refutan Paraíso: sus seis nodos de agregación tienen un único enlace, todos hacia el mismo core, CPAR-C10. Eso es agregación de puertos, no redundancia de núcleo. Si CPAR-C10 falla, cae Paraíso entero: 44 equipos, el 25 % de la institución.
Hay una sorpresa adicional: Campus Central, que el informe describe con enlaces simples, sí muestra redundancia real en los 13 nodos medidos. Lo más probable es que el informe se refiera a la capa agregación-acceso. Esa lectura benévola no aplica a Paraíso.
Voy a volver sobre esto dos veces más: en el flujo máximo y en el ranking de criticidad.
[Tiempo: 5:35 –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 pide comparar contra modelos nulos y decir qué propiedades NO se explican por la secuencia de grados. Generé 100 realizaciones de Erdős-Rényi y 100 del modelo de configuración, este último implementado a mano por emparejamiento de medios enlaces.
La lectura tiene dos partes.
El clustering real está a más de cinco desviaciones estándar por encima de Erdős-Rényi, lo que descarta el azar. Pero también está por encima del modelo de configuración, que sí fija la secuencia de grados. Conclusión: la heterogeneidad explica unos dos tercios, y el tercio restante solo puede venir de la topología real — los pares redundantes deliberados crean triángulos por diseño, no por accidente.
La distancia media va al revés: la real es MÁS alta que la de ambos nulos. La jerarquía estricta obliga a dar más saltos de los que la sola secuencia de grados predeciría.
Y Barabási-Albert da clustering exactamente cero, lo cual es coherente: una red física no crece por conexión preferencial. El contraste refuerza la conclusión: el mecanismo generador de esta red es el diseño.
[Tiempo: 6:25 –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visualizaciones que pide el enunciado, ambas con layout de resortes de Fruchterman-Reingold. Elegí ese layout porque en un grafo disperso y jerárquico minimiza cruces y separa los campus sin necesitar coordenadas geográficas, que no están en los datos.
La de la izquierda colorea por campus y muestra DÓNDE está cada cosa: siete islas conectadas por muy pocos enlaces.
La de la derecha dimensiona por intermediación y muestra QUÉ sostiene el conjunto: media docena de nodos desproporcionadamente grandes, situados justamente en las costuras entre islas.
Superponer mentalmente las dos da el diagnóstico de la red en una sola imagen — y anticipa exactamente la fragilidad ante ataque dirigido que voy a medir en la Fase 4.
[Tiempo: 7:05 – 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2: recorrer la red y particionarla. Dos preguntas: ¿la jerarquía declarada se refleja en las distancias reales? Y ¿qué bloques encuentra un algoritmo de comunidades que no sabe nada de campus?
[Tiempo: 7:25 –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BFS y DFS implementados desde cero — cola FIFO y pila explícita iterativa, ambos O(V+E), ambos verificados contra Graphs.jl.
El perfil de profundidad desde el core de Central responde la pregunta del enunciado. Si la jerarquía core-agregación-acceso se cumpliera al pie de la letra, casi todo debería estar a distancia dos o menos. Solo el 37 % lo está. El resto forma una cola que llega hasta distancia 8, por dos causas que conviene no confundir: campus remotos que solo llegan a Central cruzando la MPLS, y equipos de acceso colgados de otros equipos de acceso, que es un anti-patrón de diseño.
Dicho de otro modo: el modelo de tres capas del informe describe un campus, no la institución.
Sobre los ciclos: hay exactamente 33, el número ciclomático, y están casi todos en el core y la agregación de Central y Balzay. Paraíso y Yanuncay aportan un extremo cada uno. Ausencia de ciclos es ausencia de camino alternativo — es el mismo fenómeno que los puentes de P1, visto desde otro algoritmo.
Y sobre el técnico: DFS, sin ambigüedad. Un técnico no puede saltar entre ramas como sí hace BFS.
[Tiempo: 7:30 – 8:15]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Louvain implementado desde cero encuentra 22 comunidades con modularidad 0,75 — muy alta, típica de una red con bloques jerárquicos bien separados. Es estable: en cinco semillas el número varía entre 21 y 22 y el NMI contra la corrida de referencia nunca baja de 0,93.
Comparado con la partición por campus da NMI 0,584 y ARI 0,190. Parecen contradictorios y no lo son: la matriz de confusión es casi bloque-diagonal — Louvain no mezcla campus, pero sí subdivide los grandes. El NMI es moderado porque la partición refina; el ARI es bajo porque penaliza justamente la sobre-partición.
Lo interesante son los 11 nodos discrepantes. Casi todos son equipos WAN e interconexión: la nube MPLS, los dos PE de Central, el firewall, los routers de campus. Louvain los agrupa juntos porque forman un núcleo WAN funcionalmente propio, un bloque que existe en la topología pero que la etiqueta campus, que es geográfica, no puede expresar. Un administrador de red lo reconocería inmediatamente.
Y sobre el límite de resolución: sí hay evidencia concreta. Museo y Centro Histórico, con dos equipos cada una, no aparecen como comunidades propias pese a ser dominios administrativos separados. La modularidad no puede verlas porque están por debajo de raíz de 2m.
[Tiempo: 8:15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3, la de mayor peso en la rúbrica: seis puntos de veinticinco. Caminos mínimos, flujo máximo y localización de instalaciones.
[Tiempo: 9:00 – 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aplicar cualquier algoritmo hay que decidir qué se minimiza. Usé los tres modelos del enunciado y justifiqué las constantes físicamente: alfa 0,05 milisegundos es propagación más conmutación por salto a escala de campus; beta 12 megabits es una trama Ethernet de 1500 bytes, de modo que beta partido por c da directamente el tiempo de serialización.
Dijkstra con montículo propio y Floyd-Warshall coinciden en 20 pares al azar por los tres modelos: 60 verificaciones. El punto de equilibrio entre ambos crece de uno a doscientas fuentes con n, que es lo que predice la teoría; aquí conviene Floyd-Warshall porque necesito la matriz completa para cercanía y para p-mediana.
Lo importante es la tabla: saltos y latencia coinciden en 10 de 10 en el top de cercanía — el modelo de latencia es una perturbación pequeña del de saltos, y eso vale como control. Pero w_carga cambia el ranking POR COMPLETO. La causa está en los datos: 51 aristas tienen tráfico cero y por tanto peso exactamente cero. Muchos accesos quedan a distancia cero de su switch. No es un error: es que ese modelo mide congestión, no topología.
Sobre pesos negativos: ninguno de los tres puede darlos, así que Dijkstra es siempre válido aquí. La única excepción del proyecto es el flujo de costo mínimo, donde la red residual sí genera costos negativos y por eso ahí uso Bellman-Ford deliberadamente.
Y sobre protocolos reales: OSPF e IS-IS usan costo estático, no dependiente del tráfico instantáneo, porque si dependiera habría oscilación de rutas — route flapping — un problema documentado desde ARPANET.
[Tiempo: 9:05 – 9:55]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dice que se evalúa la justificación, no la cifra. La capacidad nominal solo consta en 28 de 209 aristas; estimé las 181 restantes con cinco reglas explícitas y registré el supuesto aplicado arista por arista, para que sea auditable.
La regla más discutible es la cuarta: 1 Gbps para los 111 uplinks de acceso, porque no está declarada por el informe y afecta a más de la mitad de las aristas. Lo señalo como tal.
Y aquí está el hallazgo original del proyecto. El enlace entre los dos core de Campus Central registra 1 890 Mbps de tráfico medido sobre una capacidad estimada de 1 000: una utilización de 1,89, físicamente imposible. La causa es que ese enlace core-core no cae en ninguna regla específica y recibe el valor por defecto. La medición demuestra que la estimación es incorrecta: ese enlace opera a 10 Gbps o más.
Es el único de las 209 aristas con utilización mayor que uno, lo cual a la vez valida el resto de las reglas y aísla el único punto donde fallan. No cambia ningún resultado de flujo de este informe porque ese enlace no pertenece a ningún corte mínimo, pero lo documento como recomendación de mejora del conjunto de datos.
[Tiempo: 9:55 – 10:30]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gráfico más importante de la presentación.
Modelé, para cada campus, el problema "todo el tráfico del campus sale hacia Internet": super-fuente sobre sus equipos de acceso, sumidero en INTERNET-MPLS. Lo resolví con Ford-Fulkerson y con Edmonds-Karp, reutilizando el código de referencia del módulo, y ambos dan el mismo flujo en los siete casos.
Miren la barra roja. Paraíso, con 35 equipos de acceso — más que Yanuncay y Hospitalidad juntos —, tiene 1 000 Mbps de salida. Cuarenta y cuatro veces menos que Central. Once veces menos que Yanuncay, que tiene un tercio de sus equipos.
El corte mínimo de Paraíso es una sola arista: CPAR-C10 a ROUTER-CAMPUS-HUAYNA-CAPAC. El teorema max-flow min-cut se verifica a mano en una línea: una arista de 1 000 Mbps, flujo máximo 1 000 Mbps.
Y esa arista también está en la lista de puentes de P1. El cuello de botella físico y el punto de fragilidad topológica coinciden exactamente. Es la confirmación cuantitativa, por una vía completamente independiente, del hallazgo de la Fase 1.
En Campus Central, en cambio, el corte son siete aristas de alta capacidad y ninguna es puente: perder una degrada el caudal pero no desconecta nada. Esa es exactamente la diferencia que hace la redundancia.
[Tiempo: 10:30 –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P7: dónde colocar p colectores de telemetría. Formulé p-mediana y p-centro como programas enteros y los resolví de dos maneras: heurística voraz y exactamente con JuMP y HiGHS.
La voraz alcanza el óptimo en p igual a 1 y a 5, y se queda entre 1,2 y 5,2 por ciento por encima en p igual a 2 y 3 — el comportamiento esperable de un voraz sin backtracking: en p=2 fija INTERNET-MPLS, que era la mejor solución para p=1, y ya no puede abandonarla, mientras que el óptimo sí lo hace.
La pregunta del enunciado es si coinciden con los nodos más centrales de P1. Solo parcialmente, y el motivo es conceptual: un colector no necesita estar en el camino de muchos pares ni en el medio de todo; necesita estar donde hay equipos que monitorear sin quedar lejos de ninguno. Los nodos de mayor intermediación son el core, que está cerca de pocos equipos de agregación y lejos de la mayoría de las hojas.
Con cinco colectores, el p-centro garantiza que ningún equipo de la institución quede a más de tres saltos, frente a los seis de un solo colector.
[Tiempo: 11:20 – 11:50]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4: qué tan grave sería la falla. Es la fase que responde la segunda parte de la pregunta del proyecto.
[Tiempo: 11:50 – 11:55]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paradoja de la robustez, confirmada con contundencia.
La red tolera perder el 23,7 % de sus nodos al azar — 42 equipos — antes de que la componente gigante caiga a la mitad. Un atacante dirigido logra lo mismo eliminando cuatro. Más de diez a uno.
Las tres estrategias dirigidas no son equivalentes, y el matiz importa. Grado e intermediación recalculada alcanzan el mismo umbral, pero por caminos distintos: al 5 % de bajas, el ataque por grado deja todavía el 38 % de la red conectada; el de intermediación recalculada deja el 5 %. Recalcular después de cada eliminación es, con diferencia, la estrategia más destructiva — y también la más costosa computacionalmente, lo cual en la práctica actúa como barrera para el atacante.
La consecuencia operativa está a la derecha y es lo que quiero que quede. Un plan de mantenimiento puede tratar los fallos como aleatorios. Un plan de respuesta a incidentes de seguridad no puede. Esos cuatro a ocho equipos necesitan protección desproporcionada respecto a su número.
Para enlaces la caída es menor — de 0,354 a 0,321 atacando primero los puentes — porque los 141 puentes ya son individualmente el peor caso posible: no queda margen para que un orden más inteligente empeore mucho más las cosas.
[Tiempo: 11:55 – 12:35]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resultados que se complementan.
Primero, la eficiencia global. E se define como el promedio del inverso de las distancias. Con solo el 2 % de los nodos atacados ya cayó al 61 % de su valor original, mientras la componente gigante apenas se movió; con el 5 %, cayó al 15 %.
¿Por qué? Porque la eficiencia pondera el inverso de la distancia. Un nodo que sigue técnicamente conectado pero ahora a ocho saltos en vez de a dos aporta casi nada, aunque siga contando entero en la componente gigante. Para el diagnóstico operativo esto es esencial: la red puede seguir "arriba", respondiendo a ping, mucho después de que el servicio percibido se haya degradado severamente. Un monitoreo que alarme solo por pérdida de conectividad detecta el problema demasiado tarde.
Segundo, las cascadas de Motter-Lai. Y aquí hay un resultado negativo que conviene decir con claridad: ningún nodo desencadena una cascada superior al 8,5 % de la red en toda la malla de tau, ni siquiera con margen cero. No existe un tau crítico positivo que reportar, y escribir "tau_c igual a cero" sería engañoso porque se leería al revés.
Esto NO contradice la fragilidad de P8: allí la métrica es conectividad, aquí es sobrecarga. Esta red se rompe por desconexión, no por efecto dominó. La consecuencia operativa es concreta: hace falta redundancia topológica, no sobredimensionar capacidad por si acaso.
[Tiempo: 12:35 – 13:10]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SIR, interpretado como un malware que se propaga entre equipos o un fallo de configuración replicado.
La predicción de campo medio da lambda crítico igual a 0,186. La simulación es coherente con esa predicción — el brote crece monótonamente con lambda sobre lambda crítico —, pero quiero ser explícito sobre la limitación: con 177 nodos y 60 realizaciones la desviación estándar es del orden de la media en varios puntos, así que la figura confirma el orden de magnitud, no localiza el umbral con precisión. Además, campo medio supone mezcla homogénea y desprecia la estructura de comunidades, que aquí es muy marcada.
La parte derecha es la que tiene valor operativo directo. Con el mismo presupuesto — once equipos parcheados, un 6 % de la red — la inmunización aleatoria reduce el brote un 11 % y la dirigida por centralidad un 77 %. Siete veces más. Es el resultado clásico de Pastor-Satorras y Vespignani reproducido sobre datos reales.
Y hay un segundo efecto que se cita menos y vale tanto como el primero: la desviación estándar cae de 29,7 a 3,0. La inmunización dirigida no solo reduce el daño esperado; elimina el riesgo de cola. Los escenarios catastróficos dejan de ser posibles. Para quien planifica una ventana de parcheo con recursos limitados, esa previsibilidad es oro.
[Tiempo: 13:10 – 13:40]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 consolida las cuatro fases anteriores en un ranking único. El índice es el promedio de cuatro componentes normalizados: intermediación, condición de punto de articulación, participación en los cortes mínimos de la Fase 3 y daño causado en la cascada de la Fase 4. Elegí pesos iguales deliberadamente y lo declaro: los cuatro miden cosas genuinamente distintas y no hay base técnica para privilegiar una a falta de una prioridad de negocio de la institución.
INTERNET-MPLS encabeza por ser el único punto de salida de toda la institución.
La sorpresa es el segundo puesto. BAL-AUL2-D1 no es core ni WAN: es un switch de agregación con intermediación modesta, 0,248. Pero participa en diez cortes mínimos, el máximo de la red. Ninguna centralidad clásica por sí sola lo habría detectado. Ese es exactamente el valor de combinar cuatro señales en lugar de una.
Y en cuarto y quinto lugar, en rojo, el par que sostiene todo Campus Paraíso. Cuatro caminos analíticos independientes — centralidades, redundancia declarada, flujo máximo y este índice — convergen en el mismo diagnóstico. Esa convergencia es la mejor evidencia de que el diagnóstico es correcto.
Nótese además que cinco de los diez puestos son switches de agregación, confirmando lo que dije al principio: la fragilidad no está en el núcleo.
[Tiempo: 13:40 – 14:10]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la Fase 5, que es donde el diagnóstico se convierte en una decisión. La restricción es dura: a lo sumo cinco cambios de topología.
[Tiempo: 14:10 – 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intervenciones, y cada una sale de un patrón concreto del diagnóstico, no de una intuición.
La primera y más importante: duplicar a 10 Gbps el enlace de salida de Paraíso. Es el cuello de botella de flujo más severo de la institución.
La segunda y la tercera atacan el mismo patrón: Hospitalidad y el Consultorio Jurídico dependen cada uno de un único enlace inferido a la nube MPLS, y ambos extremos son puntos de articulación. Les doy una ruta alterna hacia Campus Central.
La cuarta: Yanuncay depende de un único enlace troncal para sacar sus once equipos de acceso; ese enlace es, él solo, el corte mínimo del campus.
La quinta es la más modesta y la reconozco como tal: mitiga el equipo de mayor tráfico detrás de BAL-AUL2-D1, el segundo puesto del ranking. No resuelve el patrón general de acceso de único homing, que afecta a 132 nodos y está fuera de presupuesto.
Y una nota de modelado que quiero declarar en voz alta: duplicar un enlace en un grafo simple no crea una arista nueva. Una segunda fibra entre el mismo par de equipos protege contra el corte de una fibra, pero no contra la falla del equipo. Por eso la intervención uno la modelo como aumento de capacidad y no como arista nueva. Ocultar esa distinción habría inflado artificialmente la mejora que reporto en la siguiente lámina.
[Tiempo: 14:15 – 14:55]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resultados. Los puentes bajan exactamente en tres — uno por cada arista topológicamente nueva que ofrece ruta alterna real. La distancia media baja 3,1 %, la eficiencia sube 3,5 %, la robustez 3,7 %. Y el flujo de Paraíso se multiplica por diez.
Explico dos cosas que podrían leerse como debilidades y prefiero decirlas yo.
Primera: los puntos de articulación bajan solo en uno, no en tres. Dar una segunda ruta al campus no siempre quita a un nodo su condición de articulación local: HOS-0A-D05 sigue siendo el único paso hacia sus cuatro equipos, aunque el campus ya no dependa de un único enlace externo.
Segunda: el flujo de Hospitalidad no cambia. Su cuello de botella real no está en la salida sino en la capa interna. La nueva ruta mejora la robustez topológica, que era el objetivo, sin tocar esa capacidad.
Ahora la comparación con las alternativas, que es la parte que más me interesa. A primera vista las alternativas ganan: "mayor grado" da mejor distancia media y mejor eficiencia; la aleatoria reduce más los puentes. Un lector apresurado diría que mi propuesta es la peor de las tres.
La conclusión correcta es la contraria. "Mayor grado" conecta sistemáticamente pares que ya tienen múltiples caminos entre sí: son atajos genéricos que mejoran métricas promedio precisamente porque acortan rutas que ya funcionaban, y su robustez AUC es idéntica a la de la red base. Cero mejora en lo que importa. La aleatoria reduce puentes por pura estadística, sin dirección: no se sabe qué se reparó ni se puede defender ante un comité de inversión.
Y ninguna de las dos resuelve Paraíso, ni toca Hospitalidad.
La lección: optimizar una métrica agregada no es lo mismo que reparar un modo de falla.
[Tiempo: 14:55 – 15:40]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Recapitulo en seis conclusiones.
Uno: la red es una jerarquía dispersa cuyas propiedades se explican por su heterogeneidad de grado y por el diseño, no por patrones sociales ni crecimiento preferencial.
Dos: los puntos críticos están identificados y cuatro caminos analíticos independientes convergen en los mismos.
Tres: la falla sería grave y asimétrica — robusta al azar, frágil al ataque, y el servicio se degrada antes que la conectividad.
Cuatro: la fragilidad es de conectividad, no de sobrecarga en cadena. Eso cambia qué hay que comprar.
Cinco: el informe institucional sobreestima la redundancia de Paraíso, y es el hallazgo más accionable.
Seis: cinco enlaces bastan para mover la aguja, y la propuesta dirigida supera a las alternativas genéricas en lo que importa.
Y las limitaciones, que digo con la misma claridad: 181 capacidades son estimadas y el propio análisis encontró un caso donde la regla falla; el modelo no incorpora energía, rack ni licencias; la red se trata como estática; los resultados estocásticos son promedios; y no puedo concluir el retorno económico de nada, solo el impacto estructural.
[Tiempo: 15:40 – 16:20]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respondiendo la pregunta que el enunciado pone como criterio de excelencia.
Si yo fuera el administrador de esta red y tuviera presupuesto para cinco enlaces, construiría los cinco de la propuesta, y empezaría por Campus Paraíso.
La razón es que esa primera intervención es simultáneamente las tres cosas que rara vez coinciden: la más barata, porque es un cambio de óptica sobre fibra ya tendida y no requiere obra civil; la de mayor impacto medido, con un aumento de flujo del 900 %; y la que corrige una discrepancia documentada entre lo que el informe técnico institucional afirma y lo que los datos muestran.
Es decir: no es una decisión de compromiso. Es una decisión sin contrapartida, y por eso es por donde hay que empezar.
Gracias. Quedo atento a las preguntas.
[Tiempo: 16:20 – 17:00. Nota: si el tiempo aprieta, las láminas que puedo saltar sin perder el hilo son la 7 (por qué clustering/asortatividad), la 12 (visualizaciones) y la 20 (P7 localización) — dejan el argumento central intacto y sirven de respaldo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1463040"/>
            <a:ext cx="5669280" cy="566928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10241280" y="3291840"/>
            <a:ext cx="4023360" cy="4023360"/>
          </a:xfrm>
          <a:prstGeom prst="ellipse">
            <a:avLst/>
          </a:prstGeom>
          <a:solidFill>
            <a:srgbClr val="A01A24">
              <a:alpha val="30000"/>
            </a:srgbClr>
          </a:solidFill>
          <a:ln w="12700">
            <a:solidFill>
              <a:srgbClr val="A01A24">
                <a:alpha val="0"/>
              </a:srgbClr>
            </a:solidFill>
            <a:prstDash val="solid"/>
          </a:ln>
        </p:spPr>
      </p:sp>
      <p:sp>
        <p:nvSpPr>
          <p:cNvPr id="4" name="Text 2"/>
          <p:cNvSpPr/>
          <p:nvPr/>
        </p:nvSpPr>
        <p:spPr>
          <a:xfrm>
            <a:off x="548640" y="1143000"/>
            <a:ext cx="8412480" cy="310896"/>
          </a:xfrm>
          <a:prstGeom prst="rect">
            <a:avLst/>
          </a:prstGeom>
          <a:noFill/>
          <a:ln/>
        </p:spPr>
        <p:txBody>
          <a:bodyPr wrap="square" lIns="0" tIns="0" rIns="0" bIns="0" rtlCol="0" anchor="ctr"/>
          <a:lstStyle/>
          <a:p>
            <a:pPr indent="0" marL="0">
              <a:buNone/>
            </a:pPr>
            <a:r>
              <a:rPr lang="en-US" sz="1200" b="1" spc="160" kern="0" dirty="0">
                <a:solidFill>
                  <a:srgbClr val="CADCFC"/>
                </a:solidFill>
                <a:latin typeface="Calibri" pitchFamily="34" charset="0"/>
                <a:ea typeface="Calibri" pitchFamily="34" charset="-122"/>
                <a:cs typeface="Calibri" pitchFamily="34" charset="-120"/>
              </a:rPr>
              <a:t>UNIVERSIDAD DE CUENCA  ·  MÓDULO 1217 — REDES COMPLEJAS</a:t>
            </a:r>
            <a:endParaRPr lang="en-US" sz="1200" dirty="0"/>
          </a:p>
        </p:txBody>
      </p:sp>
      <p:sp>
        <p:nvSpPr>
          <p:cNvPr id="5" name="Text 3"/>
          <p:cNvSpPr/>
          <p:nvPr/>
        </p:nvSpPr>
        <p:spPr>
          <a:xfrm>
            <a:off x="548640" y="1691640"/>
            <a:ext cx="841248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Análisis de Redes Complejas</a:t>
            </a:r>
            <a:endParaRPr lang="en-US" sz="4600" dirty="0"/>
          </a:p>
        </p:txBody>
      </p:sp>
      <p:sp>
        <p:nvSpPr>
          <p:cNvPr id="6" name="Text 4"/>
          <p:cNvSpPr/>
          <p:nvPr/>
        </p:nvSpPr>
        <p:spPr>
          <a:xfrm>
            <a:off x="548640" y="2697480"/>
            <a:ext cx="8229600" cy="9144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La red de datos de la Universidad de Cuenca:</a:t>
            </a:r>
            <a:endParaRPr lang="en-US" sz="1900" dirty="0"/>
          </a:p>
          <a:p>
            <a:pPr indent="0" marL="0">
              <a:buNone/>
            </a:pPr>
            <a:r>
              <a:rPr lang="en-US" sz="1900" dirty="0">
                <a:solidFill>
                  <a:srgbClr val="CADCFC"/>
                </a:solidFill>
                <a:latin typeface="Calibri" pitchFamily="34" charset="0"/>
                <a:ea typeface="Calibri" pitchFamily="34" charset="-122"/>
                <a:cs typeface="Calibri" pitchFamily="34" charset="-120"/>
              </a:rPr>
              <a:t>diagnóstico de puntos críticos y rediseño acotado</a:t>
            </a:r>
            <a:endParaRPr lang="en-US" sz="1900" dirty="0"/>
          </a:p>
        </p:txBody>
      </p:sp>
      <p:sp>
        <p:nvSpPr>
          <p:cNvPr id="7" name="Text 5"/>
          <p:cNvSpPr/>
          <p:nvPr/>
        </p:nvSpPr>
        <p:spPr>
          <a:xfrm>
            <a:off x="548640" y="3749040"/>
            <a:ext cx="8412480" cy="365760"/>
          </a:xfrm>
          <a:prstGeom prst="rect">
            <a:avLst/>
          </a:prstGeom>
          <a:noFill/>
          <a:ln/>
        </p:spPr>
        <p:txBody>
          <a:bodyPr wrap="square" lIns="0" tIns="0" rIns="0" bIns="0" rtlCol="0" anchor="ctr"/>
          <a:lstStyle/>
          <a:p>
            <a:pPr indent="0" marL="0">
              <a:buNone/>
            </a:pPr>
            <a:r>
              <a:rPr lang="en-US" sz="1300" i="1" dirty="0">
                <a:solidFill>
                  <a:srgbClr val="9FB2E8"/>
                </a:solidFill>
                <a:latin typeface="Calibri" pitchFamily="34" charset="0"/>
                <a:ea typeface="Calibri" pitchFamily="34" charset="-122"/>
                <a:cs typeface="Calibri" pitchFamily="34" charset="-120"/>
              </a:rPr>
              <a:t>177 nodos  ·  209 enlaces  ·  6 campus + 2 sedes  ·  11 problemas, 5 fases</a:t>
            </a:r>
            <a:endParaRPr lang="en-US" sz="1300" dirty="0"/>
          </a:p>
        </p:txBody>
      </p:sp>
      <p:sp>
        <p:nvSpPr>
          <p:cNvPr id="8" name="Text 6"/>
          <p:cNvSpPr/>
          <p:nvPr/>
        </p:nvSpPr>
        <p:spPr>
          <a:xfrm>
            <a:off x="548640" y="4892040"/>
            <a:ext cx="8412480" cy="10972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Efrain Adolfo Alvarado Plasencia</a:t>
            </a:r>
            <a:endParaRPr lang="en-US" sz="1500" dirty="0"/>
          </a:p>
          <a:p>
            <a:pPr indent="0" marL="0">
              <a:buNone/>
            </a:pPr>
            <a:r>
              <a:rPr lang="en-US" sz="1200" dirty="0">
                <a:solidFill>
                  <a:srgbClr val="CADCFC"/>
                </a:solidFill>
                <a:latin typeface="Calibri" pitchFamily="34" charset="0"/>
                <a:ea typeface="Calibri" pitchFamily="34" charset="-122"/>
                <a:cs typeface="Calibri" pitchFamily="34" charset="-120"/>
              </a:rPr>
              <a:t>efrain.alvarado@ucuenca.edu.ec</a:t>
            </a:r>
            <a:endParaRPr lang="en-US" sz="1500" dirty="0"/>
          </a:p>
          <a:p>
            <a:pPr indent="0" marL="0">
              <a:buNone/>
            </a:pPr>
            <a:r>
              <a:rPr lang="en-US" sz="1200" dirty="0">
                <a:solidFill>
                  <a:srgbClr val="9FB2E8"/>
                </a:solidFill>
                <a:latin typeface="Calibri" pitchFamily="34" charset="0"/>
                <a:ea typeface="Calibri" pitchFamily="34" charset="-122"/>
                <a:cs typeface="Calibri" pitchFamily="34" charset="-120"/>
              </a:rPr>
              <a:t>Docente: Dr. Fabián Astudillo-Salinas   |   Agosto de 2026</a:t>
            </a:r>
            <a:endParaRPr lang="en-US" sz="1500" dirty="0"/>
          </a:p>
        </p:txBody>
      </p:sp>
      <p:sp>
        <p:nvSpPr>
          <p:cNvPr id="10" name="Text 7"/>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1" name="Text 8"/>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Hoja de ruta</a:t>
            </a:r>
            <a:endParaRPr lang="en-US" sz="3000" dirty="0"/>
          </a:p>
        </p:txBody>
      </p:sp>
      <p:sp>
        <p:nvSpPr>
          <p:cNvPr id="4" name="Shape 2"/>
          <p:cNvSpPr/>
          <p:nvPr/>
        </p:nvSpPr>
        <p:spPr>
          <a:xfrm>
            <a:off x="548640" y="169164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Shape 3"/>
          <p:cNvSpPr/>
          <p:nvPr/>
        </p:nvSpPr>
        <p:spPr>
          <a:xfrm>
            <a:off x="749808" y="1892808"/>
            <a:ext cx="384048" cy="384048"/>
          </a:xfrm>
          <a:prstGeom prst="ellipse">
            <a:avLst/>
          </a:prstGeom>
          <a:solidFill>
            <a:srgbClr val="1E2761"/>
          </a:solidFill>
          <a:ln w="12700">
            <a:solidFill>
              <a:srgbClr val="1E2761"/>
            </a:solidFill>
            <a:prstDash val="solid"/>
          </a:ln>
        </p:spPr>
      </p:sp>
      <p:sp>
        <p:nvSpPr>
          <p:cNvPr id="6" name="Text 4"/>
          <p:cNvSpPr/>
          <p:nvPr/>
        </p:nvSpPr>
        <p:spPr>
          <a:xfrm>
            <a:off x="749808" y="1892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280160" y="187452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El caso y la pregunta</a:t>
            </a:r>
            <a:endParaRPr lang="en-US" sz="1400" dirty="0"/>
          </a:p>
        </p:txBody>
      </p:sp>
      <p:sp>
        <p:nvSpPr>
          <p:cNvPr id="8" name="Text 6"/>
          <p:cNvSpPr/>
          <p:nvPr/>
        </p:nvSpPr>
        <p:spPr>
          <a:xfrm>
            <a:off x="1280160" y="214884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Qué red es, cómo se modeló y qué se quiere responder.</a:t>
            </a:r>
            <a:endParaRPr lang="en-US" sz="1200" dirty="0"/>
          </a:p>
        </p:txBody>
      </p:sp>
      <p:sp>
        <p:nvSpPr>
          <p:cNvPr id="9" name="Shape 7"/>
          <p:cNvSpPr/>
          <p:nvPr/>
        </p:nvSpPr>
        <p:spPr>
          <a:xfrm>
            <a:off x="548640" y="292608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0" name="Shape 8"/>
          <p:cNvSpPr/>
          <p:nvPr/>
        </p:nvSpPr>
        <p:spPr>
          <a:xfrm>
            <a:off x="749808" y="3127248"/>
            <a:ext cx="384048" cy="384048"/>
          </a:xfrm>
          <a:prstGeom prst="ellipse">
            <a:avLst/>
          </a:prstGeom>
          <a:solidFill>
            <a:srgbClr val="1E2761"/>
          </a:solidFill>
          <a:ln w="12700">
            <a:solidFill>
              <a:srgbClr val="1E2761"/>
            </a:solidFill>
            <a:prstDash val="solid"/>
          </a:ln>
        </p:spPr>
      </p:sp>
      <p:sp>
        <p:nvSpPr>
          <p:cNvPr id="11" name="Text 9"/>
          <p:cNvSpPr/>
          <p:nvPr/>
        </p:nvSpPr>
        <p:spPr>
          <a:xfrm>
            <a:off x="749808" y="3127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80160" y="310896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1 — Caracterización</a:t>
            </a:r>
            <a:endParaRPr lang="en-US" sz="1400" dirty="0"/>
          </a:p>
        </p:txBody>
      </p:sp>
      <p:sp>
        <p:nvSpPr>
          <p:cNvPr id="13" name="Text 11"/>
          <p:cNvSpPr/>
          <p:nvPr/>
        </p:nvSpPr>
        <p:spPr>
          <a:xfrm>
            <a:off x="1280160" y="338328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Medidas, centralidades, puentes y modelos nulos. (P1–P2)</a:t>
            </a:r>
            <a:endParaRPr lang="en-US" sz="1200" dirty="0"/>
          </a:p>
        </p:txBody>
      </p:sp>
      <p:sp>
        <p:nvSpPr>
          <p:cNvPr id="14" name="Shape 12"/>
          <p:cNvSpPr/>
          <p:nvPr/>
        </p:nvSpPr>
        <p:spPr>
          <a:xfrm>
            <a:off x="548640" y="416052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5" name="Shape 13"/>
          <p:cNvSpPr/>
          <p:nvPr/>
        </p:nvSpPr>
        <p:spPr>
          <a:xfrm>
            <a:off x="749808" y="4361688"/>
            <a:ext cx="384048" cy="384048"/>
          </a:xfrm>
          <a:prstGeom prst="ellipse">
            <a:avLst/>
          </a:prstGeom>
          <a:solidFill>
            <a:srgbClr val="1E2761"/>
          </a:solidFill>
          <a:ln w="12700">
            <a:solidFill>
              <a:srgbClr val="1E2761"/>
            </a:solidFill>
            <a:prstDash val="solid"/>
          </a:ln>
        </p:spPr>
      </p:sp>
      <p:sp>
        <p:nvSpPr>
          <p:cNvPr id="16" name="Text 14"/>
          <p:cNvSpPr/>
          <p:nvPr/>
        </p:nvSpPr>
        <p:spPr>
          <a:xfrm>
            <a:off x="749808" y="43616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80160" y="434340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2 — Recorrido y partición</a:t>
            </a:r>
            <a:endParaRPr lang="en-US" sz="1400" dirty="0"/>
          </a:p>
        </p:txBody>
      </p:sp>
      <p:sp>
        <p:nvSpPr>
          <p:cNvPr id="18" name="Text 16"/>
          <p:cNvSpPr/>
          <p:nvPr/>
        </p:nvSpPr>
        <p:spPr>
          <a:xfrm>
            <a:off x="1280160" y="461772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BFS/DFS, ciclos, Louvain y k-means espectral. (P3–P4)</a:t>
            </a:r>
            <a:endParaRPr lang="en-US" sz="1200" dirty="0"/>
          </a:p>
        </p:txBody>
      </p:sp>
      <p:sp>
        <p:nvSpPr>
          <p:cNvPr id="19" name="Shape 17"/>
          <p:cNvSpPr/>
          <p:nvPr/>
        </p:nvSpPr>
        <p:spPr>
          <a:xfrm>
            <a:off x="6263640" y="169164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20" name="Shape 18"/>
          <p:cNvSpPr/>
          <p:nvPr/>
        </p:nvSpPr>
        <p:spPr>
          <a:xfrm>
            <a:off x="6464808" y="1892808"/>
            <a:ext cx="384048" cy="384048"/>
          </a:xfrm>
          <a:prstGeom prst="ellipse">
            <a:avLst/>
          </a:prstGeom>
          <a:solidFill>
            <a:srgbClr val="1E2761"/>
          </a:solidFill>
          <a:ln w="12700">
            <a:solidFill>
              <a:srgbClr val="1E2761"/>
            </a:solidFill>
            <a:prstDash val="solid"/>
          </a:ln>
        </p:spPr>
      </p:sp>
      <p:sp>
        <p:nvSpPr>
          <p:cNvPr id="21" name="Text 19"/>
          <p:cNvSpPr/>
          <p:nvPr/>
        </p:nvSpPr>
        <p:spPr>
          <a:xfrm>
            <a:off x="6464808" y="1892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995160" y="187452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3 — Optimización</a:t>
            </a:r>
            <a:endParaRPr lang="en-US" sz="1400" dirty="0"/>
          </a:p>
        </p:txBody>
      </p:sp>
      <p:sp>
        <p:nvSpPr>
          <p:cNvPr id="23" name="Text 21"/>
          <p:cNvSpPr/>
          <p:nvPr/>
        </p:nvSpPr>
        <p:spPr>
          <a:xfrm>
            <a:off x="6995160" y="214884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Caminos mínimos, flujo máximo, localización. (P5–P7)</a:t>
            </a:r>
            <a:endParaRPr lang="en-US" sz="1200" dirty="0"/>
          </a:p>
        </p:txBody>
      </p:sp>
      <p:sp>
        <p:nvSpPr>
          <p:cNvPr id="24" name="Shape 22"/>
          <p:cNvSpPr/>
          <p:nvPr/>
        </p:nvSpPr>
        <p:spPr>
          <a:xfrm>
            <a:off x="6263640" y="292608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25" name="Shape 23"/>
          <p:cNvSpPr/>
          <p:nvPr/>
        </p:nvSpPr>
        <p:spPr>
          <a:xfrm>
            <a:off x="6464808" y="3127248"/>
            <a:ext cx="384048" cy="384048"/>
          </a:xfrm>
          <a:prstGeom prst="ellipse">
            <a:avLst/>
          </a:prstGeom>
          <a:solidFill>
            <a:srgbClr val="1E2761"/>
          </a:solidFill>
          <a:ln w="12700">
            <a:solidFill>
              <a:srgbClr val="1E2761"/>
            </a:solidFill>
            <a:prstDash val="solid"/>
          </a:ln>
        </p:spPr>
      </p:sp>
      <p:sp>
        <p:nvSpPr>
          <p:cNvPr id="26" name="Text 24"/>
          <p:cNvSpPr/>
          <p:nvPr/>
        </p:nvSpPr>
        <p:spPr>
          <a:xfrm>
            <a:off x="6464808" y="3127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6995160" y="310896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4 — Robustez</a:t>
            </a:r>
            <a:endParaRPr lang="en-US" sz="1400" dirty="0"/>
          </a:p>
        </p:txBody>
      </p:sp>
      <p:sp>
        <p:nvSpPr>
          <p:cNvPr id="28" name="Text 26"/>
          <p:cNvSpPr/>
          <p:nvPr/>
        </p:nvSpPr>
        <p:spPr>
          <a:xfrm>
            <a:off x="6995160" y="338328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Percolación, cascadas, epidemias, ranking crítico. (P8–P10)</a:t>
            </a:r>
            <a:endParaRPr lang="en-US" sz="1200" dirty="0"/>
          </a:p>
        </p:txBody>
      </p:sp>
      <p:sp>
        <p:nvSpPr>
          <p:cNvPr id="29" name="Shape 27"/>
          <p:cNvSpPr/>
          <p:nvPr/>
        </p:nvSpPr>
        <p:spPr>
          <a:xfrm>
            <a:off x="6263640" y="4160520"/>
            <a:ext cx="5349240" cy="987552"/>
          </a:xfrm>
          <a:prstGeom prst="roundRect">
            <a:avLst>
              <a:gd name="adj" fmla="val 740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30" name="Shape 28"/>
          <p:cNvSpPr/>
          <p:nvPr/>
        </p:nvSpPr>
        <p:spPr>
          <a:xfrm>
            <a:off x="6464808" y="4361688"/>
            <a:ext cx="384048" cy="384048"/>
          </a:xfrm>
          <a:prstGeom prst="ellipse">
            <a:avLst/>
          </a:prstGeom>
          <a:solidFill>
            <a:srgbClr val="1E2761"/>
          </a:solidFill>
          <a:ln w="12700">
            <a:solidFill>
              <a:srgbClr val="1E2761"/>
            </a:solidFill>
            <a:prstDash val="solid"/>
          </a:ln>
        </p:spPr>
      </p:sp>
      <p:sp>
        <p:nvSpPr>
          <p:cNvPr id="31" name="Text 29"/>
          <p:cNvSpPr/>
          <p:nvPr/>
        </p:nvSpPr>
        <p:spPr>
          <a:xfrm>
            <a:off x="6464808" y="43616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6995160" y="4343400"/>
            <a:ext cx="44074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Fase 5 — Rediseño</a:t>
            </a:r>
            <a:endParaRPr lang="en-US" sz="1400" dirty="0"/>
          </a:p>
        </p:txBody>
      </p:sp>
      <p:sp>
        <p:nvSpPr>
          <p:cNvPr id="33" name="Text 31"/>
          <p:cNvSpPr/>
          <p:nvPr/>
        </p:nvSpPr>
        <p:spPr>
          <a:xfrm>
            <a:off x="6995160" y="4617720"/>
            <a:ext cx="44074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Cinco intervenciones, cuantificadas y comparadas. (P11)</a:t>
            </a:r>
            <a:endParaRPr lang="en-US" sz="1200" dirty="0"/>
          </a:p>
        </p:txBody>
      </p:sp>
      <p:sp>
        <p:nvSpPr>
          <p:cNvPr id="35" name="Text 32"/>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6" name="Text 33"/>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EL CASO DE ESTUDIO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Una red de infraestructura real, no un grafo de juguete</a:t>
            </a:r>
            <a:endParaRPr lang="en-US" sz="3000" dirty="0"/>
          </a:p>
        </p:txBody>
      </p:sp>
      <p:sp>
        <p:nvSpPr>
          <p:cNvPr id="4" name="Shape 2"/>
          <p:cNvSpPr/>
          <p:nvPr/>
        </p:nvSpPr>
        <p:spPr>
          <a:xfrm>
            <a:off x="548640" y="1600200"/>
            <a:ext cx="11064240" cy="1371600"/>
          </a:xfrm>
          <a:prstGeom prst="roundRect">
            <a:avLst>
              <a:gd name="adj" fmla="val 5333"/>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640080" y="1737360"/>
            <a:ext cx="219456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177</a:t>
            </a:r>
            <a:endParaRPr lang="en-US" sz="4400" dirty="0"/>
          </a:p>
        </p:txBody>
      </p:sp>
      <p:sp>
        <p:nvSpPr>
          <p:cNvPr id="6" name="Text 4"/>
          <p:cNvSpPr/>
          <p:nvPr/>
        </p:nvSpPr>
        <p:spPr>
          <a:xfrm>
            <a:off x="640080" y="251460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nodos (equipos)</a:t>
            </a:r>
            <a:endParaRPr lang="en-US" sz="1100" dirty="0"/>
          </a:p>
        </p:txBody>
      </p:sp>
      <p:sp>
        <p:nvSpPr>
          <p:cNvPr id="7" name="Text 5"/>
          <p:cNvSpPr/>
          <p:nvPr/>
        </p:nvSpPr>
        <p:spPr>
          <a:xfrm>
            <a:off x="2926080" y="1737360"/>
            <a:ext cx="219456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209</a:t>
            </a:r>
            <a:endParaRPr lang="en-US" sz="4400" dirty="0"/>
          </a:p>
        </p:txBody>
      </p:sp>
      <p:sp>
        <p:nvSpPr>
          <p:cNvPr id="8" name="Text 6"/>
          <p:cNvSpPr/>
          <p:nvPr/>
        </p:nvSpPr>
        <p:spPr>
          <a:xfrm>
            <a:off x="2926080" y="251460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enlaces</a:t>
            </a:r>
            <a:endParaRPr lang="en-US" sz="1100" dirty="0"/>
          </a:p>
        </p:txBody>
      </p:sp>
      <p:sp>
        <p:nvSpPr>
          <p:cNvPr id="9" name="Text 7"/>
          <p:cNvSpPr/>
          <p:nvPr/>
        </p:nvSpPr>
        <p:spPr>
          <a:xfrm>
            <a:off x="5212080" y="1737360"/>
            <a:ext cx="219456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0,0134</a:t>
            </a:r>
            <a:endParaRPr lang="en-US" sz="4400" dirty="0"/>
          </a:p>
        </p:txBody>
      </p:sp>
      <p:sp>
        <p:nvSpPr>
          <p:cNvPr id="10" name="Text 8"/>
          <p:cNvSpPr/>
          <p:nvPr/>
        </p:nvSpPr>
        <p:spPr>
          <a:xfrm>
            <a:off x="5212080" y="251460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densidad</a:t>
            </a:r>
            <a:endParaRPr lang="en-US" sz="1100" dirty="0"/>
          </a:p>
        </p:txBody>
      </p:sp>
      <p:sp>
        <p:nvSpPr>
          <p:cNvPr id="11" name="Text 9"/>
          <p:cNvSpPr/>
          <p:nvPr/>
        </p:nvSpPr>
        <p:spPr>
          <a:xfrm>
            <a:off x="7498080" y="1737360"/>
            <a:ext cx="219456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1</a:t>
            </a:r>
            <a:endParaRPr lang="en-US" sz="4400" dirty="0"/>
          </a:p>
        </p:txBody>
      </p:sp>
      <p:sp>
        <p:nvSpPr>
          <p:cNvPr id="12" name="Text 10"/>
          <p:cNvSpPr/>
          <p:nvPr/>
        </p:nvSpPr>
        <p:spPr>
          <a:xfrm>
            <a:off x="7498080" y="251460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componente conexa</a:t>
            </a:r>
            <a:endParaRPr lang="en-US" sz="1100" dirty="0"/>
          </a:p>
        </p:txBody>
      </p:sp>
      <p:sp>
        <p:nvSpPr>
          <p:cNvPr id="13" name="Text 11"/>
          <p:cNvSpPr/>
          <p:nvPr/>
        </p:nvSpPr>
        <p:spPr>
          <a:xfrm>
            <a:off x="9784080" y="1737360"/>
            <a:ext cx="1737360" cy="777240"/>
          </a:xfrm>
          <a:prstGeom prst="rect">
            <a:avLst/>
          </a:prstGeom>
          <a:noFill/>
          <a:ln/>
        </p:spPr>
        <p:txBody>
          <a:bodyPr wrap="square" lIns="0" tIns="0" rIns="0" bIns="0" rtlCol="0" anchor="ctr"/>
          <a:lstStyle/>
          <a:p>
            <a:pPr algn="ctr" indent="0" marL="0">
              <a:buNone/>
            </a:pPr>
            <a:r>
              <a:rPr lang="en-US" sz="4400" b="1" dirty="0">
                <a:solidFill>
                  <a:srgbClr val="A01A24"/>
                </a:solidFill>
                <a:latin typeface="Cambria" pitchFamily="34" charset="0"/>
                <a:ea typeface="Cambria" pitchFamily="34" charset="-122"/>
                <a:cs typeface="Cambria" pitchFamily="34" charset="-120"/>
              </a:rPr>
              <a:t>17</a:t>
            </a:r>
            <a:endParaRPr lang="en-US" sz="4400" dirty="0"/>
          </a:p>
        </p:txBody>
      </p:sp>
      <p:sp>
        <p:nvSpPr>
          <p:cNvPr id="14" name="Text 12"/>
          <p:cNvSpPr/>
          <p:nvPr/>
        </p:nvSpPr>
        <p:spPr>
          <a:xfrm>
            <a:off x="9784080" y="2514600"/>
            <a:ext cx="17373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enlaces inter-campus</a:t>
            </a:r>
            <a:endParaRPr lang="en-US" sz="1100" dirty="0"/>
          </a:p>
        </p:txBody>
      </p:sp>
      <p:sp>
        <p:nvSpPr>
          <p:cNvPr id="15" name="Text 13"/>
          <p:cNvSpPr/>
          <p:nvPr/>
        </p:nvSpPr>
        <p:spPr>
          <a:xfrm>
            <a:off x="548640" y="3200400"/>
            <a:ext cx="534924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Tres capas jerárquicas declaradas por el informe técnico</a:t>
            </a:r>
            <a:endParaRPr lang="en-US" sz="1500" dirty="0"/>
          </a:p>
        </p:txBody>
      </p:sp>
      <p:sp>
        <p:nvSpPr>
          <p:cNvPr id="16" name="Text 14"/>
          <p:cNvSpPr/>
          <p:nvPr/>
        </p:nvSpPr>
        <p:spPr>
          <a:xfrm>
            <a:off x="640080" y="3611880"/>
            <a:ext cx="525780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core (5 nodos) — enrutamiento de alta velocidad</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agregación (27) — consolida facultades y bloques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acceso (132) — usuario final y sub-laboratorios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wan (11) e interconexión (2) — routers y firewalls</a:t>
            </a:r>
            <a:endParaRPr lang="en-US" sz="1300" dirty="0"/>
          </a:p>
        </p:txBody>
      </p:sp>
      <p:sp>
        <p:nvSpPr>
          <p:cNvPr id="17" name="Text 15"/>
          <p:cNvSpPr/>
          <p:nvPr/>
        </p:nvSpPr>
        <p:spPr>
          <a:xfrm>
            <a:off x="6263640" y="3200400"/>
            <a:ext cx="534924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Lo que traen los datos</a:t>
            </a:r>
            <a:endParaRPr lang="en-US" sz="1500" dirty="0"/>
          </a:p>
        </p:txBody>
      </p:sp>
      <p:sp>
        <p:nvSpPr>
          <p:cNvPr id="18" name="Text 16"/>
          <p:cNvSpPr/>
          <p:nvPr/>
        </p:nvSpPr>
        <p:spPr>
          <a:xfrm>
            <a:off x="6355080" y="3611880"/>
            <a:ext cx="516636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tráfico medido en 170 de 209 aristas (instantáneo)</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capacidad nominal solo en 28 aristas → hay que estimar 181</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rol: principal (157), wan (32), respaldo (12), secundario (5), inferido (3)</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conjunto saneado de 61 inconsistencias de transcripción</a:t>
            </a:r>
            <a:endParaRPr lang="en-US" sz="1300" dirty="0"/>
          </a:p>
        </p:txBody>
      </p:sp>
      <p:sp>
        <p:nvSpPr>
          <p:cNvPr id="19" name="Shape 17"/>
          <p:cNvSpPr/>
          <p:nvPr/>
        </p:nvSpPr>
        <p:spPr>
          <a:xfrm>
            <a:off x="548640" y="5257800"/>
            <a:ext cx="11064240" cy="777240"/>
          </a:xfrm>
          <a:prstGeom prst="roundRect">
            <a:avLst>
              <a:gd name="adj" fmla="val 9412"/>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20" name="Text 18"/>
          <p:cNvSpPr/>
          <p:nvPr/>
        </p:nvSpPr>
        <p:spPr>
          <a:xfrm>
            <a:off x="777240" y="5394960"/>
            <a:ext cx="10607040" cy="502920"/>
          </a:xfrm>
          <a:prstGeom prst="rect">
            <a:avLst/>
          </a:prstGeom>
          <a:noFill/>
          <a:ln/>
        </p:spPr>
        <p:txBody>
          <a:bodyPr wrap="square" lIns="0" tIns="0" rIns="0" bIns="0" rtlCol="0" anchor="ctr"/>
          <a:lstStyle/>
          <a:p>
            <a:pPr indent="0" marL="0">
              <a:buNone/>
            </a:pPr>
            <a:r>
              <a:rPr lang="en-US" sz="1350" b="1" dirty="0">
                <a:solidFill>
                  <a:srgbClr val="A01A24"/>
                </a:solidFill>
                <a:latin typeface="Calibri" pitchFamily="34" charset="0"/>
                <a:ea typeface="Calibri" pitchFamily="34" charset="-122"/>
                <a:cs typeface="Calibri" pitchFamily="34" charset="-120"/>
              </a:rPr>
              <a:t>Solo 17 de 209 enlaces cruzan la frontera entre dos campus: la institución es, topológicamente, siete islas cosidas por un puñado de enlaces WAN.</a:t>
            </a:r>
            <a:endParaRPr lang="en-US" sz="1350" dirty="0"/>
          </a:p>
        </p:txBody>
      </p:sp>
      <p:sp>
        <p:nvSpPr>
          <p:cNvPr id="22" name="Text 19"/>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3" name="Text 20"/>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PREGUNTA DE INGENIERÍA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La pregunta que amarra las cinco fases</a:t>
            </a:r>
            <a:endParaRPr lang="en-US" sz="3000" dirty="0"/>
          </a:p>
        </p:txBody>
      </p:sp>
      <p:sp>
        <p:nvSpPr>
          <p:cNvPr id="4" name="Shape 2"/>
          <p:cNvSpPr/>
          <p:nvPr/>
        </p:nvSpPr>
        <p:spPr>
          <a:xfrm>
            <a:off x="548640" y="1554480"/>
            <a:ext cx="11064240" cy="1051560"/>
          </a:xfrm>
          <a:prstGeom prst="roundRect">
            <a:avLst>
              <a:gd name="adj" fmla="val 6957"/>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822960" y="1691640"/>
            <a:ext cx="10515600" cy="777240"/>
          </a:xfrm>
          <a:prstGeom prst="rect">
            <a:avLst/>
          </a:prstGeom>
          <a:noFill/>
          <a:ln/>
        </p:spPr>
        <p:txBody>
          <a:bodyPr wrap="square" lIns="0" tIns="0" rIns="0" bIns="0" rtlCol="0" anchor="ctr"/>
          <a:lstStyle/>
          <a:p>
            <a:pPr indent="0" marL="0">
              <a:buNone/>
            </a:pPr>
            <a:r>
              <a:rPr lang="en-US" sz="1600" i="1" dirty="0">
                <a:solidFill>
                  <a:srgbClr val="1E2761"/>
                </a:solidFill>
                <a:latin typeface="Cambria" pitchFamily="34" charset="0"/>
                <a:ea typeface="Cambria" pitchFamily="34" charset="-122"/>
                <a:cs typeface="Cambria" pitchFamily="34" charset="-120"/>
              </a:rPr>
              <a:t>«¿Cuáles son los puntos críticos de la red, qué tan grave sería su falla, y qué intervenciones concretas — acotadas en número y justificadas con métricas — mejorarían más su robustez y su desempeño?»</a:t>
            </a:r>
            <a:endParaRPr lang="en-US" sz="1600" dirty="0"/>
          </a:p>
        </p:txBody>
      </p:sp>
      <p:sp>
        <p:nvSpPr>
          <p:cNvPr id="6" name="Shape 4"/>
          <p:cNvSpPr/>
          <p:nvPr/>
        </p:nvSpPr>
        <p:spPr>
          <a:xfrm>
            <a:off x="548640" y="2971800"/>
            <a:ext cx="2081174" cy="1874520"/>
          </a:xfrm>
          <a:prstGeom prst="roundRect">
            <a:avLst>
              <a:gd name="adj" fmla="val 3902"/>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7" name="Text 5"/>
          <p:cNvSpPr/>
          <p:nvPr/>
        </p:nvSpPr>
        <p:spPr>
          <a:xfrm>
            <a:off x="685800"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1</a:t>
            </a:r>
            <a:endParaRPr lang="en-US" sz="1100" dirty="0"/>
          </a:p>
        </p:txBody>
      </p:sp>
      <p:sp>
        <p:nvSpPr>
          <p:cNvPr id="8" name="Text 6"/>
          <p:cNvSpPr/>
          <p:nvPr/>
        </p:nvSpPr>
        <p:spPr>
          <a:xfrm>
            <a:off x="685800"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Caracterización</a:t>
            </a:r>
            <a:endParaRPr lang="en-US" sz="1500" dirty="0"/>
          </a:p>
        </p:txBody>
      </p:sp>
      <p:sp>
        <p:nvSpPr>
          <p:cNvPr id="9" name="Text 7"/>
          <p:cNvSpPr/>
          <p:nvPr/>
        </p:nvSpPr>
        <p:spPr>
          <a:xfrm>
            <a:off x="685800"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Medidas, centralidades,</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puentes, modelos nulos</a:t>
            </a:r>
            <a:endParaRPr lang="en-US" sz="1150" dirty="0"/>
          </a:p>
        </p:txBody>
      </p:sp>
      <p:sp>
        <p:nvSpPr>
          <p:cNvPr id="10" name="Shape 8"/>
          <p:cNvSpPr/>
          <p:nvPr/>
        </p:nvSpPr>
        <p:spPr>
          <a:xfrm>
            <a:off x="2794406" y="2971800"/>
            <a:ext cx="2081174" cy="1874520"/>
          </a:xfrm>
          <a:prstGeom prst="roundRect">
            <a:avLst>
              <a:gd name="adj" fmla="val 3902"/>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1" name="Text 9"/>
          <p:cNvSpPr/>
          <p:nvPr/>
        </p:nvSpPr>
        <p:spPr>
          <a:xfrm>
            <a:off x="2931566"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2</a:t>
            </a:r>
            <a:endParaRPr lang="en-US" sz="1100" dirty="0"/>
          </a:p>
        </p:txBody>
      </p:sp>
      <p:sp>
        <p:nvSpPr>
          <p:cNvPr id="12" name="Text 10"/>
          <p:cNvSpPr/>
          <p:nvPr/>
        </p:nvSpPr>
        <p:spPr>
          <a:xfrm>
            <a:off x="2931566"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Recorrido y partición</a:t>
            </a:r>
            <a:endParaRPr lang="en-US" sz="1500" dirty="0"/>
          </a:p>
        </p:txBody>
      </p:sp>
      <p:sp>
        <p:nvSpPr>
          <p:cNvPr id="13" name="Text 11"/>
          <p:cNvSpPr/>
          <p:nvPr/>
        </p:nvSpPr>
        <p:spPr>
          <a:xfrm>
            <a:off x="2931566"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BFS/DFS, ciclos,</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Louvain, k-means</a:t>
            </a:r>
            <a:endParaRPr lang="en-US" sz="1150" dirty="0"/>
          </a:p>
        </p:txBody>
      </p:sp>
      <p:sp>
        <p:nvSpPr>
          <p:cNvPr id="14" name="Shape 12"/>
          <p:cNvSpPr/>
          <p:nvPr/>
        </p:nvSpPr>
        <p:spPr>
          <a:xfrm>
            <a:off x="5040173" y="2971800"/>
            <a:ext cx="2081174" cy="1874520"/>
          </a:xfrm>
          <a:prstGeom prst="roundRect">
            <a:avLst>
              <a:gd name="adj" fmla="val 3902"/>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5" name="Text 13"/>
          <p:cNvSpPr/>
          <p:nvPr/>
        </p:nvSpPr>
        <p:spPr>
          <a:xfrm>
            <a:off x="5177333"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3</a:t>
            </a:r>
            <a:endParaRPr lang="en-US" sz="1100" dirty="0"/>
          </a:p>
        </p:txBody>
      </p:sp>
      <p:sp>
        <p:nvSpPr>
          <p:cNvPr id="16" name="Text 14"/>
          <p:cNvSpPr/>
          <p:nvPr/>
        </p:nvSpPr>
        <p:spPr>
          <a:xfrm>
            <a:off x="5177333"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Optimización</a:t>
            </a:r>
            <a:endParaRPr lang="en-US" sz="1500" dirty="0"/>
          </a:p>
        </p:txBody>
      </p:sp>
      <p:sp>
        <p:nvSpPr>
          <p:cNvPr id="17" name="Text 15"/>
          <p:cNvSpPr/>
          <p:nvPr/>
        </p:nvSpPr>
        <p:spPr>
          <a:xfrm>
            <a:off x="5177333"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Dijkstra, Floyd-Warshall,</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flujo máx., p-mediana</a:t>
            </a:r>
            <a:endParaRPr lang="en-US" sz="1150" dirty="0"/>
          </a:p>
        </p:txBody>
      </p:sp>
      <p:sp>
        <p:nvSpPr>
          <p:cNvPr id="18" name="Shape 16"/>
          <p:cNvSpPr/>
          <p:nvPr/>
        </p:nvSpPr>
        <p:spPr>
          <a:xfrm>
            <a:off x="7285939" y="2971800"/>
            <a:ext cx="2081174" cy="1874520"/>
          </a:xfrm>
          <a:prstGeom prst="roundRect">
            <a:avLst>
              <a:gd name="adj" fmla="val 3902"/>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19" name="Text 17"/>
          <p:cNvSpPr/>
          <p:nvPr/>
        </p:nvSpPr>
        <p:spPr>
          <a:xfrm>
            <a:off x="7423099"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4</a:t>
            </a:r>
            <a:endParaRPr lang="en-US" sz="1100" dirty="0"/>
          </a:p>
        </p:txBody>
      </p:sp>
      <p:sp>
        <p:nvSpPr>
          <p:cNvPr id="20" name="Text 18"/>
          <p:cNvSpPr/>
          <p:nvPr/>
        </p:nvSpPr>
        <p:spPr>
          <a:xfrm>
            <a:off x="7423099"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Robustez</a:t>
            </a:r>
            <a:endParaRPr lang="en-US" sz="1500" dirty="0"/>
          </a:p>
        </p:txBody>
      </p:sp>
      <p:sp>
        <p:nvSpPr>
          <p:cNvPr id="21" name="Text 19"/>
          <p:cNvSpPr/>
          <p:nvPr/>
        </p:nvSpPr>
        <p:spPr>
          <a:xfrm>
            <a:off x="7423099"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Percolación, cascadas,</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SIR, índice compuesto</a:t>
            </a:r>
            <a:endParaRPr lang="en-US" sz="1150" dirty="0"/>
          </a:p>
        </p:txBody>
      </p:sp>
      <p:sp>
        <p:nvSpPr>
          <p:cNvPr id="22" name="Shape 20"/>
          <p:cNvSpPr/>
          <p:nvPr/>
        </p:nvSpPr>
        <p:spPr>
          <a:xfrm>
            <a:off x="9531706" y="2971800"/>
            <a:ext cx="2081174" cy="1874520"/>
          </a:xfrm>
          <a:prstGeom prst="roundRect">
            <a:avLst>
              <a:gd name="adj" fmla="val 3902"/>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23" name="Text 21"/>
          <p:cNvSpPr/>
          <p:nvPr/>
        </p:nvSpPr>
        <p:spPr>
          <a:xfrm>
            <a:off x="9668866" y="3127248"/>
            <a:ext cx="1806854" cy="274320"/>
          </a:xfrm>
          <a:prstGeom prst="rect">
            <a:avLst/>
          </a:prstGeom>
          <a:noFill/>
          <a:ln/>
        </p:spPr>
        <p:txBody>
          <a:bodyPr wrap="square" lIns="0" tIns="0" rIns="0" bIns="0" rtlCol="0" anchor="ctr"/>
          <a:lstStyle/>
          <a:p>
            <a:pPr indent="0" marL="0">
              <a:buNone/>
            </a:pPr>
            <a:r>
              <a:rPr lang="en-US" sz="1100" b="1" dirty="0">
                <a:solidFill>
                  <a:srgbClr val="A01A24"/>
                </a:solidFill>
                <a:latin typeface="Calibri" pitchFamily="34" charset="0"/>
                <a:ea typeface="Calibri" pitchFamily="34" charset="-122"/>
                <a:cs typeface="Calibri" pitchFamily="34" charset="-120"/>
              </a:rPr>
              <a:t>Fase 5</a:t>
            </a:r>
            <a:endParaRPr lang="en-US" sz="1100" dirty="0"/>
          </a:p>
        </p:txBody>
      </p:sp>
      <p:sp>
        <p:nvSpPr>
          <p:cNvPr id="24" name="Text 22"/>
          <p:cNvSpPr/>
          <p:nvPr/>
        </p:nvSpPr>
        <p:spPr>
          <a:xfrm>
            <a:off x="9668866" y="3401568"/>
            <a:ext cx="1806854"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Rediseño</a:t>
            </a:r>
            <a:endParaRPr lang="en-US" sz="1500" dirty="0"/>
          </a:p>
        </p:txBody>
      </p:sp>
      <p:sp>
        <p:nvSpPr>
          <p:cNvPr id="25" name="Text 23"/>
          <p:cNvSpPr/>
          <p:nvPr/>
        </p:nvSpPr>
        <p:spPr>
          <a:xfrm>
            <a:off x="9668866" y="3931920"/>
            <a:ext cx="1806854" cy="7772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5 intervenciones</a:t>
            </a:r>
            <a:endParaRPr lang="en-US" sz="1150" dirty="0"/>
          </a:p>
          <a:p>
            <a:pPr indent="0" marL="0">
              <a:buNone/>
            </a:pPr>
            <a:r>
              <a:rPr lang="en-US" sz="1150" dirty="0">
                <a:solidFill>
                  <a:srgbClr val="5B6472"/>
                </a:solidFill>
                <a:latin typeface="Calibri" pitchFamily="34" charset="0"/>
                <a:ea typeface="Calibri" pitchFamily="34" charset="-122"/>
                <a:cs typeface="Calibri" pitchFamily="34" charset="-120"/>
              </a:rPr>
              <a:t>cuantificadas</a:t>
            </a:r>
            <a:endParaRPr lang="en-US" sz="1150" dirty="0"/>
          </a:p>
        </p:txBody>
      </p:sp>
      <p:sp>
        <p:nvSpPr>
          <p:cNvPr id="26" name="Text 24"/>
          <p:cNvSpPr/>
          <p:nvPr/>
        </p:nvSpPr>
        <p:spPr>
          <a:xfrm>
            <a:off x="548640" y="5074920"/>
            <a:ext cx="11064240" cy="822960"/>
          </a:xfrm>
          <a:prstGeom prst="rect">
            <a:avLst/>
          </a:prstGeom>
          <a:noFill/>
          <a:ln/>
        </p:spPr>
        <p:txBody>
          <a:bodyPr wrap="square" lIns="0" tIns="0" rIns="0" bIns="0" rtlCol="0" anchor="ctr"/>
          <a:lstStyle/>
          <a:p>
            <a:pPr indent="0" marL="0">
              <a:buNone/>
            </a:pPr>
            <a:r>
              <a:rPr lang="en-US" sz="1300" dirty="0">
                <a:solidFill>
                  <a:srgbClr val="1B1F2A"/>
                </a:solidFill>
                <a:latin typeface="Calibri" pitchFamily="34" charset="0"/>
                <a:ea typeface="Calibri" pitchFamily="34" charset="-122"/>
                <a:cs typeface="Calibri" pitchFamily="34" charset="-120"/>
              </a:rPr>
              <a:t>Todos los algoritmos centrales implementados desde cero en Julia — BFS, DFS, Dijkstra con montículo propio, Floyd-Warshall, Tarjan, Louvain, k-means, modelo de configuración, NMI/ARI, percolación, Motter-Lai, SIR. Las bibliotecas solo se usan para verificación cruzada.</a:t>
            </a:r>
            <a:endParaRPr lang="en-US" sz="1300" dirty="0"/>
          </a:p>
        </p:txBody>
      </p:sp>
      <p:sp>
        <p:nvSpPr>
          <p:cNvPr id="28" name="Text 25"/>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9" name="Text 26"/>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1  ·  PROBLEMAS P1 – P2</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Caracterización estructural</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¿Qué forma tiene esta red, y coincide con lo que el informe técnico dice de ella?</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 — MEDIDAS FUNDAMENTALES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Una jerarquía dispersa, con muy poca redundancia</a:t>
            </a:r>
            <a:endParaRPr lang="en-US" sz="3000" dirty="0"/>
          </a:p>
        </p:txBody>
      </p:sp>
      <p:sp>
        <p:nvSpPr>
          <p:cNvPr id="4" name="Shape 2"/>
          <p:cNvSpPr/>
          <p:nvPr/>
        </p:nvSpPr>
        <p:spPr>
          <a:xfrm>
            <a:off x="548640" y="1554480"/>
            <a:ext cx="11064240" cy="1417320"/>
          </a:xfrm>
          <a:prstGeom prst="roundRect">
            <a:avLst>
              <a:gd name="adj" fmla="val 516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64008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2,36</a:t>
            </a:r>
            <a:endParaRPr lang="en-US" sz="4400" dirty="0"/>
          </a:p>
        </p:txBody>
      </p:sp>
      <p:sp>
        <p:nvSpPr>
          <p:cNvPr id="6" name="Text 4"/>
          <p:cNvSpPr/>
          <p:nvPr/>
        </p:nvSpPr>
        <p:spPr>
          <a:xfrm>
            <a:off x="64008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grado medio</a:t>
            </a:r>
            <a:endParaRPr lang="en-US" sz="1100" dirty="0"/>
          </a:p>
        </p:txBody>
      </p:sp>
      <p:sp>
        <p:nvSpPr>
          <p:cNvPr id="7" name="Text 5"/>
          <p:cNvSpPr/>
          <p:nvPr/>
        </p:nvSpPr>
        <p:spPr>
          <a:xfrm>
            <a:off x="283464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0,0952</a:t>
            </a:r>
            <a:endParaRPr lang="en-US" sz="4400" dirty="0"/>
          </a:p>
        </p:txBody>
      </p:sp>
      <p:sp>
        <p:nvSpPr>
          <p:cNvPr id="8" name="Text 6"/>
          <p:cNvSpPr/>
          <p:nvPr/>
        </p:nvSpPr>
        <p:spPr>
          <a:xfrm>
            <a:off x="283464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clustering medio</a:t>
            </a:r>
            <a:endParaRPr lang="en-US" sz="1100" dirty="0"/>
          </a:p>
        </p:txBody>
      </p:sp>
      <p:sp>
        <p:nvSpPr>
          <p:cNvPr id="9" name="Text 7"/>
          <p:cNvSpPr/>
          <p:nvPr/>
        </p:nvSpPr>
        <p:spPr>
          <a:xfrm>
            <a:off x="502920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−0,1468</a:t>
            </a:r>
            <a:endParaRPr lang="en-US" sz="4400" dirty="0"/>
          </a:p>
        </p:txBody>
      </p:sp>
      <p:sp>
        <p:nvSpPr>
          <p:cNvPr id="10" name="Text 8"/>
          <p:cNvSpPr/>
          <p:nvPr/>
        </p:nvSpPr>
        <p:spPr>
          <a:xfrm>
            <a:off x="502920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asortatividad</a:t>
            </a:r>
            <a:endParaRPr lang="en-US" sz="1100" dirty="0"/>
          </a:p>
        </p:txBody>
      </p:sp>
      <p:sp>
        <p:nvSpPr>
          <p:cNvPr id="11" name="Text 9"/>
          <p:cNvSpPr/>
          <p:nvPr/>
        </p:nvSpPr>
        <p:spPr>
          <a:xfrm>
            <a:off x="722376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5,83</a:t>
            </a:r>
            <a:endParaRPr lang="en-US" sz="4400" dirty="0"/>
          </a:p>
        </p:txBody>
      </p:sp>
      <p:sp>
        <p:nvSpPr>
          <p:cNvPr id="12" name="Text 10"/>
          <p:cNvSpPr/>
          <p:nvPr/>
        </p:nvSpPr>
        <p:spPr>
          <a:xfrm>
            <a:off x="722376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distancia media</a:t>
            </a:r>
            <a:endParaRPr lang="en-US" sz="1100" dirty="0"/>
          </a:p>
        </p:txBody>
      </p:sp>
      <p:sp>
        <p:nvSpPr>
          <p:cNvPr id="13" name="Text 11"/>
          <p:cNvSpPr/>
          <p:nvPr/>
        </p:nvSpPr>
        <p:spPr>
          <a:xfrm>
            <a:off x="9418320" y="1691640"/>
            <a:ext cx="210312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11</a:t>
            </a:r>
            <a:endParaRPr lang="en-US" sz="4400" dirty="0"/>
          </a:p>
        </p:txBody>
      </p:sp>
      <p:sp>
        <p:nvSpPr>
          <p:cNvPr id="14" name="Text 12"/>
          <p:cNvSpPr/>
          <p:nvPr/>
        </p:nvSpPr>
        <p:spPr>
          <a:xfrm>
            <a:off x="9418320" y="2468880"/>
            <a:ext cx="210312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diámetro</a:t>
            </a:r>
            <a:endParaRPr lang="en-US" sz="1100" dirty="0"/>
          </a:p>
        </p:txBody>
      </p:sp>
      <p:sp>
        <p:nvSpPr>
          <p:cNvPr id="15" name="Shape 13"/>
          <p:cNvSpPr/>
          <p:nvPr/>
        </p:nvSpPr>
        <p:spPr>
          <a:xfrm>
            <a:off x="548640" y="3154680"/>
            <a:ext cx="5394960" cy="1371600"/>
          </a:xfrm>
          <a:prstGeom prst="roundRect">
            <a:avLst>
              <a:gd name="adj" fmla="val 5333"/>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16" name="Text 14"/>
          <p:cNvSpPr/>
          <p:nvPr/>
        </p:nvSpPr>
        <p:spPr>
          <a:xfrm>
            <a:off x="731520" y="3291840"/>
            <a:ext cx="2194560" cy="777240"/>
          </a:xfrm>
          <a:prstGeom prst="rect">
            <a:avLst/>
          </a:prstGeom>
          <a:noFill/>
          <a:ln/>
        </p:spPr>
        <p:txBody>
          <a:bodyPr wrap="square" lIns="0" tIns="0" rIns="0" bIns="0" rtlCol="0" anchor="ctr"/>
          <a:lstStyle/>
          <a:p>
            <a:pPr algn="ctr" indent="0" marL="0">
              <a:buNone/>
            </a:pPr>
            <a:r>
              <a:rPr lang="en-US" sz="4400" b="1" dirty="0">
                <a:solidFill>
                  <a:srgbClr val="A01A24"/>
                </a:solidFill>
                <a:latin typeface="Cambria" pitchFamily="34" charset="0"/>
                <a:ea typeface="Cambria" pitchFamily="34" charset="-122"/>
                <a:cs typeface="Cambria" pitchFamily="34" charset="-120"/>
              </a:rPr>
              <a:t>141</a:t>
            </a:r>
            <a:endParaRPr lang="en-US" sz="4400" dirty="0"/>
          </a:p>
        </p:txBody>
      </p:sp>
      <p:sp>
        <p:nvSpPr>
          <p:cNvPr id="17" name="Text 15"/>
          <p:cNvSpPr/>
          <p:nvPr/>
        </p:nvSpPr>
        <p:spPr>
          <a:xfrm>
            <a:off x="731520" y="406908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puentes (67,5 % de las aristas)</a:t>
            </a:r>
            <a:endParaRPr lang="en-US" sz="1100" dirty="0"/>
          </a:p>
        </p:txBody>
      </p:sp>
      <p:sp>
        <p:nvSpPr>
          <p:cNvPr id="18" name="Text 16"/>
          <p:cNvSpPr/>
          <p:nvPr/>
        </p:nvSpPr>
        <p:spPr>
          <a:xfrm>
            <a:off x="3108960" y="3520440"/>
            <a:ext cx="2606040" cy="82296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Cada uno de esos 141 enlaces, al caer, desconecta la red.</a:t>
            </a:r>
            <a:endParaRPr lang="en-US" sz="1350" dirty="0"/>
          </a:p>
        </p:txBody>
      </p:sp>
      <p:sp>
        <p:nvSpPr>
          <p:cNvPr id="19" name="Shape 17"/>
          <p:cNvSpPr/>
          <p:nvPr/>
        </p:nvSpPr>
        <p:spPr>
          <a:xfrm>
            <a:off x="6217920" y="3154680"/>
            <a:ext cx="5394960" cy="1371600"/>
          </a:xfrm>
          <a:prstGeom prst="roundRect">
            <a:avLst>
              <a:gd name="adj" fmla="val 5333"/>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20" name="Text 18"/>
          <p:cNvSpPr/>
          <p:nvPr/>
        </p:nvSpPr>
        <p:spPr>
          <a:xfrm>
            <a:off x="6400800" y="3291840"/>
            <a:ext cx="2194560" cy="777240"/>
          </a:xfrm>
          <a:prstGeom prst="rect">
            <a:avLst/>
          </a:prstGeom>
          <a:noFill/>
          <a:ln/>
        </p:spPr>
        <p:txBody>
          <a:bodyPr wrap="square" lIns="0" tIns="0" rIns="0" bIns="0" rtlCol="0" anchor="ctr"/>
          <a:lstStyle/>
          <a:p>
            <a:pPr algn="ctr" indent="0" marL="0">
              <a:buNone/>
            </a:pPr>
            <a:r>
              <a:rPr lang="en-US" sz="4400" b="1" dirty="0">
                <a:solidFill>
                  <a:srgbClr val="A01A24"/>
                </a:solidFill>
                <a:latin typeface="Cambria" pitchFamily="34" charset="0"/>
                <a:ea typeface="Cambria" pitchFamily="34" charset="-122"/>
                <a:cs typeface="Cambria" pitchFamily="34" charset="-120"/>
              </a:rPr>
              <a:t>47</a:t>
            </a:r>
            <a:endParaRPr lang="en-US" sz="4400" dirty="0"/>
          </a:p>
        </p:txBody>
      </p:sp>
      <p:sp>
        <p:nvSpPr>
          <p:cNvPr id="21" name="Text 19"/>
          <p:cNvSpPr/>
          <p:nvPr/>
        </p:nvSpPr>
        <p:spPr>
          <a:xfrm>
            <a:off x="6400800" y="4069080"/>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puntos de articulación</a:t>
            </a:r>
            <a:endParaRPr lang="en-US" sz="1100" dirty="0"/>
          </a:p>
        </p:txBody>
      </p:sp>
      <p:sp>
        <p:nvSpPr>
          <p:cNvPr id="22" name="Text 20"/>
          <p:cNvSpPr/>
          <p:nvPr/>
        </p:nvSpPr>
        <p:spPr>
          <a:xfrm>
            <a:off x="8778240" y="3520440"/>
            <a:ext cx="2606040" cy="822960"/>
          </a:xfrm>
          <a:prstGeom prst="rect">
            <a:avLst/>
          </a:prstGeom>
          <a:noFill/>
          <a:ln/>
        </p:spPr>
        <p:txBody>
          <a:bodyPr wrap="square" lIns="0" tIns="0" rIns="0" bIns="0" rtlCol="0" anchor="ctr"/>
          <a:lstStyle/>
          <a:p>
            <a:pPr indent="0" marL="0">
              <a:buNone/>
            </a:pPr>
            <a:r>
              <a:rPr lang="en-US" sz="1350" dirty="0">
                <a:solidFill>
                  <a:srgbClr val="1B1F2A"/>
                </a:solidFill>
                <a:latin typeface="Calibri" pitchFamily="34" charset="0"/>
                <a:ea typeface="Calibri" pitchFamily="34" charset="-122"/>
                <a:cs typeface="Calibri" pitchFamily="34" charset="-120"/>
              </a:rPr>
              <a:t>26 de ellos están en la capa de agregación, no en el core.</a:t>
            </a:r>
            <a:endParaRPr lang="en-US" sz="1350" dirty="0"/>
          </a:p>
        </p:txBody>
      </p:sp>
      <p:sp>
        <p:nvSpPr>
          <p:cNvPr id="23" name="Text 21"/>
          <p:cNvSpPr/>
          <p:nvPr/>
        </p:nvSpPr>
        <p:spPr>
          <a:xfrm>
            <a:off x="548640" y="4754880"/>
            <a:ext cx="11064240" cy="640080"/>
          </a:xfrm>
          <a:prstGeom prst="rect">
            <a:avLst/>
          </a:prstGeom>
          <a:noFill/>
          <a:ln/>
        </p:spPr>
        <p:txBody>
          <a:bodyPr wrap="square" lIns="0" tIns="0" rIns="0" bIns="0" rtlCol="0" anchor="ctr"/>
          <a:lstStyle/>
          <a:p>
            <a:pPr indent="0" marL="0">
              <a:buNone/>
            </a:pPr>
            <a:r>
              <a:rPr lang="en-US" sz="1300" b="1" dirty="0">
                <a:solidFill>
                  <a:srgbClr val="1B1F2A"/>
                </a:solidFill>
                <a:latin typeface="Calibri" pitchFamily="34" charset="0"/>
                <a:ea typeface="Calibri" pitchFamily="34" charset="-122"/>
                <a:cs typeface="Calibri" pitchFamily="34" charset="-120"/>
              </a:rPr>
              <a:t>Distribución por campus: </a:t>
            </a:r>
            <a:pPr indent="0" marL="0">
              <a:buNone/>
            </a:pPr>
            <a:r>
              <a:rPr lang="en-US" sz="1300" dirty="0">
                <a:solidFill>
                  <a:srgbClr val="1B1F2A"/>
                </a:solidFill>
                <a:latin typeface="Calibri" pitchFamily="34" charset="0"/>
                <a:ea typeface="Calibri" pitchFamily="34" charset="-122"/>
                <a:cs typeface="Calibri" pitchFamily="34" charset="-120"/>
              </a:rPr>
              <a:t>Central 113 puentes / 23 articulaciones · Paraíso 84 / 14 · Balzay 50 / 6 · Yanuncay 24 / 2 · Hospitalidad 9 / 1. En términos relativos la fracción de puentes es alta en TODOS los campus.</a:t>
            </a:r>
            <a:endParaRPr lang="en-US" sz="1300" dirty="0"/>
          </a:p>
        </p:txBody>
      </p:sp>
      <p:sp>
        <p:nvSpPr>
          <p:cNvPr id="24" name="Text 22"/>
          <p:cNvSpPr/>
          <p:nvPr/>
        </p:nvSpPr>
        <p:spPr>
          <a:xfrm>
            <a:off x="548640" y="5440680"/>
            <a:ext cx="11064240" cy="5486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Solo 1 punto de articulación está en la capa core: el núcleo sí está bien construido. La fragilidad se desplazó un nivel hacia abajo, a la agregación.</a:t>
            </a:r>
            <a:endParaRPr lang="en-US" sz="1350" dirty="0"/>
          </a:p>
        </p:txBody>
      </p:sp>
      <p:sp>
        <p:nvSpPr>
          <p:cNvPr id="26" name="Text 2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7" name="Text 2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 — LAS PREGUNTAS, NO SOLO LOS NÚMEROS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Dos cifras que distinguen infraestructura de red social</a:t>
            </a:r>
            <a:endParaRPr lang="en-US" sz="3000" dirty="0"/>
          </a:p>
        </p:txBody>
      </p:sp>
      <p:sp>
        <p:nvSpPr>
          <p:cNvPr id="4" name="Shape 2"/>
          <p:cNvSpPr/>
          <p:nvPr/>
        </p:nvSpPr>
        <p:spPr>
          <a:xfrm>
            <a:off x="548640" y="1600200"/>
            <a:ext cx="5349240" cy="4023360"/>
          </a:xfrm>
          <a:prstGeom prst="roundRect">
            <a:avLst>
              <a:gd name="adj" fmla="val 1818"/>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777240" y="1783080"/>
            <a:ext cx="489204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¿Por qué el clustering es tan bajo?</a:t>
            </a:r>
            <a:endParaRPr lang="en-US" sz="1800" dirty="0"/>
          </a:p>
        </p:txBody>
      </p:sp>
      <p:sp>
        <p:nvSpPr>
          <p:cNvPr id="6" name="Text 4"/>
          <p:cNvSpPr/>
          <p:nvPr/>
        </p:nvSpPr>
        <p:spPr>
          <a:xfrm>
            <a:off x="777240" y="2194560"/>
            <a:ext cx="4892040" cy="320040"/>
          </a:xfrm>
          <a:prstGeom prst="rect">
            <a:avLst/>
          </a:prstGeom>
          <a:noFill/>
          <a:ln/>
        </p:spPr>
        <p:txBody>
          <a:bodyPr wrap="square" lIns="0" tIns="0" rIns="0" bIns="0" rtlCol="0" anchor="ctr"/>
          <a:lstStyle/>
          <a:p>
            <a:pPr indent="0" marL="0">
              <a:buNone/>
            </a:pPr>
            <a:r>
              <a:rPr lang="en-US" sz="1300" b="1" dirty="0">
                <a:solidFill>
                  <a:srgbClr val="A01A24"/>
                </a:solidFill>
                <a:latin typeface="Calibri" pitchFamily="34" charset="0"/>
                <a:ea typeface="Calibri" pitchFamily="34" charset="-122"/>
                <a:cs typeface="Calibri" pitchFamily="34" charset="-120"/>
              </a:rPr>
              <a:t>C = 0,0952   vs.   red social típica C ≈ 0,3 – 0,6</a:t>
            </a:r>
            <a:endParaRPr lang="en-US" sz="1300" dirty="0"/>
          </a:p>
        </p:txBody>
      </p:sp>
      <p:sp>
        <p:nvSpPr>
          <p:cNvPr id="7" name="Text 5"/>
          <p:cNvSpPr/>
          <p:nvPr/>
        </p:nvSpPr>
        <p:spPr>
          <a:xfrm>
            <a:off x="777240" y="2606040"/>
            <a:ext cx="4892040" cy="2834640"/>
          </a:xfrm>
          <a:prstGeom prst="rect">
            <a:avLst/>
          </a:prstGeom>
          <a:noFill/>
          <a:ln/>
        </p:spPr>
        <p:txBody>
          <a:bodyPr wrap="square" lIns="0" tIns="0" rIns="0" bIns="0" rtlCol="0" anchor="t"/>
          <a:lstStyle/>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El clustering mide cierre triádico: la probabilidad de que dos vecinos de un nodo sean vecinos entre sí.</a:t>
            </a:r>
            <a:endParaRPr lang="en-US" sz="1300" dirty="0"/>
          </a:p>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En una red social los amigos de una persona tienden a conocerse — el mecanismo generador favorece triángulos.</a:t>
            </a:r>
            <a:endParaRPr lang="en-US" sz="1300" dirty="0"/>
          </a:p>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En una jerarquía core-agregación-acceso el mecanismo es el opuesto: dos equipos de acceso colgados del mismo switch NO se conectan entre sí, porque no aporta nada y consume puertos.</a:t>
            </a:r>
            <a:endParaRPr lang="en-US" sz="1300" dirty="0"/>
          </a:p>
          <a:p>
            <a:pPr indent="0" marL="0">
              <a:spcAft>
                <a:spcPts val="800"/>
              </a:spcAft>
              <a:buNone/>
            </a:pPr>
            <a:r>
              <a:rPr lang="en-US" sz="1300" b="1" dirty="0">
                <a:solidFill>
                  <a:srgbClr val="1B1F2A"/>
                </a:solidFill>
                <a:latin typeface="Calibri" pitchFamily="34" charset="0"/>
                <a:ea typeface="Calibri" pitchFamily="34" charset="-122"/>
                <a:cs typeface="Calibri" pitchFamily="34" charset="-120"/>
              </a:rPr>
              <a:t>0,0952 no es un defecto: es la firma de una topología en estrella de estrellas.</a:t>
            </a:r>
            <a:endParaRPr lang="en-US" sz="1300" dirty="0"/>
          </a:p>
        </p:txBody>
      </p:sp>
      <p:sp>
        <p:nvSpPr>
          <p:cNvPr id="8" name="Shape 6"/>
          <p:cNvSpPr/>
          <p:nvPr/>
        </p:nvSpPr>
        <p:spPr>
          <a:xfrm>
            <a:off x="6263640" y="1600200"/>
            <a:ext cx="5349240" cy="4023360"/>
          </a:xfrm>
          <a:prstGeom prst="roundRect">
            <a:avLst>
              <a:gd name="adj" fmla="val 1818"/>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9" name="Text 7"/>
          <p:cNvSpPr/>
          <p:nvPr/>
        </p:nvSpPr>
        <p:spPr>
          <a:xfrm>
            <a:off x="6492240" y="1783080"/>
            <a:ext cx="489204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¿Por qué la asortatividad es negativa?</a:t>
            </a:r>
            <a:endParaRPr lang="en-US" sz="1800" dirty="0"/>
          </a:p>
        </p:txBody>
      </p:sp>
      <p:sp>
        <p:nvSpPr>
          <p:cNvPr id="10" name="Text 8"/>
          <p:cNvSpPr/>
          <p:nvPr/>
        </p:nvSpPr>
        <p:spPr>
          <a:xfrm>
            <a:off x="6492240" y="2194560"/>
            <a:ext cx="4892040" cy="320040"/>
          </a:xfrm>
          <a:prstGeom prst="rect">
            <a:avLst/>
          </a:prstGeom>
          <a:noFill/>
          <a:ln/>
        </p:spPr>
        <p:txBody>
          <a:bodyPr wrap="square" lIns="0" tIns="0" rIns="0" bIns="0" rtlCol="0" anchor="ctr"/>
          <a:lstStyle/>
          <a:p>
            <a:pPr indent="0" marL="0">
              <a:buNone/>
            </a:pPr>
            <a:r>
              <a:rPr lang="en-US" sz="1300" b="1" dirty="0">
                <a:solidFill>
                  <a:srgbClr val="A01A24"/>
                </a:solidFill>
                <a:latin typeface="Calibri" pitchFamily="34" charset="0"/>
                <a:ea typeface="Calibri" pitchFamily="34" charset="-122"/>
                <a:cs typeface="Calibri" pitchFamily="34" charset="-120"/>
              </a:rPr>
              <a:t>r = −0,1468   →   patrón disortativo</a:t>
            </a:r>
            <a:endParaRPr lang="en-US" sz="1300" dirty="0"/>
          </a:p>
        </p:txBody>
      </p:sp>
      <p:sp>
        <p:nvSpPr>
          <p:cNvPr id="11" name="Text 9"/>
          <p:cNvSpPr/>
          <p:nvPr/>
        </p:nvSpPr>
        <p:spPr>
          <a:xfrm>
            <a:off x="6492240" y="2606040"/>
            <a:ext cx="4892040" cy="2834640"/>
          </a:xfrm>
          <a:prstGeom prst="rect">
            <a:avLst/>
          </a:prstGeom>
          <a:noFill/>
          <a:ln/>
        </p:spPr>
        <p:txBody>
          <a:bodyPr wrap="square" lIns="0" tIns="0" rIns="0" bIns="0" rtlCol="0" anchor="t"/>
          <a:lstStyle/>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Es la correlación de Pearson entre los grados de los dos extremos de cada arista (Newman, 2010, ec. 8.28).</a:t>
            </a:r>
            <a:endParaRPr lang="en-US" sz="1300" dirty="0"/>
          </a:p>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Negativa = los nodos de alto grado se conectan con nodos de bajo grado, no entre sí.</a:t>
            </a:r>
            <a:endParaRPr lang="en-US" sz="1300" dirty="0"/>
          </a:p>
          <a:p>
            <a:pPr indent="0" marL="0">
              <a:spcAft>
                <a:spcPts val="800"/>
              </a:spcAft>
              <a:buNone/>
            </a:pPr>
            <a:r>
              <a:rPr lang="en-US" sz="1300" dirty="0">
                <a:solidFill>
                  <a:srgbClr val="1B1F2A"/>
                </a:solidFill>
                <a:latin typeface="Calibri" pitchFamily="34" charset="0"/>
                <a:ea typeface="Calibri" pitchFamily="34" charset="-122"/>
                <a:cs typeface="Calibri" pitchFamily="34" charset="-120"/>
              </a:rPr>
              <a:t>Es exactamente lo que dicta la jerarquía: un switch de agregación con 12 puertos los usa para colgar 12 equipos de acceso de grado 1, no para conectarse a otros 12 switches.</a:t>
            </a:r>
            <a:endParaRPr lang="en-US" sz="1300" dirty="0"/>
          </a:p>
          <a:p>
            <a:pPr indent="0" marL="0">
              <a:spcAft>
                <a:spcPts val="800"/>
              </a:spcAft>
              <a:buNone/>
            </a:pPr>
            <a:r>
              <a:rPr lang="en-US" sz="1300" b="1" dirty="0">
                <a:solidFill>
                  <a:srgbClr val="1B1F2A"/>
                </a:solidFill>
                <a:latin typeface="Calibri" pitchFamily="34" charset="0"/>
                <a:ea typeface="Calibri" pitchFamily="34" charset="-122"/>
                <a:cs typeface="Calibri" pitchFamily="34" charset="-120"/>
              </a:rPr>
              <a:t>El signo de esta única cifra distingue una red diseñada de una red de crecimiento social.</a:t>
            </a:r>
            <a:endParaRPr lang="en-US" sz="1300" dirty="0"/>
          </a:p>
        </p:txBody>
      </p:sp>
      <p:sp>
        <p:nvSpPr>
          <p:cNvPr id="12" name="Text 10"/>
          <p:cNvSpPr/>
          <p:nvPr/>
        </p:nvSpPr>
        <p:spPr>
          <a:xfrm>
            <a:off x="548640" y="5806440"/>
            <a:ext cx="11064240" cy="365760"/>
          </a:xfrm>
          <a:prstGeom prst="rect">
            <a:avLst/>
          </a:prstGeom>
          <a:noFill/>
          <a:ln/>
        </p:spPr>
        <p:txBody>
          <a:bodyPr wrap="square" lIns="0" tIns="0" rIns="0" bIns="0" rtlCol="0" anchor="ctr"/>
          <a:lstStyle/>
          <a:p>
            <a:pPr indent="0" marL="0">
              <a:buNone/>
            </a:pPr>
            <a:r>
              <a:rPr lang="en-US" sz="1200" i="1" dirty="0">
                <a:solidFill>
                  <a:srgbClr val="5B6472"/>
                </a:solidFill>
                <a:latin typeface="Calibri" pitchFamily="34" charset="0"/>
                <a:ea typeface="Calibri" pitchFamily="34" charset="-122"/>
                <a:cs typeface="Calibri" pitchFamily="34" charset="-120"/>
              </a:rPr>
              <a:t>El enunciado avisa: un informe que solo tabula números sin responder estas preguntas obtiene, como máximo, la mitad del puntaje de P1.</a:t>
            </a:r>
            <a:endParaRPr lang="en-US" sz="1200" dirty="0"/>
          </a:p>
        </p:txBody>
      </p:sp>
      <p:sp>
        <p:nvSpPr>
          <p:cNvPr id="14" name="Text 11"/>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2"/>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P1.2 — DISTRIBUCIÓN DE GRADO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Cola pesada sí, «libre de escala» no</a:t>
            </a:r>
            <a:endParaRPr lang="en-US" sz="3000" dirty="0"/>
          </a:p>
        </p:txBody>
      </p:sp>
      <p:pic>
        <p:nvPicPr>
          <p:cNvPr id="4" name="Image 0" descr="p1_distribucion_grado.png">    </p:cNvPr>
          <p:cNvPicPr>
            <a:picLocks noChangeAspect="1"/>
          </p:cNvPicPr>
          <p:nvPr/>
        </p:nvPicPr>
        <p:blipFill>
          <a:blip r:embed="rId1"/>
          <a:stretch>
            <a:fillRect/>
          </a:stretch>
        </p:blipFill>
        <p:spPr>
          <a:xfrm>
            <a:off x="548640" y="1554480"/>
            <a:ext cx="6949440" cy="2843784"/>
          </a:xfrm>
          <a:prstGeom prst="rect">
            <a:avLst/>
          </a:prstGeom>
        </p:spPr>
      </p:pic>
      <p:sp>
        <p:nvSpPr>
          <p:cNvPr id="5" name="Text 2"/>
          <p:cNvSpPr/>
          <p:nvPr/>
        </p:nvSpPr>
        <p:spPr>
          <a:xfrm>
            <a:off x="548640" y="4434840"/>
            <a:ext cx="6949440" cy="27432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Figura: histograma (izq.) y escala log-log (der.). 113 de 177 nodos tienen grado 1.</a:t>
            </a:r>
            <a:endParaRPr lang="en-US" sz="1050" dirty="0"/>
          </a:p>
        </p:txBody>
      </p:sp>
      <p:sp>
        <p:nvSpPr>
          <p:cNvPr id="6" name="Shape 3"/>
          <p:cNvSpPr/>
          <p:nvPr/>
        </p:nvSpPr>
        <p:spPr>
          <a:xfrm>
            <a:off x="7772400" y="1554480"/>
            <a:ext cx="3840480" cy="3154680"/>
          </a:xfrm>
          <a:prstGeom prst="roundRect">
            <a:avLst>
              <a:gd name="adj" fmla="val 2319"/>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7" name="Text 4"/>
          <p:cNvSpPr/>
          <p:nvPr/>
        </p:nvSpPr>
        <p:spPr>
          <a:xfrm>
            <a:off x="8001000" y="1737360"/>
            <a:ext cx="33832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¿Es «libre de escala»?</a:t>
            </a:r>
            <a:endParaRPr lang="en-US" sz="1700" dirty="0"/>
          </a:p>
        </p:txBody>
      </p:sp>
      <p:sp>
        <p:nvSpPr>
          <p:cNvPr id="8" name="Text 5"/>
          <p:cNvSpPr/>
          <p:nvPr/>
        </p:nvSpPr>
        <p:spPr>
          <a:xfrm>
            <a:off x="8001000" y="2148840"/>
            <a:ext cx="3383280" cy="2423160"/>
          </a:xfrm>
          <a:prstGeom prst="rect">
            <a:avLst/>
          </a:prstGeom>
          <a:noFill/>
          <a:ln/>
        </p:spPr>
        <p:txBody>
          <a:bodyPr wrap="square" lIns="0" tIns="0" rIns="0" bIns="0" rtlCol="0" anchor="t"/>
          <a:lstStyle/>
          <a:p>
            <a:pPr indent="0" marL="0">
              <a:spcAft>
                <a:spcPts val="700"/>
              </a:spcAft>
              <a:buNone/>
            </a:pPr>
            <a:r>
              <a:rPr lang="en-US" sz="1250" dirty="0">
                <a:solidFill>
                  <a:srgbClr val="1B1F2A"/>
                </a:solidFill>
                <a:latin typeface="Calibri" pitchFamily="34" charset="0"/>
                <a:ea typeface="Calibri" pitchFamily="34" charset="-122"/>
                <a:cs typeface="Calibri" pitchFamily="34" charset="-120"/>
              </a:rPr>
              <a:t>Ajuste exploratorio por máxima verosimilitud sobre la cola (k ≥ 2): α ≈ 2,04.</a:t>
            </a:r>
            <a:endParaRPr lang="en-US" sz="1250" dirty="0"/>
          </a:p>
          <a:p>
            <a:pPr indent="0" marL="0">
              <a:spcAft>
                <a:spcPts val="700"/>
              </a:spcAft>
              <a:buNone/>
            </a:pPr>
            <a:r>
              <a:rPr lang="en-US" sz="1250" b="1" dirty="0">
                <a:solidFill>
                  <a:srgbClr val="A01A24"/>
                </a:solidFill>
                <a:latin typeface="Calibri" pitchFamily="34" charset="0"/>
                <a:ea typeface="Calibri" pitchFamily="34" charset="-122"/>
                <a:cs typeface="Calibri" pitchFamily="34" charset="-120"/>
              </a:rPr>
              <a:t>Pero con n = 177 la muestra NO lo justifica.</a:t>
            </a:r>
            <a:endParaRPr lang="en-US" sz="1250" dirty="0"/>
          </a:p>
          <a:p>
            <a:pPr indent="0" marL="0">
              <a:spcAft>
                <a:spcPts val="700"/>
              </a:spcAft>
              <a:buNone/>
            </a:pPr>
            <a:r>
              <a:rPr lang="en-US" sz="1250" dirty="0">
                <a:solidFill>
                  <a:srgbClr val="1B1F2A"/>
                </a:solidFill>
                <a:latin typeface="Calibri" pitchFamily="34" charset="0"/>
                <a:ea typeface="Calibri" pitchFamily="34" charset="-122"/>
                <a:cs typeface="Calibri" pitchFamily="34" charset="-120"/>
              </a:rPr>
              <a:t>Antes de afirmarlo haría falta el procedimiento de Clauset, Shalizi y Newman (2009): estimar k_min por Kolmogorov-Smirnov, prueba de bondad de ajuste con p-valor por remuestreo, y razón de verosimilitud contra log-normal y exponencial.</a:t>
            </a:r>
            <a:endParaRPr lang="en-US" sz="1250" dirty="0"/>
          </a:p>
          <a:p>
            <a:pPr indent="0" marL="0">
              <a:spcAft>
                <a:spcPts val="700"/>
              </a:spcAft>
              <a:buNone/>
            </a:pPr>
            <a:r>
              <a:rPr lang="en-US" sz="1250" b="1" dirty="0">
                <a:solidFill>
                  <a:srgbClr val="1B1F2A"/>
                </a:solidFill>
                <a:latin typeface="Calibri" pitchFamily="34" charset="0"/>
                <a:ea typeface="Calibri" pitchFamily="34" charset="-122"/>
                <a:cs typeface="Calibri" pitchFamily="34" charset="-120"/>
              </a:rPr>
              <a:t>Lo indiscutible sí es la heterogeneidad: grado máximo 17 = 7× el grado medio.</a:t>
            </a:r>
            <a:endParaRPr lang="en-US" sz="1250" dirty="0"/>
          </a:p>
        </p:txBody>
      </p:sp>
      <p:sp>
        <p:nvSpPr>
          <p:cNvPr id="9" name="Shape 6"/>
          <p:cNvSpPr/>
          <p:nvPr/>
        </p:nvSpPr>
        <p:spPr>
          <a:xfrm>
            <a:off x="548640" y="4937760"/>
            <a:ext cx="11064240" cy="868680"/>
          </a:xfrm>
          <a:prstGeom prst="roundRect">
            <a:avLst>
              <a:gd name="adj" fmla="val 8421"/>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0" name="Text 7"/>
          <p:cNvSpPr/>
          <p:nvPr/>
        </p:nvSpPr>
        <p:spPr>
          <a:xfrm>
            <a:off x="777240" y="5074920"/>
            <a:ext cx="10607040" cy="594360"/>
          </a:xfrm>
          <a:prstGeom prst="rect">
            <a:avLst/>
          </a:prstGeom>
          <a:noFill/>
          <a:ln/>
        </p:spPr>
        <p:txBody>
          <a:bodyPr wrap="square" lIns="0" tIns="0" rIns="0" bIns="0" rtlCol="0" anchor="ctr"/>
          <a:lstStyle/>
          <a:p>
            <a:pPr indent="0" marL="0">
              <a:buNone/>
            </a:pPr>
            <a:r>
              <a:rPr lang="en-US" sz="1300" dirty="0">
                <a:solidFill>
                  <a:srgbClr val="1E2761"/>
                </a:solidFill>
                <a:latin typeface="Calibri" pitchFamily="34" charset="0"/>
                <a:ea typeface="Calibri" pitchFamily="34" charset="-122"/>
                <a:cs typeface="Calibri" pitchFamily="34" charset="-120"/>
              </a:rPr>
              <a:t>113 nodos de grado 1 (hojas: equipos de acceso terminales)  ·  DATCC-2A-C3 con grado 17 y DATCC-2A-C2 con 16 son los dos core redundantes de Campus Central  ·  solo 4 nodos superan grado 10.</a:t>
            </a:r>
            <a:endParaRPr lang="en-US" sz="130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P1.3 — CENTRALIDADES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Grado ≠ intermediación: dos criticidades distintas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gridCol w="2834640"/>
                <a:gridCol w="2377440"/>
                <a:gridCol w="3108960"/>
                <a:gridCol w="22860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Grado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Cercanía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Intermediación</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Vector propio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DATCC-2A-C3 (17)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DATCC-2A-C3 (1,000)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DATCC-2A-C2 (16)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CPAR-C10 (0,404)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DATCC-2A-C2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AGRPRI-1A-D10 (12)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PE2-CENTRAL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ROUTER-HUAYNA-CAPAC (0,366)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BAL-AUL2-D1 (12)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INTERNET-MPLS (0,366)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CC-ARQUITECTURA-D107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CC-ARQUITECTURA-D107 (10)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PE1-CENTRAL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PE2-CENTRAL (0,288)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CC-MONJAS-D126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3886200"/>
            <a:ext cx="5394960" cy="1737360"/>
          </a:xfrm>
          <a:prstGeom prst="roundRect">
            <a:avLst>
              <a:gd name="adj" fmla="val 421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777240" y="4041648"/>
            <a:ext cx="4937760" cy="50292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Solo 4 de los 10 coinciden entre grado e intermediación</a:t>
            </a:r>
            <a:endParaRPr lang="en-US" sz="1600" dirty="0"/>
          </a:p>
        </p:txBody>
      </p:sp>
      <p:sp>
        <p:nvSpPr>
          <p:cNvPr id="7" name="Text 4"/>
          <p:cNvSpPr/>
          <p:nvPr/>
        </p:nvSpPr>
        <p:spPr>
          <a:xfrm>
            <a:off x="777240" y="4572000"/>
            <a:ext cx="4937760" cy="960120"/>
          </a:xfrm>
          <a:prstGeom prst="rect">
            <a:avLst/>
          </a:prstGeom>
          <a:noFill/>
          <a:ln/>
        </p:spPr>
        <p:txBody>
          <a:bodyPr wrap="square" lIns="0" tIns="0" rIns="0" bIns="0" rtlCol="0" anchor="t"/>
          <a:lstStyle/>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Grado: cuántos vecinos DIRECTOS. Un switch de agregación con muchos puertos ocupados puntúa alto aunque nadie pase por él.</a:t>
            </a:r>
            <a:endParaRPr lang="en-US" sz="1200" dirty="0"/>
          </a:p>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Intermediación: por cuántos caminos mínimos ENTRE TERCEROS pasa. Aquí puntúan los core y los routers de interconexión.</a:t>
            </a:r>
            <a:endParaRPr lang="en-US" sz="1200" dirty="0"/>
          </a:p>
        </p:txBody>
      </p:sp>
      <p:sp>
        <p:nvSpPr>
          <p:cNvPr id="8" name="Shape 5"/>
          <p:cNvSpPr/>
          <p:nvPr/>
        </p:nvSpPr>
        <p:spPr>
          <a:xfrm>
            <a:off x="6217920" y="3886200"/>
            <a:ext cx="5394960" cy="1737360"/>
          </a:xfrm>
          <a:prstGeom prst="roundRect">
            <a:avLst>
              <a:gd name="adj" fmla="val 421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9" name="Text 6"/>
          <p:cNvSpPr/>
          <p:nvPr/>
        </p:nvSpPr>
        <p:spPr>
          <a:xfrm>
            <a:off x="6446520" y="4041648"/>
            <a:ext cx="4937760" cy="365760"/>
          </a:xfrm>
          <a:prstGeom prst="rect">
            <a:avLst/>
          </a:prstGeom>
          <a:noFill/>
          <a:ln/>
        </p:spPr>
        <p:txBody>
          <a:bodyPr wrap="square" lIns="0" tIns="0" rIns="0" bIns="0" rtlCol="0" anchor="ctr"/>
          <a:lstStyle/>
          <a:p>
            <a:pPr indent="0" marL="0">
              <a:buNone/>
            </a:pPr>
            <a:r>
              <a:rPr lang="en-US" sz="1600" b="1" dirty="0">
                <a:solidFill>
                  <a:srgbClr val="A01A24"/>
                </a:solidFill>
                <a:latin typeface="Cambria" pitchFamily="34" charset="0"/>
                <a:ea typeface="Cambria" pitchFamily="34" charset="-122"/>
                <a:cs typeface="Cambria" pitchFamily="34" charset="-120"/>
              </a:rPr>
              <a:t>Papeles distintos, protección distinta</a:t>
            </a:r>
            <a:endParaRPr lang="en-US" sz="1600" dirty="0"/>
          </a:p>
        </p:txBody>
      </p:sp>
      <p:sp>
        <p:nvSpPr>
          <p:cNvPr id="10" name="Text 7"/>
          <p:cNvSpPr/>
          <p:nvPr/>
        </p:nvSpPr>
        <p:spPr>
          <a:xfrm>
            <a:off x="6446520" y="4480560"/>
            <a:ext cx="4937760" cy="1051560"/>
          </a:xfrm>
          <a:prstGeom prst="rect">
            <a:avLst/>
          </a:prstGeom>
          <a:noFill/>
          <a:ln/>
        </p:spPr>
        <p:txBody>
          <a:bodyPr wrap="square" lIns="0" tIns="0" rIns="0" bIns="0" rtlCol="0" anchor="t"/>
          <a:lstStyle/>
          <a:p>
            <a:pPr indent="0" marL="0">
              <a:spcAft>
                <a:spcPts val="600"/>
              </a:spcAft>
              <a:buNone/>
            </a:pPr>
            <a:r>
              <a:rPr lang="en-US" sz="1250" dirty="0">
                <a:solidFill>
                  <a:srgbClr val="1B1F2A"/>
                </a:solidFill>
                <a:latin typeface="Calibri" pitchFamily="34" charset="0"/>
                <a:ea typeface="Calibri" pitchFamily="34" charset="-122"/>
                <a:cs typeface="Calibri" pitchFamily="34" charset="-120"/>
              </a:rPr>
              <a:t>BAL-AUL2-D1 es crítico para SUS diez equipos. Si cae, esos diez pierden servicio y el resto de la institución ni se entera.</a:t>
            </a:r>
            <a:endParaRPr lang="en-US" sz="1250" dirty="0"/>
          </a:p>
          <a:p>
            <a:pPr indent="0" marL="0">
              <a:spcAft>
                <a:spcPts val="600"/>
              </a:spcAft>
              <a:buNone/>
            </a:pPr>
            <a:r>
              <a:rPr lang="en-US" sz="1250" b="1" dirty="0">
                <a:solidFill>
                  <a:srgbClr val="1B1F2A"/>
                </a:solidFill>
                <a:latin typeface="Calibri" pitchFamily="34" charset="0"/>
                <a:ea typeface="Calibri" pitchFamily="34" charset="-122"/>
                <a:cs typeface="Calibri" pitchFamily="34" charset="-120"/>
              </a:rPr>
              <a:t>DATCC-2A-C3 o CPAR-C10 son críticos PARA TODOS LOS DEMÁS. Si caen, se parte la red.</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326880" y="3840480"/>
            <a:ext cx="4572000" cy="4572000"/>
          </a:xfrm>
          <a:prstGeom prst="ellipse">
            <a:avLst/>
          </a:prstGeom>
          <a:solidFill>
            <a:srgbClr val="A01A24">
              <a:alpha val="35000"/>
            </a:srgbClr>
          </a:solidFill>
          <a:ln w="12700">
            <a:solidFill>
              <a:srgbClr val="A01A24">
                <a:alpha val="0"/>
              </a:srgbClr>
            </a:solidFill>
            <a:prstDash val="solid"/>
          </a:ln>
        </p:spPr>
      </p:sp>
      <p:sp>
        <p:nvSpPr>
          <p:cNvPr id="3" name="Text 1"/>
          <p:cNvSpPr/>
          <p:nvPr/>
        </p:nvSpPr>
        <p:spPr>
          <a:xfrm>
            <a:off x="548640" y="640080"/>
            <a:ext cx="11064240" cy="320040"/>
          </a:xfrm>
          <a:prstGeom prst="rect">
            <a:avLst/>
          </a:prstGeom>
          <a:noFill/>
          <a:ln/>
        </p:spPr>
        <p:txBody>
          <a:bodyPr wrap="square" lIns="0" tIns="0" rIns="0" bIns="0" rtlCol="0" anchor="ctr"/>
          <a:lstStyle/>
          <a:p>
            <a:pPr indent="0" marL="0">
              <a:buNone/>
            </a:pPr>
            <a:r>
              <a:rPr lang="en-US" sz="1200" b="1" spc="160" kern="0" dirty="0">
                <a:solidFill>
                  <a:srgbClr val="CADCFC"/>
                </a:solidFill>
                <a:latin typeface="Calibri" pitchFamily="34" charset="0"/>
                <a:ea typeface="Calibri" pitchFamily="34" charset="-122"/>
                <a:cs typeface="Calibri" pitchFamily="34" charset="-120"/>
              </a:rPr>
              <a:t>HALLAZGO 1  ·  P1.6 — CONTRASTE CON EL INFORME TÉCNICO</a:t>
            </a:r>
            <a:endParaRPr lang="en-US" sz="1200" dirty="0"/>
          </a:p>
        </p:txBody>
      </p:sp>
      <p:sp>
        <p:nvSpPr>
          <p:cNvPr id="4" name="Text 2"/>
          <p:cNvSpPr/>
          <p:nvPr/>
        </p:nvSpPr>
        <p:spPr>
          <a:xfrm>
            <a:off x="548640" y="1051560"/>
            <a:ext cx="8686800" cy="11887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El informe institucional sobreestima</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la redundancia de Campus Paraíso</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7498080" cy="914400"/>
        </p:xfrm>
        <a:graphic>
          <a:graphicData uri="http://schemas.openxmlformats.org/drawingml/2006/table">
            <a:tbl>
              <a:tblPr/>
              <a:tblGrid>
                <a:gridCol w="2103120"/>
                <a:gridCol w="2926080"/>
                <a:gridCol w="1280160"/>
                <a:gridCol w="1188720"/>
              </a:tblGrid>
              <a:tr h="310896">
                <a:tc>
                  <a:txBody>
                    <a:bodyPr/>
                    <a:lstStyle/>
                    <a:p>
                      <a:pPr indent="0" marL="0">
                        <a:buNone/>
                      </a:pPr>
                      <a:r>
                        <a:rPr lang="en-US" sz="1150" b="1" dirty="0">
                          <a:solidFill>
                            <a:srgbClr val="1E2761"/>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indent="0" marL="0">
                        <a:buNone/>
                      </a:pPr>
                      <a:r>
                        <a:rPr lang="en-US" sz="1150" b="1" dirty="0">
                          <a:solidFill>
                            <a:srgbClr val="1E2761"/>
                          </a:solidFill>
                          <a:latin typeface="Calibri" pitchFamily="34" charset="0"/>
                          <a:ea typeface="Calibri" pitchFamily="34" charset="-122"/>
                          <a:cs typeface="Calibri" pitchFamily="34" charset="-120"/>
                        </a:rPr>
                        <a:t>Con redundancia (≥2 enlaces a core)</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indent="0" marL="0">
                        <a:buNone/>
                      </a:pPr>
                      <a:r>
                        <a:rPr lang="en-US" sz="1150" b="1" dirty="0">
                          <a:solidFill>
                            <a:srgbClr val="1E2761"/>
                          </a:solidFill>
                          <a:latin typeface="Calibri" pitchFamily="34" charset="0"/>
                          <a:ea typeface="Calibri" pitchFamily="34" charset="-122"/>
                          <a:cs typeface="Calibri" pitchFamily="34" charset="-120"/>
                        </a:rPr>
                        <a:t>Enlace simple</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indent="0" marL="0">
                        <a:buNone/>
                      </a:pPr>
                      <a:r>
                        <a:rPr lang="en-US" sz="1150" b="1" dirty="0">
                          <a:solidFill>
                            <a:srgbClr val="1E2761"/>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r>
              <a:tr h="310896">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Campus Balzay</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r>
              <a:tr h="310896">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Campus Central</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r>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Campus Paraíso</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r>
              <a:tr h="310896">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Campus Yanuncay</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r>
              <a:tr h="310896">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Campus Hospitalidad</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r>
            </a:tbl>
          </a:graphicData>
        </a:graphic>
      </p:graphicFrame>
      <p:sp>
        <p:nvSpPr>
          <p:cNvPr id="6" name="Text 3"/>
          <p:cNvSpPr/>
          <p:nvPr/>
        </p:nvSpPr>
        <p:spPr>
          <a:xfrm>
            <a:off x="8229600" y="2560320"/>
            <a:ext cx="3383280" cy="2103120"/>
          </a:xfrm>
          <a:prstGeom prst="rect">
            <a:avLst/>
          </a:prstGeom>
          <a:noFill/>
          <a:ln/>
        </p:spPr>
        <p:txBody>
          <a:bodyPr wrap="square" lIns="0" tIns="0" rIns="0" bIns="0" rtlCol="0" anchor="t"/>
          <a:lstStyle/>
          <a:p>
            <a:pPr indent="0" marL="0">
              <a:buNone/>
            </a:pPr>
            <a:r>
              <a:rPr lang="en-US" sz="1300" b="1" dirty="0">
                <a:solidFill>
                  <a:srgbClr val="8FE3B0"/>
                </a:solidFill>
                <a:latin typeface="Calibri" pitchFamily="34" charset="0"/>
                <a:ea typeface="Calibri" pitchFamily="34" charset="-122"/>
                <a:cs typeface="Calibri" pitchFamily="34" charset="-120"/>
              </a:rPr>
              <a:t>CONFIRMA  </a:t>
            </a:r>
            <a:pPr indent="0" marL="0">
              <a:buNone/>
            </a:pPr>
            <a:r>
              <a:rPr lang="en-US" sz="1300" dirty="0">
                <a:solidFill>
                  <a:srgbClr val="FFFFFF"/>
                </a:solidFill>
                <a:latin typeface="Calibri" pitchFamily="34" charset="0"/>
                <a:ea typeface="Calibri" pitchFamily="34" charset="-122"/>
                <a:cs typeface="Calibri" pitchFamily="34" charset="-120"/>
              </a:rPr>
              <a:t>la redundancia de Balzay (doble enlace a DT-0A-C12/C13).</a:t>
            </a:r>
            <a:endParaRPr lang="en-US" sz="1300" dirty="0"/>
          </a:p>
          <a:p>
            <a:pPr indent="0" marL="0">
              <a:buNone/>
            </a:pPr>
            <a:r>
              <a:rPr lang="en-US" sz="1300" b="1" dirty="0">
                <a:solidFill>
                  <a:srgbClr val="FF9AA2"/>
                </a:solidFill>
                <a:latin typeface="Calibri" pitchFamily="34" charset="0"/>
                <a:ea typeface="Calibri" pitchFamily="34" charset="-122"/>
                <a:cs typeface="Calibri" pitchFamily="34" charset="-120"/>
              </a:rPr>
              <a:t>REFUTA  </a:t>
            </a:r>
            <a:pPr indent="0" marL="0">
              <a:buNone/>
            </a:pPr>
            <a:r>
              <a:rPr lang="en-US" sz="1300" dirty="0">
                <a:solidFill>
                  <a:srgbClr val="FFFFFF"/>
                </a:solidFill>
                <a:latin typeface="Calibri" pitchFamily="34" charset="0"/>
                <a:ea typeface="Calibri" pitchFamily="34" charset="-122"/>
                <a:cs typeface="Calibri" pitchFamily="34" charset="-120"/>
              </a:rPr>
              <a:t>la de Paraíso: sus 6 nodos de agregación tienen un único enlace, todos al MISMO core CPAR-C10. Es agregación de puertos, no redundancia de núcleo.</a:t>
            </a:r>
            <a:endParaRPr lang="en-US" sz="1300" dirty="0"/>
          </a:p>
        </p:txBody>
      </p:sp>
      <p:sp>
        <p:nvSpPr>
          <p:cNvPr id="7" name="Shape 4"/>
          <p:cNvSpPr/>
          <p:nvPr/>
        </p:nvSpPr>
        <p:spPr>
          <a:xfrm>
            <a:off x="548640" y="5074920"/>
            <a:ext cx="11064240" cy="1005840"/>
          </a:xfrm>
          <a:prstGeom prst="roundRect">
            <a:avLst>
              <a:gd name="adj" fmla="val 7273"/>
            </a:avLst>
          </a:prstGeom>
          <a:solidFill>
            <a:srgbClr val="2A3A7A"/>
          </a:solidFill>
          <a:ln w="12700">
            <a:solidFill>
              <a:srgbClr val="2A3A7A"/>
            </a:solidFill>
            <a:prstDash val="solid"/>
          </a:ln>
          <a:effectLst>
            <a:outerShdw sx="100000" sy="100000" kx="0" ky="0" algn="bl" rotWithShape="0" blurRad="76200" dist="508" dir="5400000">
              <a:srgbClr val="9AA3B0">
                <a:alpha val="25000"/>
              </a:srgbClr>
            </a:outerShdw>
          </a:effectLst>
        </p:spPr>
      </p:sp>
      <p:sp>
        <p:nvSpPr>
          <p:cNvPr id="8" name="Text 5"/>
          <p:cNvSpPr/>
          <p:nvPr/>
        </p:nvSpPr>
        <p:spPr>
          <a:xfrm>
            <a:off x="822960" y="5212080"/>
            <a:ext cx="10515600" cy="731520"/>
          </a:xfrm>
          <a:prstGeom prst="rect">
            <a:avLst/>
          </a:prstGeom>
          <a:noFill/>
          <a:ln/>
        </p:spPr>
        <p:txBody>
          <a:bodyPr wrap="square" lIns="0" tIns="0" rIns="0" bIns="0" rtlCol="0" anchor="ctr"/>
          <a:lstStyle/>
          <a:p>
            <a:pPr indent="0" marL="0">
              <a:buNone/>
            </a:pPr>
            <a:r>
              <a:rPr lang="en-US" sz="1450" b="1" dirty="0">
                <a:solidFill>
                  <a:srgbClr val="CADCFC"/>
                </a:solidFill>
                <a:latin typeface="Calibri" pitchFamily="34" charset="0"/>
                <a:ea typeface="Calibri" pitchFamily="34" charset="-122"/>
                <a:cs typeface="Calibri" pitchFamily="34" charset="-120"/>
              </a:rPr>
              <a:t>Si CPAR-C10 falla, cae Campus Paraíso entero: 44 equipos, el 25 % de la institución. La Fase 3 lo confirmará por una vía completamente independiente — el flujo máximo.</a:t>
            </a:r>
            <a:endParaRPr lang="en-US" sz="1450" dirty="0"/>
          </a:p>
        </p:txBody>
      </p:sp>
      <p:sp>
        <p:nvSpPr>
          <p:cNvPr id="10" name="Text 6"/>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1" name="Text 7"/>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P2 — MODELOS NULOS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Qué se explica por la secuencia de grados y qué no</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657600"/>
                <a:gridCol w="2011680"/>
                <a:gridCol w="2011680"/>
                <a:gridCol w="1554480"/>
                <a:gridCol w="182880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Clustering</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Distancia media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Diámetro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Asortatividad</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47472">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UCuenca (real)</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0,0952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5,830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11,0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1B1F2A"/>
                          </a:solidFill>
                          <a:latin typeface="Calibri" pitchFamily="34" charset="0"/>
                          <a:ea typeface="Calibri" pitchFamily="34" charset="-122"/>
                          <a:cs typeface="Calibri" pitchFamily="34" charset="-120"/>
                        </a:rPr>
                        <a:t>−0,1468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Erdős–Rényi G(n,m) — 100 realiz.</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0,0147 ± 0,0089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5,584 ± 0,247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13,2 ± 1,4</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−0,0112 ± 0,069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Configuración (grados exactos) — 100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0,0472 ± 0,0151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4,168 ± 0,139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9,2 ± 1,0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−0,0290 ± 0,065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Barabási–Albert (k = 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0,0000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5,040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−0,2335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3657600"/>
            <a:ext cx="3550920" cy="1965960"/>
          </a:xfrm>
          <a:prstGeom prst="roundRect">
            <a:avLst>
              <a:gd name="adj" fmla="val 372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731520" y="3794760"/>
            <a:ext cx="3185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Clustering: +5σ sobre ER</a:t>
            </a:r>
            <a:endParaRPr lang="en-US" sz="1400" dirty="0"/>
          </a:p>
        </p:txBody>
      </p:sp>
      <p:sp>
        <p:nvSpPr>
          <p:cNvPr id="7" name="Text 4"/>
          <p:cNvSpPr/>
          <p:nvPr/>
        </p:nvSpPr>
        <p:spPr>
          <a:xfrm>
            <a:off x="731520" y="4160520"/>
            <a:ext cx="3185160" cy="13716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Y también por encima del modelo de configuración (0,0472). La heterogeneidad de grados explica ~2/3 de la diferencia; el tercio restante viene de la topología real: los pares redundantes y la agregación de puertos crean triángulos POR DISEÑO.</a:t>
            </a:r>
            <a:endParaRPr lang="en-US" sz="1200" dirty="0"/>
          </a:p>
        </p:txBody>
      </p:sp>
      <p:sp>
        <p:nvSpPr>
          <p:cNvPr id="8" name="Shape 5"/>
          <p:cNvSpPr/>
          <p:nvPr/>
        </p:nvSpPr>
        <p:spPr>
          <a:xfrm>
            <a:off x="4282440" y="3657600"/>
            <a:ext cx="3550920" cy="1965960"/>
          </a:xfrm>
          <a:prstGeom prst="roundRect">
            <a:avLst>
              <a:gd name="adj" fmla="val 372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9" name="Text 6"/>
          <p:cNvSpPr/>
          <p:nvPr/>
        </p:nvSpPr>
        <p:spPr>
          <a:xfrm>
            <a:off x="4465320" y="3794760"/>
            <a:ext cx="31851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Distancia: MÁS alta que ambos nulos</a:t>
            </a:r>
            <a:endParaRPr lang="en-US" sz="1400" dirty="0"/>
          </a:p>
        </p:txBody>
      </p:sp>
      <p:sp>
        <p:nvSpPr>
          <p:cNvPr id="10" name="Text 7"/>
          <p:cNvSpPr/>
          <p:nvPr/>
        </p:nvSpPr>
        <p:spPr>
          <a:xfrm>
            <a:off x="4465320" y="4160520"/>
            <a:ext cx="3185160" cy="13716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5,83 frente a 5,58 y 4,17. La jerarquía estricta OBLIGA a dar más saltos: un nulo puede unir un acceso de Paraíso con uno de Balzay; la red real exige subir, cruzar MPLS y volver a bajar.</a:t>
            </a:r>
            <a:endParaRPr lang="en-US" sz="1200" dirty="0"/>
          </a:p>
        </p:txBody>
      </p:sp>
      <p:sp>
        <p:nvSpPr>
          <p:cNvPr id="11" name="Shape 8"/>
          <p:cNvSpPr/>
          <p:nvPr/>
        </p:nvSpPr>
        <p:spPr>
          <a:xfrm>
            <a:off x="8153400" y="3657600"/>
            <a:ext cx="3459480" cy="1965960"/>
          </a:xfrm>
          <a:prstGeom prst="roundRect">
            <a:avLst>
              <a:gd name="adj" fmla="val 372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12" name="Text 9"/>
          <p:cNvSpPr/>
          <p:nvPr/>
        </p:nvSpPr>
        <p:spPr>
          <a:xfrm>
            <a:off x="8336280" y="3794760"/>
            <a:ext cx="3093720" cy="320040"/>
          </a:xfrm>
          <a:prstGeom prst="rect">
            <a:avLst/>
          </a:prstGeom>
          <a:noFill/>
          <a:ln/>
        </p:spPr>
        <p:txBody>
          <a:bodyPr wrap="square" lIns="0" tIns="0" rIns="0" bIns="0" rtlCol="0" anchor="ctr"/>
          <a:lstStyle/>
          <a:p>
            <a:pPr indent="0" marL="0">
              <a:buNone/>
            </a:pPr>
            <a:r>
              <a:rPr lang="en-US" sz="1400" b="1" dirty="0">
                <a:solidFill>
                  <a:srgbClr val="A01A24"/>
                </a:solidFill>
                <a:latin typeface="Calibri" pitchFamily="34" charset="0"/>
                <a:ea typeface="Calibri" pitchFamily="34" charset="-122"/>
                <a:cs typeface="Calibri" pitchFamily="34" charset="-120"/>
              </a:rPr>
              <a:t>Barabási–Albert: clustering 0</a:t>
            </a:r>
            <a:endParaRPr lang="en-US" sz="1400" dirty="0"/>
          </a:p>
        </p:txBody>
      </p:sp>
      <p:sp>
        <p:nvSpPr>
          <p:cNvPr id="13" name="Text 10"/>
          <p:cNvSpPr/>
          <p:nvPr/>
        </p:nvSpPr>
        <p:spPr>
          <a:xfrm>
            <a:off x="8336280" y="4160520"/>
            <a:ext cx="3093720" cy="13716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Una red de infraestructura NO crece por conexión preferencial. Ningún switch se conecta «a quien ya tiene más enlaces»: se conecta a los puertos que le tocan en una jerarquía diseñada de antemano.</a:t>
            </a:r>
            <a:endParaRPr lang="en-US" sz="1200" dirty="0"/>
          </a:p>
        </p:txBody>
      </p:sp>
      <p:sp>
        <p:nvSpPr>
          <p:cNvPr id="15" name="Text 11"/>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P2.3 — VISUALIZACIONES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La misma red desde dos criterios distintos</a:t>
            </a:r>
            <a:endParaRPr lang="en-US" sz="3000" dirty="0"/>
          </a:p>
        </p:txBody>
      </p:sp>
      <p:pic>
        <p:nvPicPr>
          <p:cNvPr id="4" name="Image 0" descr="p2_red_por_campus.png">    </p:cNvPr>
          <p:cNvPicPr>
            <a:picLocks noChangeAspect="1"/>
          </p:cNvPicPr>
          <p:nvPr/>
        </p:nvPicPr>
        <p:blipFill>
          <a:blip r:embed="rId1"/>
          <a:stretch>
            <a:fillRect/>
          </a:stretch>
        </p:blipFill>
        <p:spPr>
          <a:xfrm>
            <a:off x="548640" y="1554480"/>
            <a:ext cx="5669280" cy="3310128"/>
          </a:xfrm>
          <a:prstGeom prst="rect">
            <a:avLst/>
          </a:prstGeom>
        </p:spPr>
      </p:pic>
      <p:sp>
        <p:nvSpPr>
          <p:cNvPr id="5" name="Text 2"/>
          <p:cNvSpPr/>
          <p:nvPr/>
        </p:nvSpPr>
        <p:spPr>
          <a:xfrm>
            <a:off x="548640" y="4892040"/>
            <a:ext cx="566928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Color = campus. Se ven las siete islas geográficas y los pocos enlaces WAN que las cosen.</a:t>
            </a:r>
            <a:endParaRPr lang="en-US" sz="1150" dirty="0"/>
          </a:p>
        </p:txBody>
      </p:sp>
      <p:pic>
        <p:nvPicPr>
          <p:cNvPr id="6" name="Image 1" descr="p2_red_por_intermediacion.png">    </p:cNvPr>
          <p:cNvPicPr>
            <a:picLocks noChangeAspect="1"/>
          </p:cNvPicPr>
          <p:nvPr/>
        </p:nvPicPr>
        <p:blipFill>
          <a:blip r:embed="rId2"/>
          <a:stretch>
            <a:fillRect/>
          </a:stretch>
        </p:blipFill>
        <p:spPr>
          <a:xfrm>
            <a:off x="6492240" y="1554480"/>
            <a:ext cx="4727448" cy="3310128"/>
          </a:xfrm>
          <a:prstGeom prst="rect">
            <a:avLst/>
          </a:prstGeom>
        </p:spPr>
      </p:pic>
      <p:sp>
        <p:nvSpPr>
          <p:cNvPr id="7" name="Text 3"/>
          <p:cNvSpPr/>
          <p:nvPr/>
        </p:nvSpPr>
        <p:spPr>
          <a:xfrm>
            <a:off x="6492240" y="4892040"/>
            <a:ext cx="512064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Tamaño ∝ intermediación. Media docena de nodos desproporcionadamente grandes, justo en las costuras entre islas.</a:t>
            </a:r>
            <a:endParaRPr lang="en-US" sz="1150" dirty="0"/>
          </a:p>
        </p:txBody>
      </p:sp>
      <p:sp>
        <p:nvSpPr>
          <p:cNvPr id="8" name="Shape 4"/>
          <p:cNvSpPr/>
          <p:nvPr/>
        </p:nvSpPr>
        <p:spPr>
          <a:xfrm>
            <a:off x="548640" y="5440680"/>
            <a:ext cx="11064240" cy="777240"/>
          </a:xfrm>
          <a:prstGeom prst="roundRect">
            <a:avLst>
              <a:gd name="adj" fmla="val 9412"/>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9" name="Text 5"/>
          <p:cNvSpPr/>
          <p:nvPr/>
        </p:nvSpPr>
        <p:spPr>
          <a:xfrm>
            <a:off x="777240" y="5559552"/>
            <a:ext cx="10607040" cy="5486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Layout de resortes (Fruchterman-Reingold, NetworkLayout.jl): minimiza cruces y separa los campus sin necesitar coordenadas geográficas, que no están en los datos. Con 177 nodos, etiquetar cada uno sería ilegible: la información va en color y tamaño.</a:t>
            </a:r>
            <a:endParaRPr lang="en-US" sz="1250" dirty="0"/>
          </a:p>
        </p:txBody>
      </p:sp>
      <p:sp>
        <p:nvSpPr>
          <p:cNvPr id="11" name="Text 6"/>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7"/>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2  ·  PROBLEMAS P3 – P4</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Recorrido y partición</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¿Se refleja en las distancias medidas la jerarquía que el informe declara? ¿Y qué bloques encuentra el algoritmo por sí solo?</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P3 — BFS, DFS Y CICLOS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La jerarquía de tres capas solo describe un campus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896112"/>
                <a:gridCol w="896112"/>
                <a:gridCol w="896112"/>
                <a:gridCol w="896112"/>
                <a:gridCol w="896112"/>
                <a:gridCol w="896112"/>
                <a:gridCol w="896112"/>
                <a:gridCol w="896112"/>
                <a:gridCol w="896112"/>
              </a:tblGrid>
              <a:tr h="329184">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Distancia (saltos)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algn="ctr" indent="0" marL="0">
                        <a:buNone/>
                      </a:pPr>
                      <a:r>
                        <a:rPr lang="en-US" sz="1150" b="1" dirty="0">
                          <a:solidFill>
                            <a:srgbClr val="1B1F2A"/>
                          </a:solidFill>
                          <a:latin typeface="Calibri" pitchFamily="34" charset="0"/>
                          <a:ea typeface="Calibri" pitchFamily="34" charset="-122"/>
                          <a:cs typeface="Calibri" pitchFamily="34" charset="-120"/>
                        </a:rPr>
                        <a:t>Desde el core de Central</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41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ctr" indent="0" marL="0">
                        <a:buNone/>
                      </a:pPr>
                      <a:r>
                        <a:rPr lang="en-US" sz="1150" b="1" dirty="0">
                          <a:solidFill>
                            <a:srgbClr val="1B1F2A"/>
                          </a:solidFill>
                          <a:latin typeface="Calibri" pitchFamily="34" charset="0"/>
                          <a:ea typeface="Calibri" pitchFamily="34" charset="-122"/>
                          <a:cs typeface="Calibri" pitchFamily="34" charset="-120"/>
                        </a:rPr>
                        <a:t>Desde INTERNET-MPLS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97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2834640"/>
            <a:ext cx="5394960" cy="1554480"/>
          </a:xfrm>
          <a:prstGeom prst="roundRect">
            <a:avLst>
              <a:gd name="adj" fmla="val 4706"/>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777240" y="2971800"/>
            <a:ext cx="4937760" cy="502920"/>
          </a:xfrm>
          <a:prstGeom prst="rect">
            <a:avLst/>
          </a:prstGeom>
          <a:noFill/>
          <a:ln/>
        </p:spPr>
        <p:txBody>
          <a:bodyPr wrap="square" lIns="0" tIns="0" rIns="0" bIns="0" rtlCol="0" anchor="ctr"/>
          <a:lstStyle/>
          <a:p>
            <a:pPr indent="0" marL="0">
              <a:buNone/>
            </a:pPr>
            <a:r>
              <a:rPr lang="en-US" sz="1550" b="1" dirty="0">
                <a:solidFill>
                  <a:srgbClr val="A01A24"/>
                </a:solidFill>
                <a:latin typeface="Cambria" pitchFamily="34" charset="0"/>
                <a:ea typeface="Cambria" pitchFamily="34" charset="-122"/>
                <a:cs typeface="Cambria" pitchFamily="34" charset="-120"/>
              </a:rPr>
              <a:t>Solo 65 de 177 nodos (37 %) están a distancia ≤ 2 del core</a:t>
            </a:r>
            <a:endParaRPr lang="en-US" sz="1550" dirty="0"/>
          </a:p>
        </p:txBody>
      </p:sp>
      <p:sp>
        <p:nvSpPr>
          <p:cNvPr id="7" name="Text 4"/>
          <p:cNvSpPr/>
          <p:nvPr/>
        </p:nvSpPr>
        <p:spPr>
          <a:xfrm>
            <a:off x="777240" y="3474720"/>
            <a:ext cx="4937760" cy="822960"/>
          </a:xfrm>
          <a:prstGeom prst="rect">
            <a:avLst/>
          </a:prstGeom>
          <a:noFill/>
          <a:ln/>
        </p:spPr>
        <p:txBody>
          <a:bodyPr wrap="square" lIns="0" tIns="0" rIns="0" bIns="0" rtlCol="0" anchor="t"/>
          <a:lstStyle/>
          <a:p>
            <a:pPr indent="0" marL="0">
              <a:buNone/>
            </a:pPr>
            <a:r>
              <a:rPr lang="en-US" sz="1250" dirty="0">
                <a:solidFill>
                  <a:srgbClr val="1B1F2A"/>
                </a:solidFill>
                <a:latin typeface="Calibri" pitchFamily="34" charset="0"/>
                <a:ea typeface="Calibri" pitchFamily="34" charset="-122"/>
                <a:cs typeface="Calibri" pitchFamily="34" charset="-120"/>
              </a:rPr>
              <a:t>La cola llega hasta distancia 8 por dos causas distintas: campus remotos que solo alcanzan Central cruzando la nube MPLS, y equipos de acceso colgados de otros equipos de acceso — un anti-patrón que reaparece en la Fase 4.</a:t>
            </a:r>
            <a:endParaRPr lang="en-US" sz="1250" dirty="0"/>
          </a:p>
        </p:txBody>
      </p:sp>
      <p:sp>
        <p:nvSpPr>
          <p:cNvPr id="8" name="Shape 5"/>
          <p:cNvSpPr/>
          <p:nvPr/>
        </p:nvSpPr>
        <p:spPr>
          <a:xfrm>
            <a:off x="6217920" y="2834640"/>
            <a:ext cx="5394960" cy="1554480"/>
          </a:xfrm>
          <a:prstGeom prst="roundRect">
            <a:avLst>
              <a:gd name="adj" fmla="val 4706"/>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9" name="Text 6"/>
          <p:cNvSpPr/>
          <p:nvPr/>
        </p:nvSpPr>
        <p:spPr>
          <a:xfrm>
            <a:off x="6446520" y="2971800"/>
            <a:ext cx="4937760"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Desde la MPLS el perfil es mucho más compacto</a:t>
            </a:r>
            <a:endParaRPr lang="en-US" sz="1550" dirty="0"/>
          </a:p>
        </p:txBody>
      </p:sp>
      <p:sp>
        <p:nvSpPr>
          <p:cNvPr id="10" name="Text 7"/>
          <p:cNvSpPr/>
          <p:nvPr/>
        </p:nvSpPr>
        <p:spPr>
          <a:xfrm>
            <a:off x="6446520" y="3401568"/>
            <a:ext cx="4937760" cy="914400"/>
          </a:xfrm>
          <a:prstGeom prst="rect">
            <a:avLst/>
          </a:prstGeom>
          <a:noFill/>
          <a:ln/>
        </p:spPr>
        <p:txBody>
          <a:bodyPr wrap="square" lIns="0" tIns="0" rIns="0" bIns="0" rtlCol="0" anchor="t"/>
          <a:lstStyle/>
          <a:p>
            <a:pPr indent="0" marL="0">
              <a:buNone/>
            </a:pPr>
            <a:r>
              <a:rPr lang="en-US" sz="1250" dirty="0">
                <a:solidFill>
                  <a:srgbClr val="1B1F2A"/>
                </a:solidFill>
                <a:latin typeface="Calibri" pitchFamily="34" charset="0"/>
                <a:ea typeface="Calibri" pitchFamily="34" charset="-122"/>
                <a:cs typeface="Calibri" pitchFamily="34" charset="-120"/>
              </a:rPr>
              <a:t>Máximo a distancia 6, con el 88,7 % de la red a distancia ≤ 4. La nube MPLS es, por diseño, el punto más central de la topología inter-campus — lo que ya anticipaba su primer puesto en cercanía.</a:t>
            </a:r>
            <a:endParaRPr lang="en-US" sz="1250" dirty="0"/>
          </a:p>
        </p:txBody>
      </p:sp>
      <p:sp>
        <p:nvSpPr>
          <p:cNvPr id="11" name="Shape 8"/>
          <p:cNvSpPr/>
          <p:nvPr/>
        </p:nvSpPr>
        <p:spPr>
          <a:xfrm>
            <a:off x="548640" y="4572000"/>
            <a:ext cx="11064240" cy="1417320"/>
          </a:xfrm>
          <a:prstGeom prst="roundRect">
            <a:avLst>
              <a:gd name="adj" fmla="val 5161"/>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2" name="Text 9"/>
          <p:cNvSpPr/>
          <p:nvPr/>
        </p:nvSpPr>
        <p:spPr>
          <a:xfrm>
            <a:off x="777240" y="4681728"/>
            <a:ext cx="1060704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Ciclos y la tarea del técnico</a:t>
            </a:r>
            <a:endParaRPr lang="en-US" sz="1400" dirty="0"/>
          </a:p>
        </p:txBody>
      </p:sp>
      <p:sp>
        <p:nvSpPr>
          <p:cNvPr id="13" name="Text 10"/>
          <p:cNvSpPr/>
          <p:nvPr/>
        </p:nvSpPr>
        <p:spPr>
          <a:xfrm>
            <a:off x="777240" y="4983480"/>
            <a:ext cx="10607040" cy="960120"/>
          </a:xfrm>
          <a:prstGeom prst="rect">
            <a:avLst/>
          </a:prstGeom>
          <a:noFill/>
          <a:ln/>
        </p:spPr>
        <p:txBody>
          <a:bodyPr wrap="square" lIns="0" tIns="0" rIns="0" bIns="0" rtlCol="0" anchor="t"/>
          <a:lstStyle/>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Número ciclomático m − n + c = 209 − 177 + 1 = 33. Los 33 ciclos están casi todos en core y agregación de Central y Balzay (12 aristas de retroceso terminan en DATCC-2A-C2). Paraíso y Yanuncay aportan un extremo cada uno: no tienen redundancia interna. Ausencia de ciclos = ausencia de camino alternativo = exactamente donde P1 encontró los puentes.</a:t>
            </a:r>
            <a:endParaRPr lang="en-US" sz="1200" dirty="0"/>
          </a:p>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¿BFS o DFS para la visita física del técnico? DFS. Un técnico no puede teletransportarse entre ramas como sí hace BFS; DFS avanza por una rama hasta el final antes de retroceder — igual que recorrer un pasillo completo antes de pasar al siguiente.</a:t>
            </a:r>
            <a:endParaRPr lang="en-US" sz="1200" dirty="0"/>
          </a:p>
        </p:txBody>
      </p:sp>
      <p:sp>
        <p:nvSpPr>
          <p:cNvPr id="15" name="Text 11"/>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P4 — COMUNIDADES Y MODULARIDAD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Louvain descubre un «núcleo WAN» propio</a:t>
            </a:r>
            <a:endParaRPr lang="en-US" sz="3000" dirty="0"/>
          </a:p>
        </p:txBody>
      </p:sp>
      <p:sp>
        <p:nvSpPr>
          <p:cNvPr id="4" name="Shape 2"/>
          <p:cNvSpPr/>
          <p:nvPr/>
        </p:nvSpPr>
        <p:spPr>
          <a:xfrm>
            <a:off x="548640" y="1554480"/>
            <a:ext cx="11064240" cy="960120"/>
          </a:xfrm>
          <a:prstGeom prst="roundRect">
            <a:avLst>
              <a:gd name="adj" fmla="val 7619"/>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685800" y="1627632"/>
            <a:ext cx="201168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22</a:t>
            </a:r>
            <a:endParaRPr lang="en-US" sz="4400" dirty="0"/>
          </a:p>
        </p:txBody>
      </p:sp>
      <p:sp>
        <p:nvSpPr>
          <p:cNvPr id="6" name="Text 4"/>
          <p:cNvSpPr/>
          <p:nvPr/>
        </p:nvSpPr>
        <p:spPr>
          <a:xfrm>
            <a:off x="685800" y="2404872"/>
            <a:ext cx="201168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comunidades</a:t>
            </a:r>
            <a:endParaRPr lang="en-US" sz="1100" dirty="0"/>
          </a:p>
        </p:txBody>
      </p:sp>
      <p:sp>
        <p:nvSpPr>
          <p:cNvPr id="7" name="Text 5"/>
          <p:cNvSpPr/>
          <p:nvPr/>
        </p:nvSpPr>
        <p:spPr>
          <a:xfrm>
            <a:off x="2834640" y="1627632"/>
            <a:ext cx="201168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0,7504</a:t>
            </a:r>
            <a:endParaRPr lang="en-US" sz="4400" dirty="0"/>
          </a:p>
        </p:txBody>
      </p:sp>
      <p:sp>
        <p:nvSpPr>
          <p:cNvPr id="8" name="Text 6"/>
          <p:cNvSpPr/>
          <p:nvPr/>
        </p:nvSpPr>
        <p:spPr>
          <a:xfrm>
            <a:off x="2834640" y="2404872"/>
            <a:ext cx="201168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modularidad Q</a:t>
            </a:r>
            <a:endParaRPr lang="en-US" sz="1100" dirty="0"/>
          </a:p>
        </p:txBody>
      </p:sp>
      <p:sp>
        <p:nvSpPr>
          <p:cNvPr id="9" name="Text 7"/>
          <p:cNvSpPr/>
          <p:nvPr/>
        </p:nvSpPr>
        <p:spPr>
          <a:xfrm>
            <a:off x="4983480" y="1627632"/>
            <a:ext cx="201168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0,584</a:t>
            </a:r>
            <a:endParaRPr lang="en-US" sz="4400" dirty="0"/>
          </a:p>
        </p:txBody>
      </p:sp>
      <p:sp>
        <p:nvSpPr>
          <p:cNvPr id="10" name="Text 8"/>
          <p:cNvSpPr/>
          <p:nvPr/>
        </p:nvSpPr>
        <p:spPr>
          <a:xfrm>
            <a:off x="4983480" y="2404872"/>
            <a:ext cx="201168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NMI vs. campus</a:t>
            </a:r>
            <a:endParaRPr lang="en-US" sz="1100" dirty="0"/>
          </a:p>
        </p:txBody>
      </p:sp>
      <p:sp>
        <p:nvSpPr>
          <p:cNvPr id="11" name="Text 9"/>
          <p:cNvSpPr/>
          <p:nvPr/>
        </p:nvSpPr>
        <p:spPr>
          <a:xfrm>
            <a:off x="7132320" y="1627632"/>
            <a:ext cx="2011680" cy="777240"/>
          </a:xfrm>
          <a:prstGeom prst="rect">
            <a:avLst/>
          </a:prstGeom>
          <a:noFill/>
          <a:ln/>
        </p:spPr>
        <p:txBody>
          <a:bodyPr wrap="square" lIns="0" tIns="0" rIns="0" bIns="0" rtlCol="0" anchor="ctr"/>
          <a:lstStyle/>
          <a:p>
            <a:pPr algn="ctr" indent="0" marL="0">
              <a:buNone/>
            </a:pPr>
            <a:r>
              <a:rPr lang="en-US" sz="4400" b="1" dirty="0">
                <a:solidFill>
                  <a:srgbClr val="1E2761"/>
                </a:solidFill>
                <a:latin typeface="Cambria" pitchFamily="34" charset="0"/>
                <a:ea typeface="Cambria" pitchFamily="34" charset="-122"/>
                <a:cs typeface="Cambria" pitchFamily="34" charset="-120"/>
              </a:rPr>
              <a:t>0,190</a:t>
            </a:r>
            <a:endParaRPr lang="en-US" sz="4400" dirty="0"/>
          </a:p>
        </p:txBody>
      </p:sp>
      <p:sp>
        <p:nvSpPr>
          <p:cNvPr id="12" name="Text 10"/>
          <p:cNvSpPr/>
          <p:nvPr/>
        </p:nvSpPr>
        <p:spPr>
          <a:xfrm>
            <a:off x="7132320" y="2404872"/>
            <a:ext cx="201168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ARI vs. campus</a:t>
            </a:r>
            <a:endParaRPr lang="en-US" sz="1100" dirty="0"/>
          </a:p>
        </p:txBody>
      </p:sp>
      <p:sp>
        <p:nvSpPr>
          <p:cNvPr id="13" name="Text 11"/>
          <p:cNvSpPr/>
          <p:nvPr/>
        </p:nvSpPr>
        <p:spPr>
          <a:xfrm>
            <a:off x="9281160" y="1627632"/>
            <a:ext cx="2194560" cy="777240"/>
          </a:xfrm>
          <a:prstGeom prst="rect">
            <a:avLst/>
          </a:prstGeom>
          <a:noFill/>
          <a:ln/>
        </p:spPr>
        <p:txBody>
          <a:bodyPr wrap="square" lIns="0" tIns="0" rIns="0" bIns="0" rtlCol="0" anchor="ctr"/>
          <a:lstStyle/>
          <a:p>
            <a:pPr algn="ctr" indent="0" marL="0">
              <a:buNone/>
            </a:pPr>
            <a:r>
              <a:rPr lang="en-US" sz="4400" b="1" dirty="0">
                <a:solidFill>
                  <a:srgbClr val="A01A24"/>
                </a:solidFill>
                <a:latin typeface="Cambria" pitchFamily="34" charset="0"/>
                <a:ea typeface="Cambria" pitchFamily="34" charset="-122"/>
                <a:cs typeface="Cambria" pitchFamily="34" charset="-120"/>
              </a:rPr>
              <a:t>11 / 177</a:t>
            </a:r>
            <a:endParaRPr lang="en-US" sz="4400" dirty="0"/>
          </a:p>
        </p:txBody>
      </p:sp>
      <p:sp>
        <p:nvSpPr>
          <p:cNvPr id="14" name="Text 12"/>
          <p:cNvSpPr/>
          <p:nvPr/>
        </p:nvSpPr>
        <p:spPr>
          <a:xfrm>
            <a:off x="9281160" y="2404872"/>
            <a:ext cx="2194560" cy="502920"/>
          </a:xfrm>
          <a:prstGeom prst="rect">
            <a:avLst/>
          </a:prstGeom>
          <a:noFill/>
          <a:ln/>
        </p:spPr>
        <p:txBody>
          <a:bodyPr wrap="square" lIns="0" tIns="0" rIns="0" bIns="0" rtlCol="0" anchor="ctr"/>
          <a:lstStyle/>
          <a:p>
            <a:pPr algn="ctr" indent="0" marL="0">
              <a:buNone/>
            </a:pPr>
            <a:r>
              <a:rPr lang="en-US" sz="1100" dirty="0">
                <a:solidFill>
                  <a:srgbClr val="5B6472"/>
                </a:solidFill>
                <a:latin typeface="Calibri" pitchFamily="34" charset="0"/>
                <a:ea typeface="Calibri" pitchFamily="34" charset="-122"/>
                <a:cs typeface="Calibri" pitchFamily="34" charset="-120"/>
              </a:rPr>
              <a:t>nodos discrepantes</a:t>
            </a:r>
            <a:endParaRPr lang="en-US" sz="1100" dirty="0"/>
          </a:p>
        </p:txBody>
      </p:sp>
      <p:sp>
        <p:nvSpPr>
          <p:cNvPr id="15" name="Text 13"/>
          <p:cNvSpPr/>
          <p:nvPr/>
        </p:nvSpPr>
        <p:spPr>
          <a:xfrm>
            <a:off x="548640" y="2743200"/>
            <a:ext cx="5349240" cy="3200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¿NMI moderado y ARI bajo se contradicen? No.</a:t>
            </a:r>
            <a:endParaRPr lang="en-US" sz="1600" dirty="0"/>
          </a:p>
        </p:txBody>
      </p:sp>
      <p:sp>
        <p:nvSpPr>
          <p:cNvPr id="16" name="Text 14"/>
          <p:cNvSpPr/>
          <p:nvPr/>
        </p:nvSpPr>
        <p:spPr>
          <a:xfrm>
            <a:off x="548640" y="3108960"/>
            <a:ext cx="5349240" cy="1920240"/>
          </a:xfrm>
          <a:prstGeom prst="rect">
            <a:avLst/>
          </a:prstGeom>
          <a:noFill/>
          <a:ln/>
        </p:spPr>
        <p:txBody>
          <a:bodyPr wrap="square" lIns="0" tIns="0" rIns="0" bIns="0" rtlCol="0" anchor="t"/>
          <a:lstStyle/>
          <a:p>
            <a:pPr indent="0" marL="0">
              <a:spcAft>
                <a:spcPts val="700"/>
              </a:spcAft>
              <a:buNone/>
            </a:pPr>
            <a:r>
              <a:rPr lang="en-US" sz="1250" dirty="0">
                <a:solidFill>
                  <a:srgbClr val="1B1F2A"/>
                </a:solidFill>
                <a:latin typeface="Calibri" pitchFamily="34" charset="0"/>
                <a:ea typeface="Calibri" pitchFamily="34" charset="-122"/>
                <a:cs typeface="Calibri" pitchFamily="34" charset="-120"/>
              </a:rPr>
              <a:t>La matriz de confusión es casi bloque-diagonal: Louvain NO mezcla campus entre sí, pero SÍ subdivide cada campus grande (Central en 11 comunidades, Balzay en 4, Paraíso en 5).</a:t>
            </a:r>
            <a:endParaRPr lang="en-US" sz="1250" dirty="0"/>
          </a:p>
          <a:p>
            <a:pPr indent="0" marL="0">
              <a:spcAft>
                <a:spcPts val="700"/>
              </a:spcAft>
              <a:buNone/>
            </a:pPr>
            <a:r>
              <a:rPr lang="en-US" sz="1250" dirty="0">
                <a:solidFill>
                  <a:srgbClr val="1B1F2A"/>
                </a:solidFill>
                <a:latin typeface="Calibri" pitchFamily="34" charset="0"/>
                <a:ea typeface="Calibri" pitchFamily="34" charset="-122"/>
                <a:cs typeface="Calibri" pitchFamily="34" charset="-120"/>
              </a:rPr>
              <a:t>El NMI es moderado porque la partición refina la de campus y comparte mucha información; el ARI es bajo porque penaliza específicamente la sobre-partición. Miden cosas distintas y ambos son correctos.</a:t>
            </a:r>
            <a:endParaRPr lang="en-US" sz="1250" dirty="0"/>
          </a:p>
          <a:p>
            <a:pPr indent="0" marL="0">
              <a:spcAft>
                <a:spcPts val="700"/>
              </a:spcAft>
              <a:buNone/>
            </a:pPr>
            <a:r>
              <a:rPr lang="en-US" sz="1250" b="1" dirty="0">
                <a:solidFill>
                  <a:srgbClr val="1B1F2A"/>
                </a:solidFill>
                <a:latin typeface="Calibri" pitchFamily="34" charset="0"/>
                <a:ea typeface="Calibri" pitchFamily="34" charset="-122"/>
                <a:cs typeface="Calibri" pitchFamily="34" charset="-120"/>
              </a:rPr>
              <a:t>Estabilidad: 21–22 comunidades y Q entre 0,736 y 0,751 en cinco semillas; NMI ≥ 0,928 contra la corrida de referencia.</a:t>
            </a:r>
            <a:endParaRPr lang="en-US" sz="1250" dirty="0"/>
          </a:p>
        </p:txBody>
      </p:sp>
      <p:sp>
        <p:nvSpPr>
          <p:cNvPr id="17" name="Shape 15"/>
          <p:cNvSpPr/>
          <p:nvPr/>
        </p:nvSpPr>
        <p:spPr>
          <a:xfrm>
            <a:off x="6172200" y="2743200"/>
            <a:ext cx="5440680" cy="1417320"/>
          </a:xfrm>
          <a:prstGeom prst="roundRect">
            <a:avLst>
              <a:gd name="adj" fmla="val 516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18" name="Text 16"/>
          <p:cNvSpPr/>
          <p:nvPr/>
        </p:nvSpPr>
        <p:spPr>
          <a:xfrm>
            <a:off x="6400800" y="2880360"/>
            <a:ext cx="4983480" cy="320040"/>
          </a:xfrm>
          <a:prstGeom prst="rect">
            <a:avLst/>
          </a:prstGeom>
          <a:noFill/>
          <a:ln/>
        </p:spPr>
        <p:txBody>
          <a:bodyPr wrap="square" lIns="0" tIns="0" rIns="0" bIns="0" rtlCol="0" anchor="ctr"/>
          <a:lstStyle/>
          <a:p>
            <a:pPr indent="0" marL="0">
              <a:buNone/>
            </a:pPr>
            <a:r>
              <a:rPr lang="en-US" sz="1600" b="1" dirty="0">
                <a:solidFill>
                  <a:srgbClr val="A01A24"/>
                </a:solidFill>
                <a:latin typeface="Cambria" pitchFamily="34" charset="0"/>
                <a:ea typeface="Cambria" pitchFamily="34" charset="-122"/>
                <a:cs typeface="Cambria" pitchFamily="34" charset="-120"/>
              </a:rPr>
              <a:t>Los 11 discrepantes son el núcleo WAN</a:t>
            </a:r>
            <a:endParaRPr lang="en-US" sz="1600" dirty="0"/>
          </a:p>
        </p:txBody>
      </p:sp>
      <p:sp>
        <p:nvSpPr>
          <p:cNvPr id="19" name="Text 17"/>
          <p:cNvSpPr/>
          <p:nvPr/>
        </p:nvSpPr>
        <p:spPr>
          <a:xfrm>
            <a:off x="6400800" y="3200400"/>
            <a:ext cx="4983480" cy="86868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INTERNET-MPLS, los dos PE de Central, el firewall perimetral y los routers de campus de Paraíso, Yanuncay, Museo y Centro Histórico. Su conectividad real los liga más al bloque WAN que a su campus geográfico. No es un error del algoritmo: es una segunda partición legítima, ortogonal a la geográfica.</a:t>
            </a:r>
            <a:endParaRPr lang="en-US" sz="1200" dirty="0"/>
          </a:p>
        </p:txBody>
      </p:sp>
      <p:sp>
        <p:nvSpPr>
          <p:cNvPr id="20" name="Shape 18"/>
          <p:cNvSpPr/>
          <p:nvPr/>
        </p:nvSpPr>
        <p:spPr>
          <a:xfrm>
            <a:off x="6172200" y="4297680"/>
            <a:ext cx="5440680" cy="1417320"/>
          </a:xfrm>
          <a:prstGeom prst="roundRect">
            <a:avLst>
              <a:gd name="adj" fmla="val 516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21" name="Text 19"/>
          <p:cNvSpPr/>
          <p:nvPr/>
        </p:nvSpPr>
        <p:spPr>
          <a:xfrm>
            <a:off x="6400800" y="4434840"/>
            <a:ext cx="4983480" cy="3200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Límite de resolución: sí hay evidencia</a:t>
            </a:r>
            <a:endParaRPr lang="en-US" sz="1600" dirty="0"/>
          </a:p>
        </p:txBody>
      </p:sp>
      <p:sp>
        <p:nvSpPr>
          <p:cNvPr id="22" name="Text 20"/>
          <p:cNvSpPr/>
          <p:nvPr/>
        </p:nvSpPr>
        <p:spPr>
          <a:xfrm>
            <a:off x="6400800" y="4754880"/>
            <a:ext cx="4983480" cy="86868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Con m = 209, √(2m) ≈ 20,4. Museo y Centro Histórico (2 equipos cada una) NO aparecen como comunidades propias pese a ser dominios administrativos separados con su propia VLAN: la modularidad no puede «verlas». k-means espectral (K=22) da NMI 0,834 y ARI 0,372 frente a Louvain.</a:t>
            </a:r>
            <a:endParaRPr lang="en-US" sz="1200" dirty="0"/>
          </a:p>
        </p:txBody>
      </p:sp>
      <p:sp>
        <p:nvSpPr>
          <p:cNvPr id="24" name="Text 21"/>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5" name="Text 22"/>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3  ·  PROBLEMAS P5 – P7</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Optimización en redes</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Caminos mínimos con tres modelos de peso, flujo máximo y corte mínimo por campus, y dónde colocar los colectores de telemetría.</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P5 — CAMINOS MÁS CORTOS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El modelo de peso decide la respuesta</a:t>
            </a:r>
            <a:endParaRPr lang="en-US" sz="3000" dirty="0"/>
          </a:p>
        </p:txBody>
      </p:sp>
      <p:sp>
        <p:nvSpPr>
          <p:cNvPr id="4" name="Shape 2"/>
          <p:cNvSpPr/>
          <p:nvPr/>
        </p:nvSpPr>
        <p:spPr>
          <a:xfrm>
            <a:off x="548640" y="1554480"/>
            <a:ext cx="5394960" cy="1828800"/>
          </a:xfrm>
          <a:prstGeom prst="roundRect">
            <a:avLst>
              <a:gd name="adj" fmla="val 4000"/>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777240" y="1691640"/>
            <a:ext cx="4937760" cy="3200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Tres modelos, justificados físicamente</a:t>
            </a:r>
            <a:endParaRPr lang="en-US" sz="1600" dirty="0"/>
          </a:p>
        </p:txBody>
      </p:sp>
      <p:sp>
        <p:nvSpPr>
          <p:cNvPr id="6" name="Text 4"/>
          <p:cNvSpPr/>
          <p:nvPr/>
        </p:nvSpPr>
        <p:spPr>
          <a:xfrm>
            <a:off x="777240" y="2057400"/>
            <a:ext cx="4937760" cy="1234440"/>
          </a:xfrm>
          <a:prstGeom prst="rect">
            <a:avLst/>
          </a:prstGeom>
          <a:noFill/>
          <a:ln/>
        </p:spPr>
        <p:txBody>
          <a:bodyPr wrap="square" lIns="0" tIns="0" rIns="0" bIns="0" rtlCol="0" anchor="t"/>
          <a:lstStyle/>
          <a:p>
            <a:pPr indent="0" marL="0">
              <a:spcAft>
                <a:spcPts val="500"/>
              </a:spcAft>
              <a:buNone/>
            </a:pPr>
            <a:r>
              <a:rPr lang="en-US" sz="1200" b="1" dirty="0">
                <a:solidFill>
                  <a:srgbClr val="1B1F2A"/>
                </a:solidFill>
                <a:latin typeface="Calibri" pitchFamily="34" charset="0"/>
                <a:ea typeface="Calibri" pitchFamily="34" charset="-122"/>
                <a:cs typeface="Calibri" pitchFamily="34" charset="-120"/>
              </a:rPr>
              <a:t>w_saltos = 1</a:t>
            </a:r>
            <a:endParaRPr lang="en-US" sz="1200" dirty="0"/>
          </a:p>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w_latencia = α + β/c   con α = 0,05 ms (propagación + conmutación por salto, escala de campus) y β = 12 Mbit (trama Ethernet de 1500 B → β/c = tiempo de serialización en ms)</a:t>
            </a:r>
            <a:endParaRPr lang="en-US" sz="1200" dirty="0"/>
          </a:p>
          <a:p>
            <a:pPr indent="0" marL="0">
              <a:spcAft>
                <a:spcPts val="500"/>
              </a:spcAft>
              <a:buNone/>
            </a:pPr>
            <a:r>
              <a:rPr lang="en-US" sz="1200" b="1" dirty="0">
                <a:solidFill>
                  <a:srgbClr val="1B1F2A"/>
                </a:solidFill>
                <a:latin typeface="Calibri" pitchFamily="34" charset="0"/>
                <a:ea typeface="Calibri" pitchFamily="34" charset="-122"/>
                <a:cs typeface="Calibri" pitchFamily="34" charset="-120"/>
              </a:rPr>
              <a:t>w_carga = b/c   (fracción de la capacidad ya en uso)</a:t>
            </a:r>
            <a:endParaRPr lang="en-US" sz="1200" dirty="0"/>
          </a:p>
        </p:txBody>
      </p:sp>
      <p:sp>
        <p:nvSpPr>
          <p:cNvPr id="7" name="Shape 5"/>
          <p:cNvSpPr/>
          <p:nvPr/>
        </p:nvSpPr>
        <p:spPr>
          <a:xfrm>
            <a:off x="6217920" y="1554480"/>
            <a:ext cx="5394960" cy="1828800"/>
          </a:xfrm>
          <a:prstGeom prst="roundRect">
            <a:avLst>
              <a:gd name="adj" fmla="val 4000"/>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8" name="Text 6"/>
          <p:cNvSpPr/>
          <p:nvPr/>
        </p:nvSpPr>
        <p:spPr>
          <a:xfrm>
            <a:off x="6446520" y="1691640"/>
            <a:ext cx="4937760" cy="3200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Dijkstra vs. Floyd-Warshall</a:t>
            </a:r>
            <a:endParaRPr lang="en-US" sz="1600" dirty="0"/>
          </a:p>
        </p:txBody>
      </p:sp>
      <p:sp>
        <p:nvSpPr>
          <p:cNvPr id="9" name="Text 7"/>
          <p:cNvSpPr/>
          <p:nvPr/>
        </p:nvSpPr>
        <p:spPr>
          <a:xfrm>
            <a:off x="6446520" y="2057400"/>
            <a:ext cx="4937760" cy="1234440"/>
          </a:xfrm>
          <a:prstGeom prst="rect">
            <a:avLst/>
          </a:prstGeom>
          <a:noFill/>
          <a:ln/>
        </p:spPr>
        <p:txBody>
          <a:bodyPr wrap="square" lIns="0" tIns="0" rIns="0" bIns="0" rtlCol="0" anchor="t"/>
          <a:lstStyle/>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Dijkstra con montículo binario propio, O((V+E)log V). Floyd-Warshall clásico, O(V³). Coinciden en 20 pares al azar × 3 modelos = 60 verificaciones.</a:t>
            </a:r>
            <a:endParaRPr lang="en-US" sz="1200" dirty="0"/>
          </a:p>
          <a:p>
            <a:pPr indent="0" marL="0">
              <a:spcAft>
                <a:spcPts val="500"/>
              </a:spcAft>
              <a:buNone/>
            </a:pPr>
            <a:r>
              <a:rPr lang="en-US" sz="1200" dirty="0">
                <a:solidFill>
                  <a:srgbClr val="1B1F2A"/>
                </a:solidFill>
                <a:latin typeface="Calibri" pitchFamily="34" charset="0"/>
                <a:ea typeface="Calibri" pitchFamily="34" charset="-122"/>
                <a:cs typeface="Calibri" pitchFamily="34" charset="-120"/>
              </a:rPr>
              <a:t>El «punto de equilibrio» (cuántas fuentes de Dijkstra cuestan una pasada de FW) crece de ~1 a ~200 con n — justo lo que predice la teoría.</a:t>
            </a:r>
            <a:endParaRPr lang="en-US" sz="1200" dirty="0"/>
          </a:p>
          <a:p>
            <a:pPr indent="0" marL="0">
              <a:spcAft>
                <a:spcPts val="500"/>
              </a:spcAft>
              <a:buNone/>
            </a:pPr>
            <a:r>
              <a:rPr lang="en-US" sz="1200" b="1" dirty="0">
                <a:solidFill>
                  <a:srgbClr val="1B1F2A"/>
                </a:solidFill>
                <a:latin typeface="Calibri" pitchFamily="34" charset="0"/>
                <a:ea typeface="Calibri" pitchFamily="34" charset="-122"/>
                <a:cs typeface="Calibri" pitchFamily="34" charset="-120"/>
              </a:rPr>
              <a:t>Aquí conviene FW: el análisis necesita la matriz completa (cercanía, p-mediana, p-centro). En n=177 tarda 4 ms.</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2194560"/>
                <a:gridCol w="3291840"/>
                <a:gridCol w="3931920"/>
                <a:gridCol w="16459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Modelo de peso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Coincidencia top-10 de cercanía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Par de acceso más distante</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Distancia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w_saltos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 (referencia)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ENF-2B-A122 ↔ POST-2A-A66</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11 saltos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w_latencia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10 / 10 con saltos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POST-2A-A66 ↔ QUIN-1A-A128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0,639 ms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b="1" dirty="0">
                          <a:solidFill>
                            <a:srgbClr val="A01A24"/>
                          </a:solidFill>
                          <a:latin typeface="Calibri" pitchFamily="34" charset="0"/>
                          <a:ea typeface="Calibri" pitchFamily="34" charset="-122"/>
                          <a:cs typeface="Calibri" pitchFamily="34" charset="-120"/>
                        </a:rPr>
                        <a:t>w_carga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b="1" dirty="0">
                          <a:solidFill>
                            <a:srgbClr val="A01A24"/>
                          </a:solidFill>
                          <a:latin typeface="Calibri" pitchFamily="34" charset="0"/>
                          <a:ea typeface="Calibri" pitchFamily="34" charset="-122"/>
                          <a:cs typeface="Calibri" pitchFamily="34" charset="-120"/>
                        </a:rPr>
                        <a:t>0 / 10 — cambia por completo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ECOK1-1A-A102 ↔ INV-1B-A162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0,710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11" name="Shape 8"/>
          <p:cNvSpPr/>
          <p:nvPr/>
        </p:nvSpPr>
        <p:spPr>
          <a:xfrm>
            <a:off x="548640" y="5074920"/>
            <a:ext cx="11064240" cy="1005840"/>
          </a:xfrm>
          <a:prstGeom prst="roundRect">
            <a:avLst>
              <a:gd name="adj" fmla="val 7273"/>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2" name="Text 9"/>
          <p:cNvSpPr/>
          <p:nvPr/>
        </p:nvSpPr>
        <p:spPr>
          <a:xfrm>
            <a:off x="777240" y="5193792"/>
            <a:ext cx="10607040" cy="7772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51 de 209 aristas tienen tráfico 0 → peso EXACTAMENTE 0 bajo w_carga, y 51 nodos empatan en cercanía. No es un error de cálculo: es una propiedad real del modelo, que mide congestión y no topología.  ·  Ningún modelo puede dar peso negativo (α, β, c &gt; 0; b ≥ 0), así que Dijkstra es siempre válido: no hace falta Bellman-Ford.</a:t>
            </a:r>
            <a:endParaRPr lang="en-US" sz="1250" dirty="0"/>
          </a:p>
        </p:txBody>
      </p:sp>
      <p:sp>
        <p:nvSpPr>
          <p:cNvPr id="14" name="Text 10"/>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1"/>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P6.1 — FUNCIÓN DE CAPACIDAD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Estimar 181 capacidades — y descubrir un dato inconsistente</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7498080"/>
                <a:gridCol w="1737360"/>
                <a:gridCol w="182880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Regla de estimación</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Aristas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Capacidad</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Documentada explícitamente en el diagrama MPLS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28</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1–20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Troncal core–agregación (el informe declara 10 Gbps, cap. 2.1)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40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rol ∈ {wan, inferido}: por analogía con los enlaces MPLS documentados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i="1" dirty="0">
                          <a:solidFill>
                            <a:srgbClr val="1B1F2A"/>
                          </a:solidFill>
                          <a:latin typeface="Calibri" pitchFamily="34" charset="0"/>
                          <a:ea typeface="Calibri" pitchFamily="34" charset="-122"/>
                          <a:cs typeface="Calibri" pitchFamily="34" charset="-120"/>
                        </a:rPr>
                        <a:t>Agregación–acceso: uplink Ethernet estándar (el supuesto más discutible)</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111</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Otros (firewalls de interconexión, core–core): por defecto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23</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3840480"/>
            <a:ext cx="11064240" cy="1600200"/>
          </a:xfrm>
          <a:prstGeom prst="roundRect">
            <a:avLst>
              <a:gd name="adj" fmla="val 457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822960" y="3959352"/>
            <a:ext cx="10515600" cy="274320"/>
          </a:xfrm>
          <a:prstGeom prst="rect">
            <a:avLst/>
          </a:prstGeom>
          <a:noFill/>
          <a:ln/>
        </p:spPr>
        <p:txBody>
          <a:bodyPr wrap="square" lIns="0" tIns="0" rIns="0" bIns="0" rtlCol="0" anchor="ctr"/>
          <a:lstStyle/>
          <a:p>
            <a:pPr indent="0" marL="0">
              <a:buNone/>
            </a:pPr>
            <a:r>
              <a:rPr lang="en-US" sz="1100" b="1" spc="120" kern="0" dirty="0">
                <a:solidFill>
                  <a:srgbClr val="A01A24"/>
                </a:solidFill>
                <a:latin typeface="Calibri" pitchFamily="34" charset="0"/>
                <a:ea typeface="Calibri" pitchFamily="34" charset="-122"/>
                <a:cs typeface="Calibri" pitchFamily="34" charset="-120"/>
              </a:rPr>
              <a:t>HALLAZGO ORIGINAL  ·  Inconsistencia detectada en el conjunto de datos</a:t>
            </a:r>
            <a:endParaRPr lang="en-US" sz="1100" dirty="0"/>
          </a:p>
        </p:txBody>
      </p:sp>
      <p:sp>
        <p:nvSpPr>
          <p:cNvPr id="7" name="Text 4"/>
          <p:cNvSpPr/>
          <p:nvPr/>
        </p:nvSpPr>
        <p:spPr>
          <a:xfrm>
            <a:off x="822960" y="4251960"/>
            <a:ext cx="10515600" cy="5029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El enlace DATCC-2A-C2 – DATCC-2A-C3 (los dos core de Central) registra 1 890 Mbps de tráfico medido sobre una capacidad estimada de 1 000 Mbps: b/c = 1,89 &gt; 1, físicamente imposible.</a:t>
            </a:r>
            <a:endParaRPr lang="en-US" sz="1500" dirty="0"/>
          </a:p>
        </p:txBody>
      </p:sp>
      <p:sp>
        <p:nvSpPr>
          <p:cNvPr id="8" name="Text 5"/>
          <p:cNvSpPr/>
          <p:nvPr/>
        </p:nvSpPr>
        <p:spPr>
          <a:xfrm>
            <a:off x="822960" y="4754880"/>
            <a:ext cx="10515600" cy="64008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Es el único de las 209 enlaces con b/c &gt; 1: la medición valida el resto de las reglas y aísla el único punto donde fallan. Cae en la quinta regla (core–core, sin regla específica) y recibe 1 Gbps por defecto; opera necesariamente a 10 Gbps o más. No altera ningún resultado de flujo de este informe — no pertenece a ningún corte mínimo — pero sería obligatorio corregirlo en cualquier extensión.</a:t>
            </a:r>
            <a:endParaRPr lang="en-US" sz="1200" dirty="0"/>
          </a:p>
        </p:txBody>
      </p:sp>
      <p:sp>
        <p:nvSpPr>
          <p:cNvPr id="9" name="Text 6"/>
          <p:cNvSpPr/>
          <p:nvPr/>
        </p:nvSpPr>
        <p:spPr>
          <a:xfrm>
            <a:off x="548640" y="5623560"/>
            <a:ext cx="11064240" cy="45720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Resultado: 139 aristas a 1 Gbps, 68 a 10 Gbps y 2 a 20 Gbps. Cada supuesto queda registrado arista por arista en p6_capacidad_estimada.csv, para que sea auditable.</a:t>
            </a:r>
            <a:endParaRPr lang="en-US" sz="1250" dirty="0"/>
          </a:p>
        </p:txBody>
      </p:sp>
      <p:sp>
        <p:nvSpPr>
          <p:cNvPr id="11" name="Text 7"/>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8"/>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P6.2–P6.4 — FLUJO MÁXIMO Y CORTE MÍNIMO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Paraíso: el segundo campus más grande, el peor flujo</a:t>
            </a:r>
            <a:endParaRPr lang="en-US" sz="3000" dirty="0"/>
          </a:p>
        </p:txBody>
      </p:sp>
      <p:graphicFrame>
        <p:nvGraphicFramePr>
          <p:cNvPr id="4" name="Chart 0" descr=""/>
          <p:cNvGraphicFramePr/>
          <p:nvPr/>
        </p:nvGraphicFramePr>
        <p:xfrm>
          <a:off x="548640" y="1600200"/>
          <a:ext cx="68580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4846320"/>
            <a:ext cx="6858000" cy="45720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Flujo máximo de cada campus hacia INTERNET-MPLS (super-fuente sobre sus equipos de acceso). Ford-Fulkerson y Edmonds-Karp coinciden en los 7 casos.</a:t>
            </a:r>
            <a:endParaRPr lang="en-US" sz="1100" dirty="0"/>
          </a:p>
        </p:txBody>
      </p:sp>
      <p:sp>
        <p:nvSpPr>
          <p:cNvPr id="6" name="Shape 3"/>
          <p:cNvSpPr/>
          <p:nvPr/>
        </p:nvSpPr>
        <p:spPr>
          <a:xfrm>
            <a:off x="7680960" y="1600200"/>
            <a:ext cx="3931920" cy="3200400"/>
          </a:xfrm>
          <a:prstGeom prst="roundRect">
            <a:avLst>
              <a:gd name="adj" fmla="val 2286"/>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7" name="Text 4"/>
          <p:cNvSpPr/>
          <p:nvPr/>
        </p:nvSpPr>
        <p:spPr>
          <a:xfrm>
            <a:off x="7909560" y="1755648"/>
            <a:ext cx="3474720" cy="320040"/>
          </a:xfrm>
          <a:prstGeom prst="rect">
            <a:avLst/>
          </a:prstGeom>
          <a:noFill/>
          <a:ln/>
        </p:spPr>
        <p:txBody>
          <a:bodyPr wrap="square" lIns="0" tIns="0" rIns="0" bIns="0" rtlCol="0" anchor="ctr"/>
          <a:lstStyle/>
          <a:p>
            <a:pPr indent="0" marL="0">
              <a:buNone/>
            </a:pPr>
            <a:r>
              <a:rPr lang="en-US" sz="1600" b="1" dirty="0">
                <a:solidFill>
                  <a:srgbClr val="A01A24"/>
                </a:solidFill>
                <a:latin typeface="Cambria" pitchFamily="34" charset="0"/>
                <a:ea typeface="Cambria" pitchFamily="34" charset="-122"/>
                <a:cs typeface="Cambria" pitchFamily="34" charset="-120"/>
              </a:rPr>
              <a:t>Corte mínimo de Paraíso = 1 arista</a:t>
            </a:r>
            <a:endParaRPr lang="en-US" sz="1600" dirty="0"/>
          </a:p>
        </p:txBody>
      </p:sp>
      <p:sp>
        <p:nvSpPr>
          <p:cNvPr id="8" name="Text 5"/>
          <p:cNvSpPr/>
          <p:nvPr/>
        </p:nvSpPr>
        <p:spPr>
          <a:xfrm>
            <a:off x="7909560" y="2121408"/>
            <a:ext cx="3474720" cy="2560320"/>
          </a:xfrm>
          <a:prstGeom prst="rect">
            <a:avLst/>
          </a:prstGeom>
          <a:noFill/>
          <a:ln/>
        </p:spPr>
        <p:txBody>
          <a:bodyPr wrap="square" lIns="0" tIns="0" rIns="0" bIns="0" rtlCol="0" anchor="t"/>
          <a:lstStyle/>
          <a:p>
            <a:pPr indent="0" marL="0">
              <a:spcAft>
                <a:spcPts val="600"/>
              </a:spcAft>
              <a:buNone/>
            </a:pPr>
            <a:r>
              <a:rPr lang="en-US" sz="1200" b="1" dirty="0">
                <a:solidFill>
                  <a:srgbClr val="1B1F2A"/>
                </a:solidFill>
                <a:latin typeface="Calibri" pitchFamily="34" charset="0"/>
                <a:ea typeface="Calibri" pitchFamily="34" charset="-122"/>
                <a:cs typeface="Calibri" pitchFamily="34" charset="-120"/>
              </a:rPr>
              <a:t>CPAR-C10 — ROUTER-CAMPUS-HUAYNA-CAPAC, 1 000 Mbps.</a:t>
            </a:r>
            <a:endParaRPr lang="en-US" sz="1200" dirty="0"/>
          </a:p>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Verificación manual del teorema: la suma de capacidades del corte = el flujo máximo, en los 7 campus. Aquí se comprueba en una línea.</a:t>
            </a:r>
            <a:endParaRPr lang="en-US" sz="1200" dirty="0"/>
          </a:p>
          <a:p>
            <a:pPr indent="0" marL="0">
              <a:spcAft>
                <a:spcPts val="600"/>
              </a:spcAft>
              <a:buNone/>
            </a:pPr>
            <a:r>
              <a:rPr lang="en-US" sz="1200" b="1" dirty="0">
                <a:solidFill>
                  <a:srgbClr val="1B1F2A"/>
                </a:solidFill>
                <a:latin typeface="Calibri" pitchFamily="34" charset="0"/>
                <a:ea typeface="Calibri" pitchFamily="34" charset="-122"/>
                <a:cs typeface="Calibri" pitchFamily="34" charset="-120"/>
              </a:rPr>
              <a:t>Esa arista TAMBIÉN está en la lista de puentes de P1: el cuello de botella físico y el punto de fragilidad topológica coinciden exactamente.</a:t>
            </a:r>
            <a:endParaRPr lang="en-US" sz="1200" dirty="0"/>
          </a:p>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Mismo patrón en Yanuncay (1 arista) y Hospitalidad (4). En Central el corte son 7 aristas de alta capacidad, ninguna puente: perder una degrada, no desconecta.</a:t>
            </a:r>
            <a:endParaRPr lang="en-US" sz="1200" dirty="0"/>
          </a:p>
        </p:txBody>
      </p:sp>
      <p:sp>
        <p:nvSpPr>
          <p:cNvPr id="9" name="Shape 6"/>
          <p:cNvSpPr/>
          <p:nvPr/>
        </p:nvSpPr>
        <p:spPr>
          <a:xfrm>
            <a:off x="548640" y="5349240"/>
            <a:ext cx="11064240" cy="777240"/>
          </a:xfrm>
          <a:prstGeom prst="roundRect">
            <a:avLst>
              <a:gd name="adj" fmla="val 9412"/>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0" name="Text 7"/>
          <p:cNvSpPr/>
          <p:nvPr/>
        </p:nvSpPr>
        <p:spPr>
          <a:xfrm>
            <a:off x="777240" y="5468112"/>
            <a:ext cx="10607040" cy="5486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Flujo de costo mínimo (P6.5): demanda simultánea Balzay 11 500 + Central 22 000 Mbps, costo 1 por salto y 5 por usar un enlace de respaldo. Se sirve el 100 % con costo 208 500, evitando sistemáticamente los respaldos — objetivo distinto al del flujo máximo puro.</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P7 — LOCALIZACIÓN DE INSTALACIONES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Dónde poner un colector ≠ el nodo más central</a:t>
            </a:r>
            <a:endParaRPr lang="en-US" sz="3000" dirty="0"/>
          </a:p>
        </p:txBody>
      </p:sp>
      <p:sp>
        <p:nvSpPr>
          <p:cNvPr id="4" name="Shape 2"/>
          <p:cNvSpPr/>
          <p:nvPr/>
        </p:nvSpPr>
        <p:spPr>
          <a:xfrm>
            <a:off x="548640" y="1554480"/>
            <a:ext cx="5394960" cy="1417320"/>
          </a:xfrm>
          <a:prstGeom prst="roundRect">
            <a:avLst>
              <a:gd name="adj" fmla="val 516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5" name="Text 3"/>
          <p:cNvSpPr/>
          <p:nvPr/>
        </p:nvSpPr>
        <p:spPr>
          <a:xfrm>
            <a:off x="777240" y="1664208"/>
            <a:ext cx="1828800" cy="2743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p-mediana</a:t>
            </a:r>
            <a:endParaRPr lang="en-US" sz="1500" dirty="0"/>
          </a:p>
        </p:txBody>
      </p:sp>
      <p:sp>
        <p:nvSpPr>
          <p:cNvPr id="6" name="Text 4"/>
          <p:cNvSpPr/>
          <p:nvPr/>
        </p:nvSpPr>
        <p:spPr>
          <a:xfrm>
            <a:off x="777240" y="1938528"/>
            <a:ext cx="4937760" cy="36576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mín Σᵢ Σⱼ d(i,j)·xᵢⱼ    s.a.  Σⱼ yⱼ = p,  Σⱼ xᵢⱼ = 1 ∀i,  xᵢⱼ ≤ yⱼ,  x,y ∈ {0,1}</a:t>
            </a:r>
            <a:endParaRPr lang="en-US" sz="1200" dirty="0"/>
          </a:p>
        </p:txBody>
      </p:sp>
      <p:sp>
        <p:nvSpPr>
          <p:cNvPr id="7" name="Text 5"/>
          <p:cNvSpPr/>
          <p:nvPr/>
        </p:nvSpPr>
        <p:spPr>
          <a:xfrm>
            <a:off x="777240" y="2331720"/>
            <a:ext cx="4937760" cy="548640"/>
          </a:xfrm>
          <a:prstGeom prst="rect">
            <a:avLst/>
          </a:prstGeom>
          <a:noFill/>
          <a:ln/>
        </p:spPr>
        <p:txBody>
          <a:bodyPr wrap="square" lIns="0" tIns="0" rIns="0" bIns="0" rtlCol="0" anchor="ctr"/>
          <a:lstStyle/>
          <a:p>
            <a:pPr indent="0" marL="0">
              <a:buNone/>
            </a:pPr>
            <a:r>
              <a:rPr lang="en-US" sz="1200" i="1" dirty="0">
                <a:solidFill>
                  <a:srgbClr val="5B6472"/>
                </a:solidFill>
                <a:latin typeface="Calibri" pitchFamily="34" charset="0"/>
                <a:ea typeface="Calibri" pitchFamily="34" charset="-122"/>
                <a:cs typeface="Calibri" pitchFamily="34" charset="-120"/>
              </a:rPr>
              <a:t>Minimiza la distancia PROMEDIO — buena para telemetría agregada, tolera algunos equipos algo lejos.</a:t>
            </a:r>
            <a:endParaRPr lang="en-US" sz="1200" dirty="0"/>
          </a:p>
        </p:txBody>
      </p:sp>
      <p:sp>
        <p:nvSpPr>
          <p:cNvPr id="8" name="Shape 6"/>
          <p:cNvSpPr/>
          <p:nvPr/>
        </p:nvSpPr>
        <p:spPr>
          <a:xfrm>
            <a:off x="6217920" y="1554480"/>
            <a:ext cx="5394960" cy="1417320"/>
          </a:xfrm>
          <a:prstGeom prst="roundRect">
            <a:avLst>
              <a:gd name="adj" fmla="val 5161"/>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9" name="Text 7"/>
          <p:cNvSpPr/>
          <p:nvPr/>
        </p:nvSpPr>
        <p:spPr>
          <a:xfrm>
            <a:off x="6446520" y="1664208"/>
            <a:ext cx="1828800" cy="2743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p-centro</a:t>
            </a:r>
            <a:endParaRPr lang="en-US" sz="1500" dirty="0"/>
          </a:p>
        </p:txBody>
      </p:sp>
      <p:sp>
        <p:nvSpPr>
          <p:cNvPr id="10" name="Text 8"/>
          <p:cNvSpPr/>
          <p:nvPr/>
        </p:nvSpPr>
        <p:spPr>
          <a:xfrm>
            <a:off x="6446520" y="1938528"/>
            <a:ext cx="4937760" cy="36576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mín z    s.a.  Σⱼ d(i,j)·xᵢⱼ ≤ z ∀i,  (mismas restricciones)</a:t>
            </a:r>
            <a:endParaRPr lang="en-US" sz="1200" dirty="0"/>
          </a:p>
        </p:txBody>
      </p:sp>
      <p:sp>
        <p:nvSpPr>
          <p:cNvPr id="11" name="Text 9"/>
          <p:cNvSpPr/>
          <p:nvPr/>
        </p:nvSpPr>
        <p:spPr>
          <a:xfrm>
            <a:off x="6446520" y="2331720"/>
            <a:ext cx="4937760" cy="548640"/>
          </a:xfrm>
          <a:prstGeom prst="rect">
            <a:avLst/>
          </a:prstGeom>
          <a:noFill/>
          <a:ln/>
        </p:spPr>
        <p:txBody>
          <a:bodyPr wrap="square" lIns="0" tIns="0" rIns="0" bIns="0" rtlCol="0" anchor="ctr"/>
          <a:lstStyle/>
          <a:p>
            <a:pPr indent="0" marL="0">
              <a:buNone/>
            </a:pPr>
            <a:r>
              <a:rPr lang="en-US" sz="1200" i="1" dirty="0">
                <a:solidFill>
                  <a:srgbClr val="5B6472"/>
                </a:solidFill>
                <a:latin typeface="Calibri" pitchFamily="34" charset="0"/>
                <a:ea typeface="Calibri" pitchFamily="34" charset="-122"/>
                <a:cs typeface="Calibri" pitchFamily="34" charset="-120"/>
              </a:rPr>
              <a:t>Minimiza la distancia de PEOR CASO — garantiza un techo de latencia de sondeo para todos los equipos.</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548640"/>
                <a:gridCol w="3749040"/>
                <a:gridCol w="914400"/>
                <a:gridCol w="4937760"/>
                <a:gridCol w="91440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p-mediana (ILP)</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Costo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p-centro (ILP)</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Radio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638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CPAR-C10; DATCC-2A-C3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486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DT-0A-C13; 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CPAR-C10; DATCC-2A-C3; DT-0A-C13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388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CB-EADMI-D6; DATCC-2A-C2; ROUTER-HUAYNA-CAPAC</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algn="l" indent="0" marL="0">
                        <a:buNone/>
                      </a:pPr>
                      <a:r>
                        <a:rPr lang="en-US" sz="1100" b="1"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b="1" dirty="0">
                          <a:solidFill>
                            <a:srgbClr val="1B1F2A"/>
                          </a:solidFill>
                          <a:latin typeface="Calibri" pitchFamily="34" charset="0"/>
                          <a:ea typeface="Calibri" pitchFamily="34" charset="-122"/>
                          <a:cs typeface="Calibri" pitchFamily="34" charset="-120"/>
                        </a:rPr>
                        <a:t>+ AGRPRI-1A-D10; INTERNET-MPLS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b="1" dirty="0">
                          <a:solidFill>
                            <a:srgbClr val="1B1F2A"/>
                          </a:solidFill>
                          <a:latin typeface="Calibri" pitchFamily="34" charset="0"/>
                          <a:ea typeface="Calibri" pitchFamily="34" charset="-122"/>
                          <a:cs typeface="Calibri" pitchFamily="34" charset="-120"/>
                        </a:rPr>
                        <a:t>318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b="1" dirty="0">
                          <a:solidFill>
                            <a:srgbClr val="1B1F2A"/>
                          </a:solidFill>
                          <a:latin typeface="Calibri" pitchFamily="34" charset="0"/>
                          <a:ea typeface="Calibri" pitchFamily="34" charset="-122"/>
                          <a:cs typeface="Calibri" pitchFamily="34" charset="-120"/>
                        </a:rPr>
                        <a:t>+ CC-FILOSOFIA-A-D108; CPAR-C10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100" b="1" dirty="0">
                          <a:solidFill>
                            <a:srgbClr val="A01A24"/>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13" name="Shape 10"/>
          <p:cNvSpPr/>
          <p:nvPr/>
        </p:nvSpPr>
        <p:spPr>
          <a:xfrm>
            <a:off x="548640" y="4892040"/>
            <a:ext cx="11064240" cy="1188720"/>
          </a:xfrm>
          <a:prstGeom prst="roundRect">
            <a:avLst>
              <a:gd name="adj" fmla="val 6154"/>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4" name="Text 11"/>
          <p:cNvSpPr/>
          <p:nvPr/>
        </p:nvSpPr>
        <p:spPr>
          <a:xfrm>
            <a:off x="777240" y="5010912"/>
            <a:ext cx="106070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¿Coinciden con los nodos más centrales de P1? Solo parcialmente — y esa es la respuesta.</a:t>
            </a:r>
            <a:endParaRPr lang="en-US" sz="1350" dirty="0"/>
          </a:p>
        </p:txBody>
      </p:sp>
      <p:sp>
        <p:nvSpPr>
          <p:cNvPr id="15" name="Text 12"/>
          <p:cNvSpPr/>
          <p:nvPr/>
        </p:nvSpPr>
        <p:spPr>
          <a:xfrm>
            <a:off x="777240" y="5285232"/>
            <a:ext cx="10607040" cy="73152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 colector no necesita estar en el camino de muchos pares (alta intermediación) ni «en el medio de todo» (alta cercanía): necesita estar donde hay equipos que monitorear sin quedar lejos de ninguno. Los nodos de mayor intermediación son el core, muy cerca de pocos equipos y lejos de la mayoría de las hojas. La heurística voraz alcanza el óptimo en p=1 y p=5, y queda 1,2–5,2 % por encima en p=2 y p=3 (falta de backtracking).</a:t>
            </a:r>
            <a:endParaRPr lang="en-US" sz="1200" dirty="0"/>
          </a:p>
        </p:txBody>
      </p:sp>
      <p:sp>
        <p:nvSpPr>
          <p:cNvPr id="17" name="Text 1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8" name="Text 1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4  ·  PROBLEMAS P8 – P10</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Percolación y robustez</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¿Qué tan grave sería la falla? Fallo aleatorio contra ataque dirigido, cascadas, epidemias y el ranking único de puntos críticos.</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P8 — LA PARADOJA DE LA ROBUSTEZ</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Robusta al azar, frágil al ataque: 43 nodos contra 4</a:t>
            </a:r>
            <a:endParaRPr lang="en-US" sz="3000" dirty="0"/>
          </a:p>
        </p:txBody>
      </p:sp>
      <p:pic>
        <p:nvPicPr>
          <p:cNvPr id="4" name="Image 0" descr="p8_percolacion_nodos.png">    </p:cNvPr>
          <p:cNvPicPr>
            <a:picLocks noChangeAspect="1"/>
          </p:cNvPicPr>
          <p:nvPr/>
        </p:nvPicPr>
        <p:blipFill>
          <a:blip r:embed="rId1"/>
          <a:stretch>
            <a:fillRect/>
          </a:stretch>
        </p:blipFill>
        <p:spPr>
          <a:xfrm>
            <a:off x="548640" y="1572768"/>
            <a:ext cx="5760720" cy="3840480"/>
          </a:xfrm>
          <a:prstGeom prst="rect">
            <a:avLst/>
          </a:prstGeom>
        </p:spPr>
      </p:pic>
      <p:sp>
        <p:nvSpPr>
          <p:cNvPr id="5" name="Text 2"/>
          <p:cNvSpPr/>
          <p:nvPr/>
        </p:nvSpPr>
        <p:spPr>
          <a:xfrm>
            <a:off x="548640" y="5440680"/>
            <a:ext cx="5760720" cy="45720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S(f) = tamaño relativo de la componente gigante tras eliminar una fracción f de nodos. Aleatorio: media ± desv. estándar sobre 100 realizaciones.</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29200" cy="914400"/>
        </p:xfrm>
        <a:graphic>
          <a:graphicData uri="http://schemas.openxmlformats.org/drawingml/2006/table">
            <a:tbl>
              <a:tblPr/>
              <a:tblGrid>
                <a:gridCol w="2194560"/>
                <a:gridCol w="731520"/>
                <a:gridCol w="731520"/>
                <a:gridCol w="137160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Estrategia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f_c</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Nodos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S(f = 0,05)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Fallo aleatorio (100 realiz.)</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0,243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0,879</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Ataque por grado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0,373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Intermediación (estática)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0,045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0,198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Intermediación (recalculada)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0,051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7" name="Shape 3"/>
          <p:cNvSpPr/>
          <p:nvPr/>
        </p:nvSpPr>
        <p:spPr>
          <a:xfrm>
            <a:off x="6583680" y="3429000"/>
            <a:ext cx="5029200" cy="2468880"/>
          </a:xfrm>
          <a:prstGeom prst="roundRect">
            <a:avLst>
              <a:gd name="adj" fmla="val 2963"/>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8" name="Text 4"/>
          <p:cNvSpPr/>
          <p:nvPr/>
        </p:nvSpPr>
        <p:spPr>
          <a:xfrm>
            <a:off x="6812280" y="3566160"/>
            <a:ext cx="4572000" cy="274320"/>
          </a:xfrm>
          <a:prstGeom prst="rect">
            <a:avLst/>
          </a:prstGeom>
          <a:noFill/>
          <a:ln/>
        </p:spPr>
        <p:txBody>
          <a:bodyPr wrap="square" lIns="0" tIns="0" rIns="0" bIns="0" rtlCol="0" anchor="ctr"/>
          <a:lstStyle/>
          <a:p>
            <a:pPr indent="0" marL="0">
              <a:buNone/>
            </a:pPr>
            <a:r>
              <a:rPr lang="en-US" sz="1600" b="1" dirty="0">
                <a:solidFill>
                  <a:srgbClr val="A01A24"/>
                </a:solidFill>
                <a:latin typeface="Cambria" pitchFamily="34" charset="0"/>
                <a:ea typeface="Cambria" pitchFamily="34" charset="-122"/>
                <a:cs typeface="Cambria" pitchFamily="34" charset="-120"/>
              </a:rPr>
              <a:t>Consecuencia operativa</a:t>
            </a:r>
            <a:endParaRPr lang="en-US" sz="1600" dirty="0"/>
          </a:p>
        </p:txBody>
      </p:sp>
      <p:sp>
        <p:nvSpPr>
          <p:cNvPr id="9" name="Text 5"/>
          <p:cNvSpPr/>
          <p:nvPr/>
        </p:nvSpPr>
        <p:spPr>
          <a:xfrm>
            <a:off x="6812280" y="3886200"/>
            <a:ext cx="4572000" cy="1920240"/>
          </a:xfrm>
          <a:prstGeom prst="rect">
            <a:avLst/>
          </a:prstGeom>
          <a:noFill/>
          <a:ln/>
        </p:spPr>
        <p:txBody>
          <a:bodyPr wrap="square" lIns="0" tIns="0" rIns="0" bIns="0" rtlCol="0" anchor="t"/>
          <a:lstStyle/>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Un plan de MANTENIMIENTO puede tratar los fallos como aproximadamente aleatorios: la tolerancia es razonable.</a:t>
            </a:r>
            <a:endParaRPr lang="en-US" sz="1200" dirty="0"/>
          </a:p>
          <a:p>
            <a:pPr indent="0" marL="0">
              <a:spcAft>
                <a:spcPts val="600"/>
              </a:spcAft>
              <a:buNone/>
            </a:pPr>
            <a:r>
              <a:rPr lang="en-US" sz="1200" dirty="0">
                <a:solidFill>
                  <a:srgbClr val="1B1F2A"/>
                </a:solidFill>
                <a:latin typeface="Calibri" pitchFamily="34" charset="0"/>
                <a:ea typeface="Calibri" pitchFamily="34" charset="-122"/>
                <a:cs typeface="Calibri" pitchFamily="34" charset="-120"/>
              </a:rPr>
              <a:t>Un plan de RESPUESTA A INCIDENTES DE SEGURIDAD no puede asumir eso. Un atacante colapsa la red con 4 bajas dirigidas en vez de 43 al azar.</a:t>
            </a:r>
            <a:endParaRPr lang="en-US" sz="1200" dirty="0"/>
          </a:p>
          <a:p>
            <a:pPr indent="0" marL="0">
              <a:spcAft>
                <a:spcPts val="600"/>
              </a:spcAft>
              <a:buNone/>
            </a:pPr>
            <a:r>
              <a:rPr lang="en-US" sz="1200" b="1" dirty="0">
                <a:solidFill>
                  <a:srgbClr val="1B1F2A"/>
                </a:solidFill>
                <a:latin typeface="Calibri" pitchFamily="34" charset="0"/>
                <a:ea typeface="Calibri" pitchFamily="34" charset="-122"/>
                <a:cs typeface="Calibri" pitchFamily="34" charset="-120"/>
              </a:rPr>
              <a:t>Esos 4–8 equipos necesitan protección desproporcionada respecto a su número: redundancia, monitoreo dedicado y control de acceso físico.</a:t>
            </a:r>
            <a:endParaRPr lang="en-US" sz="1200" dirty="0"/>
          </a:p>
        </p:txBody>
      </p:sp>
      <p:sp>
        <p:nvSpPr>
          <p:cNvPr id="11" name="Text 6"/>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7"/>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P8.4 — EFICIENCIA GLOBAL  ·  P9.1 — CASCADAS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El servicio se degrada mucho antes de que la red se rompa</a:t>
            </a:r>
            <a:endParaRPr lang="en-US" sz="3000" dirty="0"/>
          </a:p>
        </p:txBody>
      </p:sp>
      <p:pic>
        <p:nvPicPr>
          <p:cNvPr id="4" name="Image 0" descr="p8_eficiencia_vs_percolacion.png">    </p:cNvPr>
          <p:cNvPicPr>
            <a:picLocks noChangeAspect="1"/>
          </p:cNvPicPr>
          <p:nvPr/>
        </p:nvPicPr>
        <p:blipFill>
          <a:blip r:embed="rId1"/>
          <a:stretch>
            <a:fillRect/>
          </a:stretch>
        </p:blipFill>
        <p:spPr>
          <a:xfrm>
            <a:off x="548640" y="1572768"/>
            <a:ext cx="5120640" cy="3410712"/>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43600" y="1600200"/>
          <a:ext cx="5669280" cy="914400"/>
        </p:xfrm>
        <a:graphic>
          <a:graphicData uri="http://schemas.openxmlformats.org/drawingml/2006/table">
            <a:tbl>
              <a:tblPr/>
              <a:tblGrid>
                <a:gridCol w="2103120"/>
                <a:gridCol w="891540"/>
                <a:gridCol w="891540"/>
                <a:gridCol w="891540"/>
                <a:gridCol w="891540"/>
              </a:tblGrid>
              <a:tr h="365760">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 (nodos eliminados)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0,02</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0,05</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0,10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0,20</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65760">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E(f)/E(0) — fallo aleatorio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0,901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0,782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0,644</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dirty="0">
                          <a:solidFill>
                            <a:srgbClr val="1B1F2A"/>
                          </a:solidFill>
                          <a:latin typeface="Calibri" pitchFamily="34" charset="0"/>
                          <a:ea typeface="Calibri" pitchFamily="34" charset="-122"/>
                          <a:cs typeface="Calibri" pitchFamily="34" charset="-120"/>
                        </a:rPr>
                        <a:t>0,409</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65760">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E(f)/E(0) — ataque dirigido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0,580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0,143</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0,051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ctr" indent="0" marL="0">
                        <a:buNone/>
                      </a:pPr>
                      <a:r>
                        <a:rPr lang="en-US" sz="1100" b="1" dirty="0">
                          <a:solidFill>
                            <a:srgbClr val="A01A24"/>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6" name="Shape 2"/>
          <p:cNvSpPr/>
          <p:nvPr/>
        </p:nvSpPr>
        <p:spPr>
          <a:xfrm>
            <a:off x="5943600" y="2880360"/>
            <a:ext cx="5669280" cy="1417320"/>
          </a:xfrm>
          <a:prstGeom prst="roundRect">
            <a:avLst>
              <a:gd name="adj" fmla="val 5161"/>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7" name="Text 3"/>
          <p:cNvSpPr/>
          <p:nvPr/>
        </p:nvSpPr>
        <p:spPr>
          <a:xfrm>
            <a:off x="6172200" y="3017520"/>
            <a:ext cx="5212080" cy="1143000"/>
          </a:xfrm>
          <a:prstGeom prst="rect">
            <a:avLst/>
          </a:prstGeom>
          <a:noFill/>
          <a:ln/>
        </p:spPr>
        <p:txBody>
          <a:bodyPr wrap="square" lIns="0" tIns="0" rIns="0" bIns="0" rtlCol="0" anchor="t"/>
          <a:lstStyle/>
          <a:p>
            <a:pPr indent="0" marL="0">
              <a:buNone/>
            </a:pPr>
            <a:r>
              <a:rPr lang="en-US" sz="1200" dirty="0">
                <a:solidFill>
                  <a:srgbClr val="1E2761"/>
                </a:solidFill>
                <a:latin typeface="Calibri" pitchFamily="34" charset="0"/>
                <a:ea typeface="Calibri" pitchFamily="34" charset="-122"/>
                <a:cs typeface="Calibri" pitchFamily="34" charset="-120"/>
              </a:rPr>
              <a:t>La eficiencia pondera el INVERSO de la distancia: un nodo que sigue conectado pero ahora a 8 saltos en vez de 2 aporta casi nada a E, aunque siga contando entero en la componente gigante. La red puede seguir «arriba» mucho después de que el servicio percibido se haya degradado severamente.</a:t>
            </a:r>
            <a:endParaRPr lang="en-US" sz="1200" dirty="0"/>
          </a:p>
        </p:txBody>
      </p:sp>
      <p:sp>
        <p:nvSpPr>
          <p:cNvPr id="8" name="Shape 4"/>
          <p:cNvSpPr/>
          <p:nvPr/>
        </p:nvSpPr>
        <p:spPr>
          <a:xfrm>
            <a:off x="548640" y="5120640"/>
            <a:ext cx="11064240" cy="1051560"/>
          </a:xfrm>
          <a:prstGeom prst="roundRect">
            <a:avLst>
              <a:gd name="adj" fmla="val 6957"/>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9" name="Text 5"/>
          <p:cNvSpPr/>
          <p:nvPr/>
        </p:nvSpPr>
        <p:spPr>
          <a:xfrm>
            <a:off x="822960" y="5230368"/>
            <a:ext cx="10515600" cy="292608"/>
          </a:xfrm>
          <a:prstGeom prst="rect">
            <a:avLst/>
          </a:prstGeom>
          <a:noFill/>
          <a:ln/>
        </p:spPr>
        <p:txBody>
          <a:bodyPr wrap="square" lIns="0" tIns="0" rIns="0" bIns="0" rtlCol="0" anchor="ctr"/>
          <a:lstStyle/>
          <a:p>
            <a:pPr indent="0" marL="0">
              <a:buNone/>
            </a:pPr>
            <a:r>
              <a:rPr lang="en-US" sz="1500" b="1" dirty="0">
                <a:solidFill>
                  <a:srgbClr val="A01A24"/>
                </a:solidFill>
                <a:latin typeface="Cambria" pitchFamily="34" charset="0"/>
                <a:ea typeface="Cambria" pitchFamily="34" charset="-122"/>
                <a:cs typeface="Cambria" pitchFamily="34" charset="-120"/>
              </a:rPr>
              <a:t>P9.1–P9.2 — No hay efecto dominó: la fragilidad de esta red es de CONECTIVIDAD, no de SOBRECARGA</a:t>
            </a:r>
            <a:endParaRPr lang="en-US" sz="1500" dirty="0"/>
          </a:p>
        </p:txBody>
      </p:sp>
      <p:sp>
        <p:nvSpPr>
          <p:cNvPr id="10" name="Text 6"/>
          <p:cNvSpPr/>
          <p:nvPr/>
        </p:nvSpPr>
        <p:spPr>
          <a:xfrm>
            <a:off x="822960" y="5522976"/>
            <a:ext cx="10515600" cy="5943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Modelo de Motter-Lai (carga = intermediación, capacidad Cᵢ = (1+τ)Lᵢ): ningún nodo desencadena una cascada superior al 8,5 % de la red en toda la malla τ ∈ [0; 1], ni siquiera con margen τ = 0. Peor caso: PE2-BALZAY. No hay un τ_c positivo que reportar, y decir «τ_c = 0» sería engañoso. Consecuencia: hace falta redundancia topológica, no sobredimensionamiento preventivo de capacidad.</a:t>
            </a:r>
            <a:endParaRPr lang="en-US" sz="1200" dirty="0"/>
          </a:p>
        </p:txBody>
      </p:sp>
      <p:sp>
        <p:nvSpPr>
          <p:cNvPr id="12" name="Text 7"/>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8"/>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P9.3–P9.4 — EPIDEMIAS E INMUNIZACIÓN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Inmunizar 11 equipos bien elegidos vale por siete al azar</a:t>
            </a:r>
            <a:endParaRPr lang="en-US" sz="3000" dirty="0"/>
          </a:p>
        </p:txBody>
      </p:sp>
      <p:pic>
        <p:nvPicPr>
          <p:cNvPr id="4" name="Image 0" descr="p9_sir_umbral.png">    </p:cNvPr>
          <p:cNvPicPr>
            <a:picLocks noChangeAspect="1"/>
          </p:cNvPicPr>
          <p:nvPr/>
        </p:nvPicPr>
        <p:blipFill>
          <a:blip r:embed="rId1"/>
          <a:stretch>
            <a:fillRect/>
          </a:stretch>
        </p:blipFill>
        <p:spPr>
          <a:xfrm>
            <a:off x="548640" y="1600200"/>
            <a:ext cx="4846320" cy="3227832"/>
          </a:xfrm>
          <a:prstGeom prst="rect">
            <a:avLst/>
          </a:prstGeom>
        </p:spPr>
      </p:pic>
      <p:sp>
        <p:nvSpPr>
          <p:cNvPr id="5" name="Text 2"/>
          <p:cNvSpPr/>
          <p:nvPr/>
        </p:nvSpPr>
        <p:spPr>
          <a:xfrm>
            <a:off x="548640" y="4892040"/>
            <a:ext cx="4846320" cy="45720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λ_c = ⟨k⟩/⟨k²⟩ = 2,362/12,689 = 0,1861 (campo medio). SIR discreto, γ = 0,3, 60 realizaciones por punto.</a:t>
            </a:r>
            <a:endParaRPr lang="en-US" sz="1050" dirty="0"/>
          </a:p>
        </p:txBody>
      </p:sp>
      <p:graphicFrame>
        <p:nvGraphicFramePr>
          <p:cNvPr id="6" name="Chart 0" descr=""/>
          <p:cNvGraphicFramePr/>
          <p:nvPr/>
        </p:nvGraphicFramePr>
        <p:xfrm>
          <a:off x="5760720" y="1600200"/>
          <a:ext cx="5852160" cy="2834640"/>
        </p:xfrm>
        <a:graphic xmlns:a="http://schemas.openxmlformats.org/drawingml/2006/main">
          <a:graphicData uri="http://schemas.openxmlformats.org/drawingml/2006/chart">
            <c:chart xmlns:c="http://schemas.openxmlformats.org/drawingml/2006/chart" r:id="rId2"/>
          </a:graphicData>
        </a:graphic>
      </p:graphicFrame>
      <p:sp>
        <p:nvSpPr>
          <p:cNvPr id="7" name="Text 3"/>
          <p:cNvSpPr/>
          <p:nvPr/>
        </p:nvSpPr>
        <p:spPr>
          <a:xfrm>
            <a:off x="5760720" y="4480560"/>
            <a:ext cx="5852160" cy="36576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Mismo presupuesto: 11 equipos parcheados (≈6 % de la red), λ = 8λ_c, 200 realizaciones.</a:t>
            </a:r>
            <a:endParaRPr lang="en-US" sz="1100" dirty="0"/>
          </a:p>
        </p:txBody>
      </p:sp>
      <p:sp>
        <p:nvSpPr>
          <p:cNvPr id="8" name="Shape 4"/>
          <p:cNvSpPr/>
          <p:nvPr/>
        </p:nvSpPr>
        <p:spPr>
          <a:xfrm>
            <a:off x="5760720" y="4892040"/>
            <a:ext cx="5852160" cy="1234440"/>
          </a:xfrm>
          <a:prstGeom prst="roundRect">
            <a:avLst>
              <a:gd name="adj" fmla="val 5926"/>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9" name="Text 5"/>
          <p:cNvSpPr/>
          <p:nvPr/>
        </p:nvSpPr>
        <p:spPr>
          <a:xfrm>
            <a:off x="5989320" y="5010912"/>
            <a:ext cx="5394960" cy="100584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Reducción: 11,0 % (aleatoria) vs. 77,2 % (centralidad) — siete veces más. Y un segundo efecto menos citado: la desviación estándar cae de 29,7 % a 3,0 %. La inmunización dirigida no solo reduce el daño esperado: elimina el riesgo de cola.</a:t>
            </a:r>
            <a:endParaRPr lang="en-US" sz="1200" dirty="0"/>
          </a:p>
        </p:txBody>
      </p:sp>
      <p:sp>
        <p:nvSpPr>
          <p:cNvPr id="10" name="Shape 6"/>
          <p:cNvSpPr/>
          <p:nvPr/>
        </p:nvSpPr>
        <p:spPr>
          <a:xfrm>
            <a:off x="548640" y="5440680"/>
            <a:ext cx="4846320" cy="685800"/>
          </a:xfrm>
          <a:prstGeom prst="roundRect">
            <a:avLst>
              <a:gd name="adj" fmla="val 10667"/>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1" name="Text 7"/>
          <p:cNvSpPr/>
          <p:nvPr/>
        </p:nvSpPr>
        <p:spPr>
          <a:xfrm>
            <a:off x="731520" y="5532120"/>
            <a:ext cx="4480560" cy="548640"/>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Con n = 177 la dispersión es del orden de la media cerca del umbral: la figura confirma el orden de magnitud, no localiza λ_c con precisión.</a:t>
            </a:r>
            <a:endParaRPr lang="en-US" sz="1100" dirty="0"/>
          </a:p>
        </p:txBody>
      </p:sp>
      <p:sp>
        <p:nvSpPr>
          <p:cNvPr id="13"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4"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P10 — DIAGNÓSTICO DE PUNTOS CRÍTICOS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Cuatro señales independientes, un solo ranking</a:t>
            </a:r>
            <a:endParaRPr lang="en-US" sz="3000" dirty="0"/>
          </a:p>
        </p:txBody>
      </p:sp>
      <p:sp>
        <p:nvSpPr>
          <p:cNvPr id="4" name="Text 2"/>
          <p:cNvSpPr/>
          <p:nvPr/>
        </p:nvSpPr>
        <p:spPr>
          <a:xfrm>
            <a:off x="548640" y="1572768"/>
            <a:ext cx="11064240" cy="54864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Índice compuesto = promedio de 4 componentes normalizados a [0,1]: intermediación (P1) + condición de punto de articulación (P1) + participación en los cortes mínimos (P6) + daño causado en la cascada (P9). Pesos iguales, declarados como punto de partida a falta de una prioridad de negocio de la institución.</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64240" cy="914400"/>
        </p:xfrm>
        <a:graphic>
          <a:graphicData uri="http://schemas.openxmlformats.org/drawingml/2006/table">
            <a:tbl>
              <a:tblPr/>
              <a:tblGrid>
                <a:gridCol w="548640"/>
                <a:gridCol w="3474720"/>
                <a:gridCol w="2011680"/>
                <a:gridCol w="1554480"/>
                <a:gridCol w="960120"/>
                <a:gridCol w="685800"/>
                <a:gridCol w="868680"/>
                <a:gridCol w="96012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Equipo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Capa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Interm.</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Artic.</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Cortes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Índice</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INTERNET-MPLS</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Nube MPLS</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0,818</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0,682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BAL-AUL2-D1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0,248</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0,585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DATCC-2A-C3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0,530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CPAR-C10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0,905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0,524</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ROUTER-CAMPUS-HUAYNA-CAPAC</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0,820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0,503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BAL-CENTEC-D2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0,126</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0,429</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7–8</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BAL-AUL1-D4 · HOS-0A-D05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Balzay · Hospitalidad</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0,101</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0,398</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CB-EADMI-D6</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0,150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0,385</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01752">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FORTIGATE-1800F-CENTRAL</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interconexión</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0,417</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0,382</a:t>
                      </a:r>
                      <a:endParaRPr lang="en-US" sz="10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6" name="Shape 3"/>
          <p:cNvSpPr/>
          <p:nvPr/>
        </p:nvSpPr>
        <p:spPr>
          <a:xfrm>
            <a:off x="548640" y="5486400"/>
            <a:ext cx="11064240" cy="777240"/>
          </a:xfrm>
          <a:prstGeom prst="roundRect">
            <a:avLst>
              <a:gd name="adj" fmla="val 9412"/>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7" name="Text 4"/>
          <p:cNvSpPr/>
          <p:nvPr/>
        </p:nvSpPr>
        <p:spPr>
          <a:xfrm>
            <a:off x="777240" y="5605272"/>
            <a:ext cx="10607040" cy="5486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Cinco de los diez puestos son switches de agregación — confirma que la fragilidad no está en el núcleo. El segundo puesto, BAL-AUL2-D1, tiene intermediación modesta (0,248) pero participa en 10 cortes mínimos: ninguna centralidad clásica por sí sola lo habría detectado. Ese es el valor de combinar cuatro señales.</a:t>
            </a:r>
            <a:endParaRPr lang="en-US" sz="125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FASE 5  ·  PROBLEMA P11</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Propuesta de rediseño</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Restricción dura: a lo sumo cinco cambios de topología. ¿Cuáles, y por qué esos y no otros?</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P11.1 — QUÉ CONSTRUIR</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Cinco intervenciones, cada una derivada del diagnóstico</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gridCol w="1005840"/>
                <a:gridCol w="3566160"/>
                <a:gridCol w="914400"/>
                <a:gridCol w="512064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Tipo</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Enlace</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Cap.</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Qué problema del diagnóstico resuelve</a:t>
                      </a:r>
                      <a:endParaRPr lang="en-US" sz="11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457200">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Duplicar</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CPAR-C10 — ROUTER-CAMPUS-HUAYNA-CAPAC</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b="1" dirty="0">
                          <a:solidFill>
                            <a:srgbClr val="A01A24"/>
                          </a:solidFill>
                          <a:latin typeface="Calibri" pitchFamily="34" charset="0"/>
                          <a:ea typeface="Calibri" pitchFamily="34" charset="-122"/>
                          <a:cs typeface="Calibri" pitchFamily="34" charset="-120"/>
                        </a:rPr>
                        <a:t>El cuello de botella de flujo más severo de la institución (P6). Se sube al estándar de 10 Gbps del resto de troncales WAN.</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57200">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HOS-0A-D05 — FORTIGATE-1800F-CENTRAL</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Hospitalidad depende de un único enlace inferido a MPLS y es punto de articulación (P1). Ruta alterna vía el firewall de Central.</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57200">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CCJ-CJURIDICO-D4 — DATCC-2A-C2</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Mismo patrón para el Consultorio Jurídico. Ruta alterna vía un core de Campus Central.</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57200">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ROUTER-CAMPUS-YANUNCAY — DATCC-2A-C3</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Yanuncay (11 equipos de acceso) depende de un único enlace troncal para salir del campus.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457200">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AUL2-0A-A121 — BAL-CENTEC-D2</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algn="l" indent="0" marL="0">
                        <a:buNone/>
                      </a:pPr>
                      <a:r>
                        <a:rPr lang="en-US" sz="1050" dirty="0">
                          <a:solidFill>
                            <a:srgbClr val="1B1F2A"/>
                          </a:solidFill>
                          <a:latin typeface="Calibri" pitchFamily="34" charset="0"/>
                          <a:ea typeface="Calibri" pitchFamily="34" charset="-122"/>
                          <a:cs typeface="Calibri" pitchFamily="34" charset="-120"/>
                        </a:rPr>
                        <a:t>Mitigación del equipo de mayor tráfico (81,71 Mbps) tras BAL-AUL2-D1, segundo puesto de P10.</a:t>
                      </a:r>
                      <a:endParaRPr lang="en-US" sz="1050" dirty="0">
                        <a:latin typeface="Calibri" charset="0"/>
                        <a:ea typeface="Calibri" charset="0"/>
                        <a:cs typeface="Calibri" charset="0"/>
                      </a:endParaRPr>
                    </a:p>
                  </a:txBody>
                  <a:tcPr marL="91440" marR="91440" marT="45720" marB="45720" anchor="t">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5" name="Shape 2"/>
          <p:cNvSpPr/>
          <p:nvPr/>
        </p:nvSpPr>
        <p:spPr>
          <a:xfrm>
            <a:off x="548640" y="4709160"/>
            <a:ext cx="11064240" cy="1371600"/>
          </a:xfrm>
          <a:prstGeom prst="roundRect">
            <a:avLst>
              <a:gd name="adj" fmla="val 5333"/>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6" name="Text 3"/>
          <p:cNvSpPr/>
          <p:nvPr/>
        </p:nvSpPr>
        <p:spPr>
          <a:xfrm>
            <a:off x="822960" y="4828032"/>
            <a:ext cx="10515600" cy="2743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Nota de modelado, declarada explícitamente</a:t>
            </a:r>
            <a:endParaRPr lang="en-US" sz="1500" dirty="0"/>
          </a:p>
        </p:txBody>
      </p:sp>
      <p:sp>
        <p:nvSpPr>
          <p:cNvPr id="7" name="Text 4"/>
          <p:cNvSpPr/>
          <p:nvPr/>
        </p:nvSpPr>
        <p:spPr>
          <a:xfrm>
            <a:off x="822960" y="5120640"/>
            <a:ext cx="10515600" cy="9144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«Duplicar» un enlace en un grafo simple NO crea una arista nueva: una segunda fibra entre el mismo par de equipos protege contra el corte de una fibra, pero no contra la falla del equipo. Por eso la intervención 1 se modela como aumento de CAPACIDAD — afecta al flujo, no al conteo de puentes ni de articulación — mientras que las otras cuatro son aristas topológicamente nuevas. Ocultar esa distinción habría inflado artificialmente la mejora reportada.</a:t>
            </a:r>
            <a:endParaRPr lang="en-US" sz="120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P11.2–P11.3 — CUANTIFICACIÓN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Antes / después, y por qué gana a las alternativas ingenuas</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77840" cy="914400"/>
        </p:xfrm>
        <a:graphic>
          <a:graphicData uri="http://schemas.openxmlformats.org/drawingml/2006/table">
            <a:tbl>
              <a:tblPr/>
              <a:tblGrid>
                <a:gridCol w="2286000"/>
                <a:gridCol w="1005840"/>
                <a:gridCol w="1097280"/>
                <a:gridCol w="118872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Métrica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Antes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Después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Variación</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Puentes</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−3  (−2,1 %)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Puntos de articulación</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  (−2,1 %)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Distancia media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−3,1 %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Eficiencia global</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Robustez (AUC percolación)</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0,0477</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0,0495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+3,7 %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29184">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Flujo máximo Paraíso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+900 %</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6400800" y="1600200"/>
          <a:ext cx="5212080" cy="914400"/>
        </p:xfrm>
        <a:graphic>
          <a:graphicData uri="http://schemas.openxmlformats.org/drawingml/2006/table">
            <a:tbl>
              <a:tblPr/>
              <a:tblGrid>
                <a:gridCol w="1572768"/>
                <a:gridCol w="786384"/>
                <a:gridCol w="969264"/>
                <a:gridCol w="969264"/>
                <a:gridCol w="91440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Propuesta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Puentes</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Dist. media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Eficiencia</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Flujo Paraíso</a:t>
                      </a:r>
                      <a:endParaRPr lang="en-US" sz="115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r>
              <a:tr h="347472">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Red base</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P11 (justificada)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Alt. A: mayor grado</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4,741</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0,2440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r h="347472">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Alt. B: aleatoria</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5,718</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0,2120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indent="0" marL="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marL="91440" marR="91440" marT="45720" marB="45720"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r>
            </a:tbl>
          </a:graphicData>
        </a:graphic>
      </p:graphicFrame>
      <p:sp>
        <p:nvSpPr>
          <p:cNvPr id="6" name="Shape 2"/>
          <p:cNvSpPr/>
          <p:nvPr/>
        </p:nvSpPr>
        <p:spPr>
          <a:xfrm>
            <a:off x="6400800" y="3584448"/>
            <a:ext cx="5212080" cy="2176272"/>
          </a:xfrm>
          <a:prstGeom prst="roundRect">
            <a:avLst>
              <a:gd name="adj" fmla="val 3361"/>
            </a:avLst>
          </a:prstGeom>
          <a:solidFill>
            <a:srgbClr val="FDECEE"/>
          </a:solidFill>
          <a:ln w="12700">
            <a:solidFill>
              <a:srgbClr val="FDECEE"/>
            </a:solidFill>
            <a:prstDash val="solid"/>
          </a:ln>
          <a:effectLst>
            <a:outerShdw sx="100000" sy="100000" kx="0" ky="0" algn="bl" rotWithShape="0" blurRad="76200" dist="508" dir="5400000">
              <a:srgbClr val="9AA3B0">
                <a:alpha val="25000"/>
              </a:srgbClr>
            </a:outerShdw>
          </a:effectLst>
        </p:spPr>
      </p:sp>
      <p:sp>
        <p:nvSpPr>
          <p:cNvPr id="7" name="Text 3"/>
          <p:cNvSpPr/>
          <p:nvPr/>
        </p:nvSpPr>
        <p:spPr>
          <a:xfrm>
            <a:off x="6629400" y="3694176"/>
            <a:ext cx="4754880" cy="320040"/>
          </a:xfrm>
          <a:prstGeom prst="rect">
            <a:avLst/>
          </a:prstGeom>
          <a:noFill/>
          <a:ln/>
        </p:spPr>
        <p:txBody>
          <a:bodyPr wrap="square" lIns="0" tIns="0" rIns="0" bIns="0" rtlCol="0" anchor="ctr"/>
          <a:lstStyle/>
          <a:p>
            <a:pPr indent="0" marL="0">
              <a:buNone/>
            </a:pPr>
            <a:r>
              <a:rPr lang="en-US" sz="1550" b="1" dirty="0">
                <a:solidFill>
                  <a:srgbClr val="A01A24"/>
                </a:solidFill>
                <a:latin typeface="Cambria" pitchFamily="34" charset="0"/>
                <a:ea typeface="Cambria" pitchFamily="34" charset="-122"/>
                <a:cs typeface="Cambria" pitchFamily="34" charset="-120"/>
              </a:rPr>
              <a:t>A primera vista las alternativas ganan… y no</a:t>
            </a:r>
            <a:endParaRPr lang="en-US" sz="1550" dirty="0"/>
          </a:p>
        </p:txBody>
      </p:sp>
      <p:sp>
        <p:nvSpPr>
          <p:cNvPr id="8" name="Text 4"/>
          <p:cNvSpPr/>
          <p:nvPr/>
        </p:nvSpPr>
        <p:spPr>
          <a:xfrm>
            <a:off x="6629400" y="4041648"/>
            <a:ext cx="4754880" cy="1645920"/>
          </a:xfrm>
          <a:prstGeom prst="rect">
            <a:avLst/>
          </a:prstGeom>
          <a:noFill/>
          <a:ln/>
        </p:spPr>
        <p:txBody>
          <a:bodyPr wrap="square" lIns="0" tIns="0" rIns="0" bIns="0" rtlCol="0" anchor="t"/>
          <a:lstStyle/>
          <a:p>
            <a:pPr indent="0" marL="0">
              <a:spcAft>
                <a:spcPts val="500"/>
              </a:spcAft>
              <a:buNone/>
            </a:pPr>
            <a:r>
              <a:rPr lang="en-US" sz="1150" dirty="0">
                <a:solidFill>
                  <a:srgbClr val="1B1F2A"/>
                </a:solidFill>
                <a:latin typeface="Calibri" pitchFamily="34" charset="0"/>
                <a:ea typeface="Calibri" pitchFamily="34" charset="-122"/>
                <a:cs typeface="Calibri" pitchFamily="34" charset="-120"/>
              </a:rPr>
              <a:t>«Mayor grado» conecta pares de core/agregación que YA tienen múltiples caminos entre sí: son atajos genéricos, mejoran las métricas promedio y no reparan ningún punto de articulación real. Su robustez AUC es idéntica a la de la red base.</a:t>
            </a:r>
            <a:endParaRPr lang="en-US" sz="1150" dirty="0"/>
          </a:p>
          <a:p>
            <a:pPr indent="0" marL="0">
              <a:spcAft>
                <a:spcPts val="500"/>
              </a:spcAft>
              <a:buNone/>
            </a:pPr>
            <a:r>
              <a:rPr lang="en-US" sz="1150" dirty="0">
                <a:solidFill>
                  <a:srgbClr val="1B1F2A"/>
                </a:solidFill>
                <a:latin typeface="Calibri" pitchFamily="34" charset="0"/>
                <a:ea typeface="Calibri" pitchFamily="34" charset="-122"/>
                <a:cs typeface="Calibri" pitchFamily="34" charset="-120"/>
              </a:rPr>
              <a:t>La aleatoria reduce más los puentes por pura estadística: con 5 aristas al azar entre 177 nodos es probable tocar algún puente. Mejora sin dirección: no se sabe qué se reparó.</a:t>
            </a:r>
            <a:endParaRPr lang="en-US" sz="1150" dirty="0"/>
          </a:p>
          <a:p>
            <a:pPr indent="0" marL="0">
              <a:spcAft>
                <a:spcPts val="500"/>
              </a:spcAft>
              <a:buNone/>
            </a:pPr>
            <a:r>
              <a:rPr lang="en-US" sz="1150" b="1" dirty="0">
                <a:solidFill>
                  <a:srgbClr val="1B1F2A"/>
                </a:solidFill>
                <a:latin typeface="Calibri" pitchFamily="34" charset="0"/>
                <a:ea typeface="Calibri" pitchFamily="34" charset="-122"/>
                <a:cs typeface="Calibri" pitchFamily="34" charset="-120"/>
              </a:rPr>
              <a:t>Ninguna de las dos resuelve Paraíso (2 000 vs. 10 000) y ninguna toca Hospitalidad.</a:t>
            </a:r>
            <a:endParaRPr lang="en-US" sz="1150" dirty="0"/>
          </a:p>
        </p:txBody>
      </p:sp>
      <p:sp>
        <p:nvSpPr>
          <p:cNvPr id="9" name="Shape 5"/>
          <p:cNvSpPr/>
          <p:nvPr/>
        </p:nvSpPr>
        <p:spPr>
          <a:xfrm>
            <a:off x="548640" y="3977640"/>
            <a:ext cx="5577840" cy="1783080"/>
          </a:xfrm>
          <a:prstGeom prst="roundRect">
            <a:avLst>
              <a:gd name="adj" fmla="val 4103"/>
            </a:avLst>
          </a:prstGeom>
          <a:solidFill>
            <a:srgbClr val="EDF1FB"/>
          </a:solidFill>
          <a:ln w="12700">
            <a:solidFill>
              <a:srgbClr val="EDF1FB"/>
            </a:solidFill>
            <a:prstDash val="solid"/>
          </a:ln>
          <a:effectLst>
            <a:outerShdw sx="100000" sy="100000" kx="0" ky="0" algn="bl" rotWithShape="0" blurRad="76200" dist="508" dir="5400000">
              <a:srgbClr val="9AA3B0">
                <a:alpha val="25000"/>
              </a:srgbClr>
            </a:outerShdw>
          </a:effectLst>
        </p:spPr>
      </p:sp>
      <p:sp>
        <p:nvSpPr>
          <p:cNvPr id="10" name="Text 6"/>
          <p:cNvSpPr/>
          <p:nvPr/>
        </p:nvSpPr>
        <p:spPr>
          <a:xfrm>
            <a:off x="777240" y="4096512"/>
            <a:ext cx="51206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Por qué el flujo de Hospitalidad no cambia</a:t>
            </a:r>
            <a:endParaRPr lang="en-US" sz="1350" dirty="0"/>
          </a:p>
        </p:txBody>
      </p:sp>
      <p:sp>
        <p:nvSpPr>
          <p:cNvPr id="11" name="Text 7"/>
          <p:cNvSpPr/>
          <p:nvPr/>
        </p:nvSpPr>
        <p:spPr>
          <a:xfrm>
            <a:off x="777240" y="4389120"/>
            <a:ext cx="5120640" cy="1234440"/>
          </a:xfrm>
          <a:prstGeom prst="rect">
            <a:avLst/>
          </a:prstGeom>
          <a:noFill/>
          <a:ln/>
        </p:spPr>
        <p:txBody>
          <a:bodyPr wrap="square" lIns="0" tIns="0" rIns="0" bIns="0" rtlCol="0" anchor="t"/>
          <a:lstStyle/>
          <a:p>
            <a:pPr indent="0" marL="0">
              <a:buNone/>
            </a:pPr>
            <a:r>
              <a:rPr lang="en-US" sz="1150" dirty="0">
                <a:solidFill>
                  <a:srgbClr val="1B1F2A"/>
                </a:solidFill>
                <a:latin typeface="Calibri" pitchFamily="34" charset="0"/>
                <a:ea typeface="Calibri" pitchFamily="34" charset="-122"/>
                <a:cs typeface="Calibri" pitchFamily="34" charset="-120"/>
              </a:rPr>
              <a:t>Su cuello de botella real no está en la salida del campus sino en la capa agregación–acceso interna (4 enlaces de 1 Gbps hacia HOS-0A-D05). La nueva ruta mejora la robustez topológica — que era el objetivo — sin tocar esa capacidad. Lo digo en vez de disimularlo.</a:t>
            </a:r>
            <a:endParaRPr lang="en-US" sz="1150" dirty="0"/>
          </a:p>
        </p:txBody>
      </p:sp>
      <p:sp>
        <p:nvSpPr>
          <p:cNvPr id="12" name="Text 8"/>
          <p:cNvSpPr/>
          <p:nvPr/>
        </p:nvSpPr>
        <p:spPr>
          <a:xfrm>
            <a:off x="548640" y="5897880"/>
            <a:ext cx="11064240" cy="320040"/>
          </a:xfrm>
          <a:prstGeom prst="rect">
            <a:avLst/>
          </a:prstGeom>
          <a:noFill/>
          <a:ln/>
        </p:spPr>
        <p:txBody>
          <a:bodyPr wrap="square" lIns="0" tIns="0" rIns="0" bIns="0" rtlCol="0" anchor="ctr"/>
          <a:lstStyle/>
          <a:p>
            <a:pPr algn="ctr" indent="0" marL="0">
              <a:buNone/>
            </a:pPr>
            <a:r>
              <a:rPr lang="en-US" sz="1500" b="1" dirty="0">
                <a:solidFill>
                  <a:srgbClr val="1E2761"/>
                </a:solidFill>
                <a:latin typeface="Cambria" pitchFamily="34" charset="0"/>
                <a:ea typeface="Cambria" pitchFamily="34" charset="-122"/>
                <a:cs typeface="Cambria" pitchFamily="34" charset="-120"/>
              </a:rPr>
              <a:t>Optimizar una métrica agregada no es lo mismo que reparar un modo de falla.</a:t>
            </a:r>
            <a:endParaRPr lang="en-US" sz="1500" dirty="0"/>
          </a:p>
        </p:txBody>
      </p:sp>
      <p:sp>
        <p:nvSpPr>
          <p:cNvPr id="14" name="Text 9"/>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0"/>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140" kern="0" dirty="0">
                <a:solidFill>
                  <a:srgbClr val="A01A24"/>
                </a:solidFill>
                <a:latin typeface="Calibri" pitchFamily="34" charset="0"/>
                <a:ea typeface="Calibri" pitchFamily="34" charset="-122"/>
                <a:cs typeface="Calibri" pitchFamily="34" charset="-120"/>
              </a:rPr>
              <a:t>CIERRE</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Seis conclusiones y cinco limitaciones</a:t>
            </a:r>
            <a:endParaRPr lang="en-US" sz="3000" dirty="0"/>
          </a:p>
        </p:txBody>
      </p:sp>
      <p:sp>
        <p:nvSpPr>
          <p:cNvPr id="4" name="Shape 2"/>
          <p:cNvSpPr/>
          <p:nvPr/>
        </p:nvSpPr>
        <p:spPr>
          <a:xfrm>
            <a:off x="548640" y="1554480"/>
            <a:ext cx="384048" cy="384048"/>
          </a:xfrm>
          <a:prstGeom prst="ellipse">
            <a:avLst/>
          </a:prstGeom>
          <a:solidFill>
            <a:srgbClr val="1E2761"/>
          </a:solidFill>
          <a:ln w="12700">
            <a:solidFill>
              <a:srgbClr val="1E2761"/>
            </a:solidFill>
            <a:prstDash val="solid"/>
          </a:ln>
        </p:spPr>
      </p:sp>
      <p:sp>
        <p:nvSpPr>
          <p:cNvPr id="5" name="Text 3"/>
          <p:cNvSpPr/>
          <p:nvPr/>
        </p:nvSpPr>
        <p:spPr>
          <a:xfrm>
            <a:off x="548640" y="1554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78992" y="153619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Jerarquía dispersa por diseño</a:t>
            </a:r>
            <a:endParaRPr lang="en-US" sz="1400" dirty="0"/>
          </a:p>
        </p:txBody>
      </p:sp>
      <p:sp>
        <p:nvSpPr>
          <p:cNvPr id="7" name="Text 5"/>
          <p:cNvSpPr/>
          <p:nvPr/>
        </p:nvSpPr>
        <p:spPr>
          <a:xfrm>
            <a:off x="1078992" y="181051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Clustering casi nulo y asortatividad negativa se explican por heterogeneidad de grado y diseño, no por patrones sociales.</a:t>
            </a:r>
            <a:endParaRPr lang="en-US" sz="1200" dirty="0"/>
          </a:p>
        </p:txBody>
      </p:sp>
      <p:sp>
        <p:nvSpPr>
          <p:cNvPr id="8" name="Shape 6"/>
          <p:cNvSpPr/>
          <p:nvPr/>
        </p:nvSpPr>
        <p:spPr>
          <a:xfrm>
            <a:off x="6217920" y="1554480"/>
            <a:ext cx="384048" cy="384048"/>
          </a:xfrm>
          <a:prstGeom prst="ellipse">
            <a:avLst/>
          </a:prstGeom>
          <a:solidFill>
            <a:srgbClr val="1E2761"/>
          </a:solidFill>
          <a:ln w="12700">
            <a:solidFill>
              <a:srgbClr val="1E2761"/>
            </a:solidFill>
            <a:prstDash val="solid"/>
          </a:ln>
        </p:spPr>
      </p:sp>
      <p:sp>
        <p:nvSpPr>
          <p:cNvPr id="9" name="Text 7"/>
          <p:cNvSpPr/>
          <p:nvPr/>
        </p:nvSpPr>
        <p:spPr>
          <a:xfrm>
            <a:off x="6217920" y="1554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6748272" y="153619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Puntos críticos identificados</a:t>
            </a:r>
            <a:endParaRPr lang="en-US" sz="1400" dirty="0"/>
          </a:p>
        </p:txBody>
      </p:sp>
      <p:sp>
        <p:nvSpPr>
          <p:cNvPr id="11" name="Text 9"/>
          <p:cNvSpPr/>
          <p:nvPr/>
        </p:nvSpPr>
        <p:spPr>
          <a:xfrm>
            <a:off x="6748272" y="181051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INTERNET-MPLS, el par CPAR-C10 + ROUTER-HUAYNA-CAPAC, DATCC-2A-C3 y BAL-AUL2-D1: cuatro caminos analíticos convergen.</a:t>
            </a:r>
            <a:endParaRPr lang="en-US" sz="1200" dirty="0"/>
          </a:p>
        </p:txBody>
      </p:sp>
      <p:sp>
        <p:nvSpPr>
          <p:cNvPr id="12" name="Shape 10"/>
          <p:cNvSpPr/>
          <p:nvPr/>
        </p:nvSpPr>
        <p:spPr>
          <a:xfrm>
            <a:off x="548640" y="2606040"/>
            <a:ext cx="384048" cy="384048"/>
          </a:xfrm>
          <a:prstGeom prst="ellipse">
            <a:avLst/>
          </a:prstGeom>
          <a:solidFill>
            <a:srgbClr val="1E2761"/>
          </a:solidFill>
          <a:ln w="12700">
            <a:solidFill>
              <a:srgbClr val="1E2761"/>
            </a:solidFill>
            <a:prstDash val="solid"/>
          </a:ln>
        </p:spPr>
      </p:sp>
      <p:sp>
        <p:nvSpPr>
          <p:cNvPr id="13" name="Text 11"/>
          <p:cNvSpPr/>
          <p:nvPr/>
        </p:nvSpPr>
        <p:spPr>
          <a:xfrm>
            <a:off x="548640" y="26060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078992" y="258775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Falla grave y asimétrica</a:t>
            </a:r>
            <a:endParaRPr lang="en-US" sz="1400" dirty="0"/>
          </a:p>
        </p:txBody>
      </p:sp>
      <p:sp>
        <p:nvSpPr>
          <p:cNvPr id="15" name="Text 13"/>
          <p:cNvSpPr/>
          <p:nvPr/>
        </p:nvSpPr>
        <p:spPr>
          <a:xfrm>
            <a:off x="1078992" y="286207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f_c pasa de 0,243 (azar) a 0,023 (ataque). La eficiencia se degrada aún antes que la conectividad.</a:t>
            </a:r>
            <a:endParaRPr lang="en-US" sz="1200" dirty="0"/>
          </a:p>
        </p:txBody>
      </p:sp>
      <p:sp>
        <p:nvSpPr>
          <p:cNvPr id="16" name="Shape 14"/>
          <p:cNvSpPr/>
          <p:nvPr/>
        </p:nvSpPr>
        <p:spPr>
          <a:xfrm>
            <a:off x="6217920" y="2606040"/>
            <a:ext cx="384048" cy="384048"/>
          </a:xfrm>
          <a:prstGeom prst="ellipse">
            <a:avLst/>
          </a:prstGeom>
          <a:solidFill>
            <a:srgbClr val="1E2761"/>
          </a:solidFill>
          <a:ln w="12700">
            <a:solidFill>
              <a:srgbClr val="1E2761"/>
            </a:solidFill>
            <a:prstDash val="solid"/>
          </a:ln>
        </p:spPr>
      </p:sp>
      <p:sp>
        <p:nvSpPr>
          <p:cNvPr id="17" name="Text 15"/>
          <p:cNvSpPr/>
          <p:nvPr/>
        </p:nvSpPr>
        <p:spPr>
          <a:xfrm>
            <a:off x="6217920" y="26060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748272" y="258775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Fragilidad de conectividad</a:t>
            </a:r>
            <a:endParaRPr lang="en-US" sz="1400" dirty="0"/>
          </a:p>
        </p:txBody>
      </p:sp>
      <p:sp>
        <p:nvSpPr>
          <p:cNvPr id="19" name="Text 17"/>
          <p:cNvSpPr/>
          <p:nvPr/>
        </p:nvSpPr>
        <p:spPr>
          <a:xfrm>
            <a:off x="6748272" y="286207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Ningún nodo desencadena una cascada &gt; 8,5 %: hace falta redundancia topológica, no capacidad preventiva.</a:t>
            </a:r>
            <a:endParaRPr lang="en-US" sz="1200" dirty="0"/>
          </a:p>
        </p:txBody>
      </p:sp>
      <p:sp>
        <p:nvSpPr>
          <p:cNvPr id="20" name="Shape 18"/>
          <p:cNvSpPr/>
          <p:nvPr/>
        </p:nvSpPr>
        <p:spPr>
          <a:xfrm>
            <a:off x="548640" y="3657600"/>
            <a:ext cx="384048" cy="384048"/>
          </a:xfrm>
          <a:prstGeom prst="ellipse">
            <a:avLst/>
          </a:prstGeom>
          <a:solidFill>
            <a:srgbClr val="1E2761"/>
          </a:solidFill>
          <a:ln w="12700">
            <a:solidFill>
              <a:srgbClr val="1E2761"/>
            </a:solidFill>
            <a:prstDash val="solid"/>
          </a:ln>
        </p:spPr>
      </p:sp>
      <p:sp>
        <p:nvSpPr>
          <p:cNvPr id="21" name="Text 19"/>
          <p:cNvSpPr/>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078992" y="363931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El informe sobreestima Paraíso</a:t>
            </a:r>
            <a:endParaRPr lang="en-US" sz="1400" dirty="0"/>
          </a:p>
        </p:txBody>
      </p:sp>
      <p:sp>
        <p:nvSpPr>
          <p:cNvPr id="23" name="Text 21"/>
          <p:cNvSpPr/>
          <p:nvPr/>
        </p:nvSpPr>
        <p:spPr>
          <a:xfrm>
            <a:off x="1078992" y="391363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 único core, un único enlace de salida, 1 000 Mbps para 35 equipos de acceso.</a:t>
            </a:r>
            <a:endParaRPr lang="en-US" sz="1200" dirty="0"/>
          </a:p>
        </p:txBody>
      </p:sp>
      <p:sp>
        <p:nvSpPr>
          <p:cNvPr id="24" name="Shape 22"/>
          <p:cNvSpPr/>
          <p:nvPr/>
        </p:nvSpPr>
        <p:spPr>
          <a:xfrm>
            <a:off x="6217920" y="3657600"/>
            <a:ext cx="384048" cy="384048"/>
          </a:xfrm>
          <a:prstGeom prst="ellipse">
            <a:avLst/>
          </a:prstGeom>
          <a:solidFill>
            <a:srgbClr val="1E2761"/>
          </a:solidFill>
          <a:ln w="12700">
            <a:solidFill>
              <a:srgbClr val="1E2761"/>
            </a:solidFill>
            <a:prstDash val="solid"/>
          </a:ln>
        </p:spPr>
      </p:sp>
      <p:sp>
        <p:nvSpPr>
          <p:cNvPr id="25" name="Text 23"/>
          <p:cNvSpPr/>
          <p:nvPr/>
        </p:nvSpPr>
        <p:spPr>
          <a:xfrm>
            <a:off x="6217920" y="3657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748272" y="3639312"/>
            <a:ext cx="4864608"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Cinco enlaces bastan para mover la aguja</a:t>
            </a:r>
            <a:endParaRPr lang="en-US" sz="1400" dirty="0"/>
          </a:p>
        </p:txBody>
      </p:sp>
      <p:sp>
        <p:nvSpPr>
          <p:cNvPr id="27" name="Text 25"/>
          <p:cNvSpPr/>
          <p:nvPr/>
        </p:nvSpPr>
        <p:spPr>
          <a:xfrm>
            <a:off x="6748272" y="3913632"/>
            <a:ext cx="4864608" cy="68580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+900 % de flujo en Paraíso, −2,1 % de puentes, +3,5 % de eficiencia — superando a dos alternativas ingenuas.</a:t>
            </a:r>
            <a:endParaRPr lang="en-US" sz="1200" dirty="0"/>
          </a:p>
        </p:txBody>
      </p:sp>
      <p:sp>
        <p:nvSpPr>
          <p:cNvPr id="28" name="Shape 26"/>
          <p:cNvSpPr/>
          <p:nvPr/>
        </p:nvSpPr>
        <p:spPr>
          <a:xfrm>
            <a:off x="548640" y="4846320"/>
            <a:ext cx="11064240" cy="1325880"/>
          </a:xfrm>
          <a:prstGeom prst="roundRect">
            <a:avLst>
              <a:gd name="adj" fmla="val 5517"/>
            </a:avLst>
          </a:prstGeom>
          <a:solidFill>
            <a:srgbClr val="F4F6FA"/>
          </a:solidFill>
          <a:ln w="12700">
            <a:solidFill>
              <a:srgbClr val="F4F6FA"/>
            </a:solidFill>
            <a:prstDash val="solid"/>
          </a:ln>
          <a:effectLst>
            <a:outerShdw sx="100000" sy="100000" kx="0" ky="0" algn="bl" rotWithShape="0" blurRad="76200" dist="508" dir="5400000">
              <a:srgbClr val="9AA3B0">
                <a:alpha val="25000"/>
              </a:srgbClr>
            </a:outerShdw>
          </a:effectLst>
        </p:spPr>
      </p:sp>
      <p:sp>
        <p:nvSpPr>
          <p:cNvPr id="29" name="Text 27"/>
          <p:cNvSpPr/>
          <p:nvPr/>
        </p:nvSpPr>
        <p:spPr>
          <a:xfrm>
            <a:off x="822960" y="4956048"/>
            <a:ext cx="10515600" cy="27432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Limitaciones que este análisis reconoce</a:t>
            </a:r>
            <a:endParaRPr lang="en-US" sz="1500" dirty="0"/>
          </a:p>
        </p:txBody>
      </p:sp>
      <p:sp>
        <p:nvSpPr>
          <p:cNvPr id="30" name="Text 28"/>
          <p:cNvSpPr/>
          <p:nvPr/>
        </p:nvSpPr>
        <p:spPr>
          <a:xfrm>
            <a:off x="822960" y="5257800"/>
            <a:ext cx="10515600" cy="77724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181 de 209 capacidades son estimadas (y el propio análisis detectó un caso donde la regla falla)  ·  el modelo no incorpora energía, rack ni licenciamiento  ·  la red se trata como estática, sin series de tiempo  ·  percolación, cascada y SIR son promedios: una falla concreta puede diferir  ·  no puede concluirse el retorno económico de ninguna intervención, solo su impacto estructural.</a:t>
            </a:r>
            <a:endParaRPr lang="en-US" sz="1200" dirty="0"/>
          </a:p>
        </p:txBody>
      </p:sp>
      <p:sp>
        <p:nvSpPr>
          <p:cNvPr id="32" name="Text 29"/>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3" name="Text 30"/>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657600"/>
            <a:ext cx="5486400" cy="548640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9509760" y="-1280160"/>
            <a:ext cx="4206240" cy="4206240"/>
          </a:xfrm>
          <a:prstGeom prst="ellipse">
            <a:avLst/>
          </a:prstGeom>
          <a:solidFill>
            <a:srgbClr val="A01A24">
              <a:alpha val="32000"/>
            </a:srgbClr>
          </a:solidFill>
          <a:ln w="12700">
            <a:solidFill>
              <a:srgbClr val="A01A24">
                <a:alpha val="0"/>
              </a:srgbClr>
            </a:solidFill>
            <a:prstDash val="solid"/>
          </a:ln>
        </p:spPr>
      </p:sp>
      <p:sp>
        <p:nvSpPr>
          <p:cNvPr id="4" name="Text 2"/>
          <p:cNvSpPr/>
          <p:nvPr/>
        </p:nvSpPr>
        <p:spPr>
          <a:xfrm>
            <a:off x="548640" y="1051560"/>
            <a:ext cx="11064240" cy="320040"/>
          </a:xfrm>
          <a:prstGeom prst="rect">
            <a:avLst/>
          </a:prstGeom>
          <a:noFill/>
          <a:ln/>
        </p:spPr>
        <p:txBody>
          <a:bodyPr wrap="square" lIns="0" tIns="0" rIns="0" bIns="0" rtlCol="0" anchor="ctr"/>
          <a:lstStyle/>
          <a:p>
            <a:pPr indent="0" marL="0">
              <a:buNone/>
            </a:pPr>
            <a:r>
              <a:rPr lang="en-US" sz="1200" b="1" spc="160" kern="0" dirty="0">
                <a:solidFill>
                  <a:srgbClr val="CADCFC"/>
                </a:solidFill>
                <a:latin typeface="Calibri" pitchFamily="34" charset="0"/>
                <a:ea typeface="Calibri" pitchFamily="34" charset="-122"/>
                <a:cs typeface="Calibri" pitchFamily="34" charset="-120"/>
              </a:rPr>
              <a:t>LA PREGUNTA DE CIERRE DEL ENUNCIADO</a:t>
            </a:r>
            <a:endParaRPr lang="en-US" sz="1200" dirty="0"/>
          </a:p>
        </p:txBody>
      </p:sp>
      <p:sp>
        <p:nvSpPr>
          <p:cNvPr id="5" name="Text 3"/>
          <p:cNvSpPr/>
          <p:nvPr/>
        </p:nvSpPr>
        <p:spPr>
          <a:xfrm>
            <a:off x="548640" y="1463040"/>
            <a:ext cx="10058400" cy="1005840"/>
          </a:xfrm>
          <a:prstGeom prst="rect">
            <a:avLst/>
          </a:prstGeom>
          <a:noFill/>
          <a:ln/>
        </p:spPr>
        <p:txBody>
          <a:bodyPr wrap="square" lIns="0" tIns="0" rIns="0" bIns="0" rtlCol="0" anchor="ctr"/>
          <a:lstStyle/>
          <a:p>
            <a:pPr indent="0" marL="0">
              <a:buNone/>
            </a:pPr>
            <a:r>
              <a:rPr lang="en-US" sz="2400" i="1" dirty="0">
                <a:solidFill>
                  <a:srgbClr val="FFFFFF"/>
                </a:solidFill>
                <a:latin typeface="Cambria" pitchFamily="34" charset="0"/>
                <a:ea typeface="Cambria" pitchFamily="34" charset="-122"/>
                <a:cs typeface="Cambria" pitchFamily="34" charset="-120"/>
              </a:rPr>
              <a:t>«Si usted fuera el administrador de esta red y tuviera</a:t>
            </a:r>
            <a:endParaRPr lang="en-US" sz="2400" dirty="0"/>
          </a:p>
          <a:p>
            <a:pPr indent="0" marL="0">
              <a:buNone/>
            </a:pPr>
            <a:r>
              <a:rPr lang="en-US" sz="2400" i="1" dirty="0">
                <a:solidFill>
                  <a:srgbClr val="FFFFFF"/>
                </a:solidFill>
                <a:latin typeface="Cambria" pitchFamily="34" charset="0"/>
                <a:ea typeface="Cambria" pitchFamily="34" charset="-122"/>
                <a:cs typeface="Cambria" pitchFamily="34" charset="-120"/>
              </a:rPr>
              <a:t>presupuesto para cinco enlaces, ¿cuáles construiría y por qué?»</a:t>
            </a:r>
            <a:endParaRPr lang="en-US" sz="2400" dirty="0"/>
          </a:p>
        </p:txBody>
      </p:sp>
      <p:sp>
        <p:nvSpPr>
          <p:cNvPr id="6" name="Shape 4"/>
          <p:cNvSpPr/>
          <p:nvPr/>
        </p:nvSpPr>
        <p:spPr>
          <a:xfrm>
            <a:off x="548640" y="2743200"/>
            <a:ext cx="11064240" cy="1691640"/>
          </a:xfrm>
          <a:prstGeom prst="roundRect">
            <a:avLst>
              <a:gd name="adj" fmla="val 4324"/>
            </a:avLst>
          </a:prstGeom>
          <a:solidFill>
            <a:srgbClr val="2A3A7A"/>
          </a:solidFill>
          <a:ln w="12700">
            <a:solidFill>
              <a:srgbClr val="2A3A7A"/>
            </a:solidFill>
            <a:prstDash val="solid"/>
          </a:ln>
          <a:effectLst>
            <a:outerShdw sx="100000" sy="100000" kx="0" ky="0" algn="bl" rotWithShape="0" blurRad="76200" dist="508" dir="5400000">
              <a:srgbClr val="9AA3B0">
                <a:alpha val="25000"/>
              </a:srgbClr>
            </a:outerShdw>
          </a:effectLst>
        </p:spPr>
      </p:sp>
      <p:sp>
        <p:nvSpPr>
          <p:cNvPr id="7" name="Text 5"/>
          <p:cNvSpPr/>
          <p:nvPr/>
        </p:nvSpPr>
        <p:spPr>
          <a:xfrm>
            <a:off x="868680" y="2926080"/>
            <a:ext cx="1042416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Los cinco de la propuesta — y empezaría por Campus Paraíso.</a:t>
            </a:r>
            <a:endParaRPr lang="en-US" sz="2600" dirty="0"/>
          </a:p>
        </p:txBody>
      </p:sp>
      <p:sp>
        <p:nvSpPr>
          <p:cNvPr id="8" name="Text 6"/>
          <p:cNvSpPr/>
          <p:nvPr/>
        </p:nvSpPr>
        <p:spPr>
          <a:xfrm>
            <a:off x="868680" y="3474720"/>
            <a:ext cx="10424160" cy="86868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Duplicar CPAR-C10 — ROUTER-CAMPUS-HUAYNA-CAPAC a 10 Gbps es, a la vez, la intervención más barata (cambio de óptica sobre fibra ya tendida), la de mayor impacto medido (+900 % de flujo) y la que corrige una discrepancia documentada entre lo que el informe técnico afirma y lo que los datos muestran.</a:t>
            </a:r>
            <a:endParaRPr lang="en-US" sz="1400" dirty="0"/>
          </a:p>
        </p:txBody>
      </p:sp>
      <p:sp>
        <p:nvSpPr>
          <p:cNvPr id="9" name="Text 7"/>
          <p:cNvSpPr/>
          <p:nvPr/>
        </p:nvSpPr>
        <p:spPr>
          <a:xfrm>
            <a:off x="548640" y="4846320"/>
            <a:ext cx="11064240" cy="118872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Gracias.  Preguntas.</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Efrain Adolfo Alvarado Plasencia  ·  efrain.alvarado@ucuenca.edu.ec</a:t>
            </a:r>
            <a:endParaRPr lang="en-US" sz="2200" dirty="0"/>
          </a:p>
          <a:p>
            <a:pPr indent="0" marL="0">
              <a:buNone/>
            </a:pPr>
            <a:r>
              <a:rPr lang="en-US" sz="1300" dirty="0">
                <a:solidFill>
                  <a:srgbClr val="9FB2E8"/>
                </a:solidFill>
                <a:latin typeface="Calibri" pitchFamily="34" charset="0"/>
                <a:ea typeface="Calibri" pitchFamily="34" charset="-122"/>
                <a:cs typeface="Calibri" pitchFamily="34" charset="-120"/>
              </a:rPr>
              <a:t>Repositorio reproducible: github.com/chino111160/redes-complejas-ucuenca</a:t>
            </a:r>
            <a:endParaRPr lang="en-US" sz="2200" dirty="0"/>
          </a:p>
        </p:txBody>
      </p:sp>
      <p:sp>
        <p:nvSpPr>
          <p:cNvPr id="11" name="Text 8"/>
          <p:cNvSpPr/>
          <p:nvPr/>
        </p:nvSpPr>
        <p:spPr>
          <a:xfrm>
            <a:off x="548640" y="6446520"/>
            <a:ext cx="5943600" cy="256032"/>
          </a:xfrm>
          <a:prstGeom prst="rect">
            <a:avLst/>
          </a:prstGeom>
          <a:noFill/>
          <a:ln/>
        </p:spPr>
        <p:txBody>
          <a:bodyPr wrap="square" lIns="0" tIns="0" rIns="0" bIns="0" rtlCol="0" anchor="ctr"/>
          <a:lstStyle/>
          <a:p>
            <a:pPr indent="0" marL="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9"/>
          <p:cNvSpPr/>
          <p:nvPr/>
        </p:nvSpPr>
        <p:spPr>
          <a:xfrm>
            <a:off x="11064240" y="6446520"/>
            <a:ext cx="548640" cy="256032"/>
          </a:xfrm>
          <a:prstGeom prst="rect">
            <a:avLst/>
          </a:prstGeom>
          <a:noFill/>
          <a:ln/>
        </p:spPr>
        <p:txBody>
          <a:bodyPr wrap="square" lIns="0" tIns="0" rIns="0" bIns="0" rtlCol="0" anchor="ctr"/>
          <a:lstStyle/>
          <a:p>
            <a:pPr algn="r" indent="0" marL="0">
              <a:buNone/>
            </a:pPr>
            <a:r>
              <a:rPr lang="en-US" sz="900" dirty="0">
                <a:solidFill>
                  <a:srgbClr val="9AA3B0"/>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de Redes Complejas - Red de datos UCuenca</dc:title>
  <dc:subject>PptxGenJS Presentation</dc:subject>
  <dc:creator>Efrain Adolfo Alvarado Plasencia</dc:creator>
  <cp:lastModifiedBy>Efrain Adolfo Alvarado Plasencia</cp:lastModifiedBy>
  <cp:revision>1</cp:revision>
  <dcterms:created xsi:type="dcterms:W3CDTF">2026-08-18T19:25:19Z</dcterms:created>
  <dcterms:modified xsi:type="dcterms:W3CDTF">2026-08-18T19:25:19Z</dcterms:modified>
</cp:coreProperties>
</file>