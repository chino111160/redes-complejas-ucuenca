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9" r:id="rId5"/>
    <p:sldId id="261" r:id="rId7"/>
    <p:sldId id="263" r:id="rId9"/>
    <p:sldId id="264" r:id="rId10"/>
    <p:sldId id="265" r:id="rId11"/>
    <p:sldId id="266" r:id="rId12"/>
    <p:sldId id="269" r:id="rId15"/>
    <p:sldId id="270" r:id="rId16"/>
    <p:sldId id="272" r:id="rId18"/>
    <p:sldId id="273" r:id="rId19"/>
    <p:sldId id="274" r:id="rId20"/>
    <p:sldId id="277" r:id="rId23"/>
    <p:sldId id="278" r:id="rId24"/>
    <p:sldId id="279" r:id="rId25"/>
    <p:sldId id="280" r:id="rId26"/>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2" d="100"/>
          <a:sy n="92" d="100"/>
        </p:scale>
        <p:origin x="53"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Flujo máximo (Mbps)</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A31C-4F7F-83D5-DE02ABA739E2}"/>
              </c:ext>
            </c:extLst>
          </c:dPt>
          <c:dPt>
            <c:idx val="1"/>
            <c:invertIfNegative val="0"/>
            <c:bubble3D val="0"/>
            <c:extLst>
              <c:ext xmlns:c16="http://schemas.microsoft.com/office/drawing/2014/chart" uri="{C3380CC4-5D6E-409C-BE32-E72D297353CC}">
                <c16:uniqueId val="{00000003-A31C-4F7F-83D5-DE02ABA739E2}"/>
              </c:ext>
            </c:extLst>
          </c:dPt>
          <c:dPt>
            <c:idx val="2"/>
            <c:invertIfNegative val="0"/>
            <c:bubble3D val="0"/>
            <c:extLst>
              <c:ext xmlns:c16="http://schemas.microsoft.com/office/drawing/2014/chart" uri="{C3380CC4-5D6E-409C-BE32-E72D297353CC}">
                <c16:uniqueId val="{00000005-A31C-4F7F-83D5-DE02ABA739E2}"/>
              </c:ext>
            </c:extLst>
          </c:dPt>
          <c:dPt>
            <c:idx val="3"/>
            <c:invertIfNegative val="0"/>
            <c:bubble3D val="0"/>
            <c:extLst>
              <c:ext xmlns:c16="http://schemas.microsoft.com/office/drawing/2014/chart" uri="{C3380CC4-5D6E-409C-BE32-E72D297353CC}">
                <c16:uniqueId val="{00000007-A31C-4F7F-83D5-DE02ABA739E2}"/>
              </c:ext>
            </c:extLst>
          </c:dPt>
          <c:dPt>
            <c:idx val="4"/>
            <c:invertIfNegative val="0"/>
            <c:bubble3D val="0"/>
            <c:extLst>
              <c:ext xmlns:c16="http://schemas.microsoft.com/office/drawing/2014/chart" uri="{C3380CC4-5D6E-409C-BE32-E72D297353CC}">
                <c16:uniqueId val="{00000009-A31C-4F7F-83D5-DE02ABA739E2}"/>
              </c:ext>
            </c:extLst>
          </c:dPt>
          <c:dPt>
            <c:idx val="5"/>
            <c:invertIfNegative val="0"/>
            <c:bubble3D val="0"/>
            <c:extLst>
              <c:ext xmlns:c16="http://schemas.microsoft.com/office/drawing/2014/chart" uri="{C3380CC4-5D6E-409C-BE32-E72D297353CC}">
                <c16:uniqueId val="{0000000B-A31C-4F7F-83D5-DE02ABA739E2}"/>
              </c:ext>
            </c:extLst>
          </c:dPt>
          <c:dPt>
            <c:idx val="6"/>
            <c:invertIfNegative val="0"/>
            <c:bubble3D val="0"/>
            <c:spPr>
              <a:solidFill>
                <a:srgbClr val="A01A24"/>
              </a:solidFill>
              <a:effectLst/>
            </c:spPr>
            <c:extLst>
              <c:ext xmlns:c16="http://schemas.microsoft.com/office/drawing/2014/chart" uri="{C3380CC4-5D6E-409C-BE32-E72D297353CC}">
                <c16:uniqueId val="{0000000D-A31C-4F7F-83D5-DE02ABA739E2}"/>
              </c:ext>
            </c:extLst>
          </c:dPt>
          <c:dLbls>
            <c:numFmt formatCode="#,##0" sourceLinked="0"/>
            <c:spPr>
              <a:noFill/>
              <a:ln>
                <a:noFill/>
              </a:ln>
              <a:effectLst/>
            </c:spPr>
            <c:txPr>
              <a:bodyPr/>
              <a:lstStyle/>
              <a:p>
                <a:pPr>
                  <a:defRPr sz="1100" b="0" i="0" u="none" strike="noStrike">
                    <a:solidFill>
                      <a:srgbClr val="1B1F2A"/>
                    </a:solidFill>
                    <a:latin typeface="Calibri"/>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Central
(56 acc.)</c:v>
                </c:pt>
                <c:pt idx="1">
                  <c:v>Balzay
(24 acc.)</c:v>
                </c:pt>
                <c:pt idx="2">
                  <c:v>Museo
(1)</c:v>
                </c:pt>
                <c:pt idx="3">
                  <c:v>C. Histórico
(1)</c:v>
                </c:pt>
                <c:pt idx="4">
                  <c:v>Yanuncay
(11 acc.)</c:v>
                </c:pt>
                <c:pt idx="5">
                  <c:v>Hospitalidad
(4 acc.)</c:v>
                </c:pt>
                <c:pt idx="6">
                  <c:v>PARAÍSO
(35 acc.)</c:v>
                </c:pt>
              </c:strCache>
            </c:strRef>
          </c:cat>
          <c:val>
            <c:numRef>
              <c:f>Sheet1!$B$2:$B$8</c:f>
              <c:numCache>
                <c:formatCode>General</c:formatCode>
                <c:ptCount val="7"/>
                <c:pt idx="0">
                  <c:v>44000</c:v>
                </c:pt>
                <c:pt idx="1">
                  <c:v>23000</c:v>
                </c:pt>
                <c:pt idx="2">
                  <c:v>11000</c:v>
                </c:pt>
                <c:pt idx="3">
                  <c:v>11000</c:v>
                </c:pt>
                <c:pt idx="4">
                  <c:v>10000</c:v>
                </c:pt>
                <c:pt idx="5">
                  <c:v>4000</c:v>
                </c:pt>
                <c:pt idx="6">
                  <c:v>1000</c:v>
                </c:pt>
              </c:numCache>
            </c:numRef>
          </c:val>
          <c:extLst>
            <c:ext xmlns:c16="http://schemas.microsoft.com/office/drawing/2014/chart" uri="{C3380CC4-5D6E-409C-BE32-E72D297353CC}">
              <c16:uniqueId val="{0000000E-A31C-4F7F-83D5-DE02ABA739E2}"/>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Calibri"/>
              </a:defRPr>
            </a:pPr>
            <a:endParaRPr lang="es-EC"/>
          </a:p>
        </c:txPr>
        <c:crossAx val="2094734552"/>
        <c:crosses val="autoZero"/>
        <c:auto val="1"/>
        <c:lblAlgn val="ctr"/>
        <c:lblOffset val="100"/>
        <c:noMultiLvlLbl val="1"/>
      </c:catAx>
      <c:valAx>
        <c:axId val="2094734552"/>
        <c:scaling>
          <c:orientation val="minMax"/>
          <c:max val="5000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Tamaño final del brote (%)</c:v>
                </c:pt>
              </c:strCache>
            </c:strRef>
          </c:tx>
          <c:spPr>
            <a:solidFill>
              <a:srgbClr val="5B6472"/>
            </a:solidFill>
            <a:effectLst/>
          </c:spPr>
          <c:invertIfNegative val="0"/>
          <c:dPt>
            <c:idx val="0"/>
            <c:invertIfNegative val="0"/>
            <c:bubble3D val="0"/>
            <c:extLst>
              <c:ext xmlns:c16="http://schemas.microsoft.com/office/drawing/2014/chart" uri="{C3380CC4-5D6E-409C-BE32-E72D297353CC}">
                <c16:uniqueId val="{00000001-573A-4776-A476-DDE41C75A47F}"/>
              </c:ext>
            </c:extLst>
          </c:dPt>
          <c:dPt>
            <c:idx val="1"/>
            <c:invertIfNegative val="0"/>
            <c:bubble3D val="0"/>
            <c:spPr>
              <a:solidFill>
                <a:srgbClr val="8794AB"/>
              </a:solidFill>
              <a:effectLst/>
            </c:spPr>
            <c:extLst>
              <c:ext xmlns:c16="http://schemas.microsoft.com/office/drawing/2014/chart" uri="{C3380CC4-5D6E-409C-BE32-E72D297353CC}">
                <c16:uniqueId val="{00000003-573A-4776-A476-DDE41C75A47F}"/>
              </c:ext>
            </c:extLst>
          </c:dPt>
          <c:dPt>
            <c:idx val="2"/>
            <c:invertIfNegative val="0"/>
            <c:bubble3D val="0"/>
            <c:spPr>
              <a:solidFill>
                <a:srgbClr val="A01A24"/>
              </a:solidFill>
              <a:effectLst/>
            </c:spPr>
            <c:extLst>
              <c:ext xmlns:c16="http://schemas.microsoft.com/office/drawing/2014/chart" uri="{C3380CC4-5D6E-409C-BE32-E72D297353CC}">
                <c16:uniqueId val="{00000005-573A-4776-A476-DDE41C75A47F}"/>
              </c:ext>
            </c:extLst>
          </c:dPt>
          <c:dLbls>
            <c:numFmt formatCode="0.0&quot;%&quot;" sourceLinked="0"/>
            <c:spPr>
              <a:noFill/>
              <a:ln>
                <a:noFill/>
              </a:ln>
              <a:effectLst/>
            </c:spPr>
            <c:txPr>
              <a:bodyPr/>
              <a:lstStyle/>
              <a:p>
                <a:pPr>
                  <a:defRPr sz="1100" b="0" i="0" u="none" strike="noStrike">
                    <a:solidFill>
                      <a:srgbClr val="1B1F2A"/>
                    </a:solidFill>
                    <a:latin typeface="Calibri"/>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Sin inmunizar</c:v>
                </c:pt>
                <c:pt idx="1">
                  <c:v>Aleatoria (11)</c:v>
                </c:pt>
                <c:pt idx="2">
                  <c:v>Por centralidad (11)</c:v>
                </c:pt>
              </c:strCache>
            </c:strRef>
          </c:cat>
          <c:val>
            <c:numRef>
              <c:f>Sheet1!$B$2:$B$4</c:f>
              <c:numCache>
                <c:formatCode>General</c:formatCode>
                <c:ptCount val="3"/>
                <c:pt idx="0">
                  <c:v>40.5</c:v>
                </c:pt>
                <c:pt idx="1">
                  <c:v>36.1</c:v>
                </c:pt>
                <c:pt idx="2">
                  <c:v>9.1999999999999993</c:v>
                </c:pt>
              </c:numCache>
            </c:numRef>
          </c:val>
          <c:extLst>
            <c:ext xmlns:c16="http://schemas.microsoft.com/office/drawing/2014/chart" uri="{C3380CC4-5D6E-409C-BE32-E72D297353CC}">
              <c16:uniqueId val="{00000006-573A-4776-A476-DDE41C75A47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2"/>
        <c:crosses val="autoZero"/>
        <c:auto val="1"/>
        <c:lblAlgn val="ctr"/>
        <c:lblOffset val="100"/>
        <c:noMultiLvlLbl val="1"/>
      </c:catAx>
      <c:valAx>
        <c:axId val="2094734552"/>
        <c:scaling>
          <c:orientation val="minMax"/>
          <c:max val="5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740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Buenos días. Presento el proyecto integrador del módulo de Redes Complejas.</a:t>
            </a:r>
          </a:p>
          <a:p/>
          <a:p>
            <a:r>
              <a:t>El caso de estudio es la red de datos real de la Universidad de Cuenca: 177 equipos, 209 enlaces, seis campus y dos sedes, reconstruida a partir de los 34 diagramas del informe técnico institucional.</a:t>
            </a:r>
          </a:p>
          <a:p/>
          <a:p>
            <a:r>
              <a:t>La presentación dura 15 minutos y sigue las cinco fases del módulo. Adelanto el mensaje central para que lo tengan en mente: la red está bien construida en el núcleo, pero tiene un punto débil grave y documentable en Campus Paraíso, y ese punto se puede corregir con la más barata de las cinco intervenciones que propongo.</a:t>
            </a:r>
          </a:p>
          <a:p/>
          <a:p>
            <a:r>
              <a:t>[Tiempo: 0:00 – 0:40]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pregunta del enunciado, y es la que la última lámina tiene que poder responder: «cuáles son los puntos críticos de la red, qué tan grave sería su falla, y qué intervenciones concretas mejorarían más su robustez?»</a:t>
            </a:r>
          </a:p>
          <a:p/>
          <a:p>
            <a:r>
              <a:t>Recorro las cinco fases en orden, porque están encadenadas: sin los cortes mínimos de la Fase 3 no hay ranking de criticidad en la Fase 4, y sin ese ranking no hay propuesta defendible en la Fase 5. Voy a dedicar poco tiempo a «qué se calculó» y mucho a «qué decisión de ingeniería se deriva de cada resultado», que es el criterio de excelencia del enunciado.</a:t>
            </a:r>
          </a:p>
          <a:p/>
          <a:p>
            <a:r>
              <a:t>Una nota de método: todos los algoritmos centrales están implementados desde cero — BFS, DFS, Dijkstra con montículo propio, Floyd-Warshall, Tarjan, Louvain, k-means, modelo de configuración, NMI/ARI, percolación, Motter-Lai, SIR. Graphs.jl solo se usa para verificación cruzada. De Ford-Fulkerson, Edmonds-Karp y k-means reutilicé el código de referencia del módulo, citando la procedencia.</a:t>
            </a:r>
          </a:p>
          <a:p/>
          <a:p>
            <a:r>
              <a:t>[Tiempo: 0:40 – 1:25]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medidas globales de la red de 177 equipos y 209 enlaces: grado medio 2,36, clustering casi nulo, asortatividad negativa, distancia media 5,83 y diámetro 11.</a:t>
            </a:r>
          </a:p>
          <a:p/>
          <a:p>
            <a:r>
              <a:t>Dos cifras rojas importan operativamente: 141 de las 209 aristas son puentes —el 67,5 %— y 47 de los 177 nodos son puntos de articulación, ambos calculados con Tarjan implementado a mano. Pero lo más útil no es el total, es dónde están: solo un punto de articulación cae en la capa core. El núcleo está bien construido. En cambio hay 26 en agregación, cada uno el único paso hacia un grupo de equipos de acceso. La fragilidad no está en el núcleo: está un nivel más abajo.</a:t>
            </a:r>
          </a:p>
          <a:p/>
          <a:p>
            <a:r>
              <a:t>¿Por qué el clustering es tan bajo, 0,0952, contra 0,3–0,6 típico de una red social? Porque en una jerarquía core-agregación-acceso dos equipos colgados del mismo switch NO se conectan entre sí: no aporta nada y consume puertos. No es un defecto, es la firma de una topología en estrella de estrellas. Y la asortatividad negativa, −0,1468, dice lo mismo desde otro ángulo: los nodos de alto grado se conectan con los de bajo grado, no entre sí — un switch de 12 puertos cuelga 12 equipos de acceso de grado 1. Dos cifras bastan para saber que esto es infraestructura diseñada, no crecimiento social.</a:t>
            </a:r>
          </a:p>
          <a:p/>
          <a:p>
            <a:r>
              <a:t>[Tiempo: 1:25 – 2:25]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distribución de grado. 113 de los 177 nodos tienen grado 1: son hojas, equipos de acceso terminales. En el otro extremo, los dos core de Campus Central con grado 17 y 16.</a:t>
            </a:r>
          </a:p>
          <a:p/>
          <a:p>
            <a:r>
              <a:t>¿Tiene sentido hablar de red libre de escala? Un ajuste sobre la cola da alfa ≈ 2,04, que se podría leer como «libre de escala», pero sostengo que esa lectura sería prematura: con 177 nodos la cola tiene solo 64 observaciones. Haría falta el procedimiento completo de Clauset, Shalizi y Newman —Kolmogorov-Smirnov, bondad de ajuste con remuestreo, razón de verosimilitud contra log-normal y exponencial— para afirmarlo con rigor. Lo indiscutible es la heterogeneidad de grado, y eso basta para explicar casi todo lo que viene después.</a:t>
            </a:r>
          </a:p>
          <a:p/>
          <a:p>
            <a:r>
              <a:t>[Tiempo: 2:25 – 3:00]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¿Coinciden los nodos más centrales por grado y por intermediación? No: solo 4 de los 10. El grado cuenta vecinos directos —un switch con muchos puertos puntúa alto aunque nadie pase por él—; la intermediación cuenta por cuántos caminos mínimos entre terceros pasa un nodo —ahí puntúan los core y los routers de interconexión.</a:t>
            </a:r>
          </a:p>
          <a:p/>
          <a:p>
            <a:r>
              <a:t>La consecuencia operativa es la que importa: BAL-AUL2-D1 es crítico para sus diez equipos; si cae, esos diez pierden servicio y nadie más se entera. DATCC-2A-C3 o CPAR-C10 son críticos para todos los demás; si caen, se parte la red. Un plan de continuidad que priorice solo por número de usuarios afectados protegerá los primeros y descuidará los segundos.</a:t>
            </a:r>
          </a:p>
          <a:p/>
          <a:p>
            <a:r>
              <a:t>[Tiempo: 3:00 – 3:40]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Este es el hallazgo central del proyecto. El informe técnico institucional afirma que Balzay y Paraíso implementan redundancia física completa entre core y agregación. Conté, para cada nodo de agregación, cuántas aristas tiene hacia la capa core.</a:t>
            </a:r>
          </a:p>
          <a:p/>
          <a:p>
            <a:r>
              <a:t>Los datos confirman Balzay —doble enlace— y refutan Paraíso: sus seis nodos de agregación cuelgan de un único enlace, todos hacia el mismo core, CPAR-C10. Es agregación de puertos, no redundancia de núcleo. Si CPAR-C10 falla, cae Paraíso entero: 44 equipos, el 25 % de la institución.</a:t>
            </a:r>
          </a:p>
          <a:p/>
          <a:p>
            <a:r>
              <a:t>Voy a volver sobre esto dos veces más: en el flujo máximo y en el ranking de criticidad — cuatro caminos analíticos independientes van a converger en el mismo diagnóstico.</a:t>
            </a:r>
          </a:p>
          <a:p/>
          <a:p>
            <a:r>
              <a:t>[Tiempo: 3:40 – 4:30]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P2 pide comparar contra modelos nulos. Generé 100 realizaciones de Erdős-Rényi y 100 del modelo de configuración, implementado a mano por emparejamiento de medios enlaces.</a:t>
            </a:r>
          </a:p>
          <a:p/>
          <a:p>
            <a:r>
              <a:t>El clustering real está a más de cinco desviaciones estándar sobre Erdős-Rényi, y también por encima del modelo de configuración: la heterogeneidad de grado explica unos dos tercios, el resto viene de la topología real —los pares redundantes crean triángulos por diseño. La distancia media va al revés, es MÁS alta que ambos nulos: la jerarquía estricta obliga a más saltos de los que la sola secuencia de grados predeciría. Y Barabási-Albert da clustering exactamente cero: una red física no crece por conexión preferencial.</a:t>
            </a:r>
          </a:p>
          <a:p/>
          <a:p>
            <a:r>
              <a:t>Dos visualizaciones con layout de resortes —coloreada por campus, y dimensionada por intermediación— muestran lo mismo de otra forma: siete islas geográficas cosidas por unos pocos enlaces WAN, con media docena de nodos desproporcionadamente grandes justo en las costuras. Están en el informe completo.</a:t>
            </a:r>
          </a:p>
          <a:p/>
          <a:p>
            <a:r>
              <a:t>[Tiempo: 4:30 – 5:15]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BFS y DFS implementados desde cero, ambos O(V+E), verificados contra Graphs.jl.</a:t>
            </a:r>
          </a:p>
          <a:p/>
          <a:p>
            <a:r>
              <a:t>Si la jerarquía de tres capas se cumpliera al pie de la letra, casi todo debería estar a distancia dos o menos del core. Solo el 37 % lo está. El modelo de tres capas del informe describe un campus, no la institución. Desde INTERNET-MPLS el perfil es mucho más compacto —88,7 % a distancia ≤4—, coherente con ser el punto más central de la topología inter-campus.</a:t>
            </a:r>
          </a:p>
          <a:p/>
          <a:p>
            <a:r>
              <a:t>Hay exactamente 33 ciclos, el número ciclomático, casi todos en el core y agregación de Central y Balzay; Paraíso y Yanuncay aportan un extremo cada uno —ausencia de ciclos es ausencia de camino alternativo, el mismo fenómeno que los puentes de P1. Y para la visita física del técnico, DFS sin ambigüedad: no puede saltar entre ramas como sí hace BFS.</a:t>
            </a:r>
          </a:p>
          <a:p/>
          <a:p>
            <a:r>
              <a:t>[Tiempo: 5:15 – 6:00]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Louvain desde cero encuentra 22 comunidades con modularidad 0,75, estable en cinco semillas (NMI ≥ 0,93 contra la corrida de referencia).</a:t>
            </a:r>
          </a:p>
          <a:p/>
          <a:p>
            <a:r>
              <a:t>Contra la partición por campus da NMI 0,584 y ARI 0,190 —no se contradicen: la matriz de confusión es casi bloque-diagonal, Louvain no mezcla campus pero sí subdivide los grandes. Los 11 nodos discrepantes son casi todos equipos WAN e interconexión: forman un núcleo WAN funcionalmente propio que la etiqueta geográfica «campus» no puede expresar.</a:t>
            </a:r>
          </a:p>
          <a:p/>
          <a:p>
            <a:r>
              <a:t>Y hay evidencia concreta del límite de resolución: Museo y Centro Histórico, con dos equipos cada una, no aparecen como comunidades propias pese a ser dominios administrativos separados —están por debajo de raíz de 2m, la modularidad no puede verlas.</a:t>
            </a:r>
          </a:p>
          <a:p/>
          <a:p>
            <a:r>
              <a:t>[Tiempo: 6:00 – 6:45]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Antes de cualquier algoritmo hay que decidir qué se minimiza. Usé tres modelos de peso justificados físicamente: saltos, latencia —con constantes derivadas de una trama Ethernet real—, y carga, la fracción de capacidad en uso.</a:t>
            </a:r>
          </a:p>
          <a:p/>
          <a:p>
            <a:r>
              <a:t>Dijkstra con montículo propio y Floyd-Warshall coinciden en 60 verificaciones. Saltos y latencia coinciden 10 de 10 en el top de cercanía —el modelo de latencia es una perturbación pequeña del de saltos—, pero w_carga cambia el ranking POR COMPLETO: 51 de 209 aristas tienen tráfico cero y por tanto peso cero. No es un error, ese modelo mide congestión, no topología.</a:t>
            </a:r>
          </a:p>
          <a:p/>
          <a:p>
            <a:r>
              <a:t>Ninguno de los tres modelos puede dar peso negativo, así que Dijkstra es siempre válido aquí; la única excepción del proyecto es el flujo de costo mínimo, donde uso Bellman-Ford deliberadamente porque la red residual sí genera costos negativos.</a:t>
            </a:r>
          </a:p>
          <a:p/>
          <a:p>
            <a:r>
              <a:t>[Tiempo: 6:45 – 7:35]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capacidad nominal solo consta en 28 de 209 aristas; estimé las 181 restantes con cinco reglas explícitas, registradas arista por arista para que sea auditable. La más discutible: 1 Gbps para los 111 uplinks de acceso, no declarada por el informe.</a:t>
            </a:r>
          </a:p>
          <a:p/>
          <a:p>
            <a:r>
              <a:t>Y aquí está un hallazgo original: el enlace entre los dos core de Campus Central registra 1 890 Mbps medidos sobre una capacidad estimada de 1 000 —utilización 1,89, físicamente imposible. Es el único de las 209 aristas con ese problema, lo que a la vez valida el resto de las reglas y aísla el único punto donde fallan; ese enlace opera necesariamente a 10 Gbps o más. No cambia ningún resultado de flujo de este informe, pero lo documento como recomendación de mejora del conjunto de datos.</a:t>
            </a:r>
          </a:p>
          <a:p/>
          <a:p>
            <a:r>
              <a:t>[Tiempo: 7:35 – 8:10]</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Este es el gráfico más importante de la presentación. Modelé, para cada campus, «todo el tráfico sale hacia Internet»: super-fuente sobre sus equipos de acceso, sumidero en INTERNET-MPLS, resuelto con Ford-Fulkerson y Edmonds-Karp, que coinciden en los siete casos.</a:t>
            </a:r>
          </a:p>
          <a:p/>
          <a:p>
            <a:r>
              <a:t>Miren la barra roja. Paraíso, con 35 equipos de acceso —más que Yanuncay y Hospitalidad juntos—, tiene 1 000 Mbps de salida: 44 veces menos que Central, 11 veces menos que Yanuncay con un tercio de sus equipos. El corte mínimo es una sola arista, CPAR-C10 a ROUTER-CAMPUS-HUAYNA-CAPAC, y esa arista TAMBIÉN es puente de P1: el cuello de botella físico y el punto de fragilidad topológica coinciden exactamente. En Central, en cambio, el corte son siete aristas de alta capacidad y ninguna es puente: perder una degrada, no desconecta.</a:t>
            </a:r>
          </a:p>
          <a:p/>
          <a:p>
            <a:r>
              <a:t>Una nota sobre P7, localización de instalaciones, que no tiene lámina propia por tiempo: resolví p-mediana y p-centro con heurística voraz y exacto con JuMP/HiGHS. Ni el nodo de mayor intermediación ni el de mayor cercanía es la mejor ubicación para un colector de telemetría —el detalle completo está en el informe.</a:t>
            </a:r>
          </a:p>
          <a:p/>
          <a:p>
            <a:r>
              <a:t>[Tiempo: 8:10 – 9:00]</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paradoja de la robustez, confirmada con contundencia. La red tolera perder el 23,7 % de sus nodos al azar —42 equipos— antes de que la componente gigante caiga a la mitad. Un atacante dirigido logra lo mismo eliminando cuatro. Más de diez a uno.</a:t>
            </a:r>
          </a:p>
          <a:p/>
          <a:p>
            <a:r>
              <a:t>Grado e intermediación recalculada llegan al mismo umbral por caminos distintos: recalcular tras cada eliminación es la estrategia más destructiva, y también la más costosa computacionalmente, lo que en la práctica actúa como barrera para el atacante.</a:t>
            </a:r>
          </a:p>
          <a:p/>
          <a:p>
            <a:r>
              <a:t>La consecuencia operativa: un plan de mantenimiento puede tratar los fallos como aleatorios; un plan de respuesta a incidentes de seguridad no puede. Esos cuatro a ocho equipos necesitan protección desproporcionada a su número.</a:t>
            </a:r>
          </a:p>
          <a:p/>
          <a:p>
            <a:r>
              <a:t>[Tiempo: 9:00 – 9:40]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Dos resultados que se complementan, y un tercero nuevo.</a:t>
            </a:r>
          </a:p>
          <a:p/>
          <a:p>
            <a:r>
              <a:t>La eficiencia global —el promedio del inverso de las distancias— cae al 15 % de su valor con solo el 5 % de nodos atacados, mientras la componente gigante apenas se movió. La red puede seguir «arriba» mucho después de que el servicio percibido se haya degradado severamente; un monitoreo que alarme solo por conectividad detecta el problema demasiado tarde.</a:t>
            </a:r>
          </a:p>
          <a:p/>
          <a:p>
            <a:r>
              <a:t>Sobre las cascadas de Motter-Lai: con el criterio original —fracción de NODOS caídos, sobre una malla ampliada de 13 valores de τ— ningún nodo desencadena una cascada mayor al 8,5 % de la red, ni con margen cero. No hay τ_c positivo que reportar bajo ese criterio.</a:t>
            </a:r>
          </a:p>
          <a:p/>
          <a:p>
            <a:r>
              <a:t>Pero probé un segundo criterio, deliberadamente distinto: fracción de CAPACIDAD, en Mbps, afectada. Y ahí la respuesta cambia: 8 de los 15 candidatos superan el 20 % de daño de capacidad, y en dos de ellos —nodos core y WAN— ese daño no baja del 20 % ni con el margen más generoso probado. La razón es mecánica: los candidatos a disparador son, por construcción, los nodos que concentran los enlaces troncales de 10 Gbps. Pocos nodos caen, pero si son del núcleo, se llevan buena parte del ancho de banda con pocas fichas. No contradice la conclusión original, la matiza: hace falta redundancia topológica, priorizada en el núcleo, no solo margen de capacidad genérico en toda la red.</a:t>
            </a:r>
          </a:p>
          <a:p/>
          <a:p>
            <a:r>
              <a:t>[Tiempo: 9:40 – 10:25]</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modelo SIR, interpretado como un malware que se propaga entre equipos. La predicción de campo medio da λ_c = 0,186; la simulación confirma el orden de magnitud, aunque con n=177 y 60 realizaciones la dispersión es del orden de la media cerca del umbral —lo digo con esa limitación explícita.</a:t>
            </a:r>
          </a:p>
          <a:p/>
          <a:p>
            <a:r>
              <a:t>Lo que sí tiene valor operativo directo: con el mismo presupuesto —11 equipos parcheados, un 6 % de la red— la inmunización aleatoria reduce el brote un 11 %, y la dirigida por centralidad un 77 %, siete veces más. Y un efecto que se cita menos: la desviación estándar cae de 29,7 a 3,0. La inmunización dirigida no solo reduce el daño esperado, elimina el riesgo de cola.</a:t>
            </a:r>
          </a:p>
          <a:p/>
          <a:p>
            <a:r>
              <a:t>[Tiempo: 10:25 – 11:00]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P10 consolida las cuatro fases anteriores en un ranking único: el promedio de intermediación, condición de articulación, participación en cortes mínimos y daño en cascada, con pesos iguales declarados a falta de una prioridad de negocio de la institución.</a:t>
            </a:r>
          </a:p>
          <a:p/>
          <a:p>
            <a:r>
              <a:t>INTERNET-MPLS encabeza por ser el único punto de salida. La sorpresa es el segundo puesto: BAL-AUL2-D1, intermediación modesta pero participa en diez cortes mínimos, el máximo de la red —ninguna centralidad clásica por sí sola lo habría detectado. Y en cuarto y quinto lugar, el par que sostiene todo Campus Paraíso: cuatro caminos analíticos independientes convergen en el mismo diagnóstico. Cinco de los diez puestos son switches de agregación, confirmando que la fragilidad no está en el núcleo.</a:t>
            </a:r>
          </a:p>
          <a:p/>
          <a:p>
            <a:r>
              <a:t>[Tiempo: 11:00 – 11:30]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cinco intervenciones, cada una derivada de un patrón concreto del diagnóstico. La primera y más importante: duplicar a 10 Gbps el enlace de salida de Paraíso, el cuello de botella de flujo más severo. La segunda y tercera dan una ruta alterna a Hospitalidad y al Consultorio Jurídico, que dependen cada uno de un único enlace inferido y son puntos de articulación. La cuarta le da a Yanuncay una segunda salida. La quinta, más modesta, mitiga el equipo de mayor tráfico detrás de BAL-AUL2-D1.</a:t>
            </a:r>
          </a:p>
          <a:p/>
          <a:p>
            <a:r>
              <a:t>Una nota de modelado que declaro en voz alta: duplicar un enlace en un grafo simple no crea una arista nueva —protege contra el corte de una fibra, no contra la falla del equipo—, por eso la intervención uno se modela como aumento de capacidad y no como arista nueva. Ocultar esa distinción habría inflado la mejora reportada.</a:t>
            </a:r>
          </a:p>
          <a:p/>
          <a:p>
            <a:r>
              <a:t>[Tiempo: 11:30 – 12:10]</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puentes bajan en tres, la distancia media 3,1 %, la eficiencia 3,5 %, la robustez 3,7 %, y el flujo de Paraíso se multiplica por diez. Explico dos cosas antes de que las pregunten: los puntos de articulación bajan solo en uno, porque dar una segunda ruta no siempre quita a un nodo su condición de articulación local; y el flujo de Hospitalidad no cambia, porque su cuello de botella real está en la capa interna, no en la salida.</a:t>
            </a:r>
          </a:p>
          <a:p/>
          <a:p>
            <a:r>
              <a:t>A primera vista las alternativas ingenuas ganan en algunas columnas. Y no: «mayor grado» conecta pares que YA tienen múltiples caminos —atajos genéricos, su robustez AUC es idéntica a la de la red base—; la aleatoria reduce puentes por pura estadística, sin dirección defendible. Ninguna resuelve Paraíso ni toca Hospitalidad. La lección: optimizar una métrica agregada no es lo mismo que reparar un modo de falla.</a:t>
            </a:r>
          </a:p>
          <a:p/>
          <a:p>
            <a:r>
              <a:t>[Tiempo: 12:10 – 12:50]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Recapitulo en seis conclusiones. Uno: la jerarquía dispersa se explica por heterogeneidad de grado y diseño, no por patrones sociales. Dos: los puntos críticos están identificados y cuatro caminos analíticos convergen en los mismos. Tres: la falla sería grave y asimétrica —robusta al azar, frágil al ataque—, y el servicio se degrada antes que la conectividad.</a:t>
            </a:r>
          </a:p>
          <a:p/>
          <a:p>
            <a:r>
              <a:t>Cuatro: la fragilidad es de conectividad, no de sobrecarga masiva de nodos —pero medido en capacidad, un disparo del núcleo sí supera el 20 % incluso con margen generoso. Es un matiz que cambia dónde priorizar la redundancia, no la conclusión de fondo.</a:t>
            </a:r>
          </a:p>
          <a:p/>
          <a:p>
            <a:r>
              <a:t>Cinco: el informe institucional sobreestima la redundancia de Paraíso, el hallazgo más accionable. Seis: cinco enlaces bastan para mover la aguja, y la propuesta dirigida supera a las alternativas genéricas en lo que importa.</a:t>
            </a:r>
          </a:p>
          <a:p/>
          <a:p>
            <a:r>
              <a:t>Y las limitaciones, con la misma claridad: 181 capacidades son estimadas —y el propio análisis encontró un caso donde la regla falla—; el modelo no incorpora energía, rack ni licencias; la red se trata como estática; los resultados estocásticos son promedios; y no puedo concluir el retorno económico de nada, solo el impacto estructural.</a:t>
            </a:r>
          </a:p>
          <a:p/>
          <a:p>
            <a:r>
              <a:t>[Tiempo: 12:50 – 13:30]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Cierro respondiendo la pregunta que el enunciado pone como criterio de excelencia. Si yo fuera el administrador de esta red y tuviera presupuesto para cinco enlaces, construiría los cinco de la propuesta, y empezaría por Campus Paraíso.</a:t>
            </a:r>
          </a:p>
          <a:p/>
          <a:p>
            <a:r>
              <a:t>Esa primera intervención es simultáneamente las tres cosas que rara vez coinciden: la más barata —cambio de óptica sobre fibra ya tendida, sin obra civil—; la de mayor impacto medido, +900 % de flujo; y la que corrige una discrepancia documentada entre lo que el informe técnico afirma y lo que los datos muestran. No es una decisión de compromiso: es una decisión sin contrapartida.</a:t>
            </a:r>
          </a:p>
          <a:p/>
          <a:p>
            <a:r>
              <a:t>Gracias. Quedo atento a las preguntas.</a:t>
            </a:r>
          </a:p>
          <a:p/>
          <a:p>
            <a:r>
              <a:t>[Tiempo: 13:30 – 14:05]</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png"/><Relationship Id="rId4" Type="http://schemas.openxmlformats.org/officeDocument/2006/relationships/chart" Target="../charts/char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10241280" y="3291840"/>
            <a:ext cx="4023360" cy="4023360"/>
          </a:xfrm>
          <a:prstGeom prst="ellipse">
            <a:avLst/>
          </a:prstGeom>
          <a:solidFill>
            <a:srgbClr val="A01A24">
              <a:alpha val="30000"/>
            </a:srgbClr>
          </a:solidFill>
          <a:ln w="12700">
            <a:solidFill>
              <a:srgbClr val="A01A24">
                <a:alpha val="0"/>
              </a:srgbClr>
            </a:solidFill>
            <a:prstDash val="solid"/>
          </a:ln>
        </p:spPr>
      </p:sp>
      <p:sp>
        <p:nvSpPr>
          <p:cNvPr id="4" name="Text 2"/>
          <p:cNvSpPr/>
          <p:nvPr/>
        </p:nvSpPr>
        <p:spPr>
          <a:xfrm>
            <a:off x="548640" y="1143000"/>
            <a:ext cx="8412480" cy="310896"/>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UNIVERSIDAD DE CUENCA  ·  MÓDULO 1217 — REDES COMPLEJAS</a:t>
            </a:r>
            <a:endParaRPr lang="en-US" sz="1200" dirty="0"/>
          </a:p>
        </p:txBody>
      </p:sp>
      <p:sp>
        <p:nvSpPr>
          <p:cNvPr id="5" name="Text 3"/>
          <p:cNvSpPr/>
          <p:nvPr/>
        </p:nvSpPr>
        <p:spPr>
          <a:xfrm>
            <a:off x="548640" y="1691640"/>
            <a:ext cx="841248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Análisis de Redes Complejas</a:t>
            </a:r>
            <a:endParaRPr lang="en-US" sz="4600" dirty="0"/>
          </a:p>
        </p:txBody>
      </p:sp>
      <p:sp>
        <p:nvSpPr>
          <p:cNvPr id="6" name="Text 4"/>
          <p:cNvSpPr/>
          <p:nvPr/>
        </p:nvSpPr>
        <p:spPr>
          <a:xfrm>
            <a:off x="548640" y="2697480"/>
            <a:ext cx="8229600" cy="9144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La red de datos de la Universidad de Cuenca:</a:t>
            </a:r>
            <a:endParaRPr lang="en-US" sz="1900" dirty="0"/>
          </a:p>
          <a:p>
            <a:pPr marL="0" indent="0">
              <a:buNone/>
            </a:pPr>
            <a:r>
              <a:rPr lang="en-US" sz="1900" dirty="0">
                <a:solidFill>
                  <a:srgbClr val="CADCFC"/>
                </a:solidFill>
                <a:latin typeface="Calibri" pitchFamily="34" charset="0"/>
                <a:ea typeface="Calibri" pitchFamily="34" charset="-122"/>
                <a:cs typeface="Calibri" pitchFamily="34" charset="-120"/>
              </a:rPr>
              <a:t>diagnóstico de puntos críticos y rediseño acotado</a:t>
            </a:r>
            <a:endParaRPr lang="en-US" sz="1900" dirty="0"/>
          </a:p>
        </p:txBody>
      </p:sp>
      <p:sp>
        <p:nvSpPr>
          <p:cNvPr id="7" name="Text 5"/>
          <p:cNvSpPr/>
          <p:nvPr/>
        </p:nvSpPr>
        <p:spPr>
          <a:xfrm>
            <a:off x="548640" y="3749040"/>
            <a:ext cx="8412480" cy="365760"/>
          </a:xfrm>
          <a:prstGeom prst="rect">
            <a:avLst/>
          </a:prstGeom>
          <a:noFill/>
          <a:ln/>
        </p:spPr>
        <p:txBody>
          <a:bodyPr wrap="square" lIns="0" tIns="0" rIns="0" bIns="0" rtlCol="0" anchor="ctr"/>
          <a:lstStyle/>
          <a:p>
            <a:pPr marL="0" indent="0">
              <a:buNone/>
            </a:pPr>
            <a:r>
              <a:rPr lang="en-US" sz="1300" i="1" dirty="0">
                <a:solidFill>
                  <a:srgbClr val="9FB2E8"/>
                </a:solidFill>
                <a:latin typeface="Calibri" pitchFamily="34" charset="0"/>
                <a:ea typeface="Calibri" pitchFamily="34" charset="-122"/>
                <a:cs typeface="Calibri" pitchFamily="34" charset="-120"/>
              </a:rPr>
              <a:t>177 nodos  ·  209 enlaces  ·  6 campus + 2 sedes  ·  11 problemas, 5 fases</a:t>
            </a:r>
            <a:endParaRPr lang="en-US" sz="1300" dirty="0"/>
          </a:p>
        </p:txBody>
      </p:sp>
      <p:sp>
        <p:nvSpPr>
          <p:cNvPr id="8" name="Text 6"/>
          <p:cNvSpPr/>
          <p:nvPr/>
        </p:nvSpPr>
        <p:spPr>
          <a:xfrm>
            <a:off x="548640" y="4892040"/>
            <a:ext cx="8412480" cy="10972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Efrain Adolfo Alvarado Plasencia</a:t>
            </a:r>
            <a:endParaRPr lang="en-US" sz="1500" dirty="0"/>
          </a:p>
          <a:p>
            <a:pPr marL="0" indent="0">
              <a:buNone/>
            </a:pPr>
            <a:r>
              <a:rPr lang="en-US" sz="1200" dirty="0">
                <a:solidFill>
                  <a:srgbClr val="CADCFC"/>
                </a:solidFill>
                <a:latin typeface="Calibri" pitchFamily="34" charset="0"/>
                <a:ea typeface="Calibri" pitchFamily="34" charset="-122"/>
                <a:cs typeface="Calibri" pitchFamily="34" charset="-120"/>
              </a:rPr>
              <a:t>efrain.alvarado@ucuenca.edu.ec</a:t>
            </a:r>
            <a:endParaRPr lang="en-US" sz="1500" dirty="0"/>
          </a:p>
          <a:p>
            <a:pPr marL="0" indent="0">
              <a:buNone/>
            </a:pPr>
            <a:r>
              <a:rPr lang="en-US" sz="1200" dirty="0">
                <a:solidFill>
                  <a:srgbClr val="9FB2E8"/>
                </a:solidFill>
                <a:latin typeface="Calibri" pitchFamily="34" charset="0"/>
                <a:ea typeface="Calibri" pitchFamily="34" charset="-122"/>
                <a:cs typeface="Calibri" pitchFamily="34" charset="-120"/>
              </a:rPr>
              <a:t>Docente: Dr. Fabián Astudillo-Salinas   |   Agosto de 2026</a:t>
            </a:r>
            <a:endParaRPr lang="en-US" sz="1500" dirty="0"/>
          </a:p>
        </p:txBody>
      </p:sp>
      <p:sp>
        <p:nvSpPr>
          <p:cNvPr id="10"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PREGUNTA DE INGENIERÍA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La pregunta que amarra las cinco fases</a:t>
            </a:r>
            <a:endParaRPr lang="en-US" sz="3000" dirty="0"/>
          </a:p>
        </p:txBody>
      </p:sp>
      <p:sp>
        <p:nvSpPr>
          <p:cNvPr id="4" name="Shape 2"/>
          <p:cNvSpPr/>
          <p:nvPr/>
        </p:nvSpPr>
        <p:spPr>
          <a:xfrm>
            <a:off x="548640" y="1554480"/>
            <a:ext cx="11064240" cy="1051560"/>
          </a:xfrm>
          <a:prstGeom prst="roundRect">
            <a:avLst>
              <a:gd name="adj" fmla="val 6957"/>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5" name="Text 3"/>
          <p:cNvSpPr/>
          <p:nvPr/>
        </p:nvSpPr>
        <p:spPr>
          <a:xfrm>
            <a:off x="822960" y="1691640"/>
            <a:ext cx="10515600" cy="777240"/>
          </a:xfrm>
          <a:prstGeom prst="rect">
            <a:avLst/>
          </a:prstGeom>
          <a:noFill/>
          <a:ln/>
        </p:spPr>
        <p:txBody>
          <a:bodyPr wrap="square" lIns="0" tIns="0" rIns="0" bIns="0" rtlCol="0" anchor="ctr"/>
          <a:lstStyle/>
          <a:p>
            <a:pPr marL="0" indent="0">
              <a:buNone/>
            </a:pPr>
            <a:r>
              <a:rPr lang="en-US" sz="1600" i="1" dirty="0">
                <a:solidFill>
                  <a:srgbClr val="1E2761"/>
                </a:solidFill>
                <a:latin typeface="Cambria" pitchFamily="34" charset="0"/>
                <a:ea typeface="Cambria" pitchFamily="34" charset="-122"/>
                <a:cs typeface="Cambria" pitchFamily="34" charset="-120"/>
              </a:rPr>
              <a:t>«¿Cuáles son los puntos críticos de la red, qué tan grave sería su falla, y qué intervenciones concretas — acotadas en número y justificadas con métricas — mejorarían más su robustez y su desempeño?»</a:t>
            </a:r>
            <a:endParaRPr lang="en-US" sz="1600" dirty="0"/>
          </a:p>
        </p:txBody>
      </p:sp>
      <p:sp>
        <p:nvSpPr>
          <p:cNvPr id="6" name="Shape 4"/>
          <p:cNvSpPr/>
          <p:nvPr/>
        </p:nvSpPr>
        <p:spPr>
          <a:xfrm>
            <a:off x="548640"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7" name="Text 5"/>
          <p:cNvSpPr/>
          <p:nvPr/>
        </p:nvSpPr>
        <p:spPr>
          <a:xfrm>
            <a:off x="685800"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1</a:t>
            </a:r>
            <a:endParaRPr lang="en-US" sz="1100" dirty="0"/>
          </a:p>
        </p:txBody>
      </p:sp>
      <p:sp>
        <p:nvSpPr>
          <p:cNvPr id="8" name="Text 6"/>
          <p:cNvSpPr/>
          <p:nvPr/>
        </p:nvSpPr>
        <p:spPr>
          <a:xfrm>
            <a:off x="685800"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Caracterización</a:t>
            </a:r>
            <a:endParaRPr lang="en-US" sz="1500" dirty="0"/>
          </a:p>
        </p:txBody>
      </p:sp>
      <p:sp>
        <p:nvSpPr>
          <p:cNvPr id="9" name="Text 7"/>
          <p:cNvSpPr/>
          <p:nvPr/>
        </p:nvSpPr>
        <p:spPr>
          <a:xfrm>
            <a:off x="685800"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Medidas, centralidades,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puentes, modelos nulos</a:t>
            </a:r>
            <a:endParaRPr lang="en-US" sz="1150" dirty="0"/>
          </a:p>
        </p:txBody>
      </p:sp>
      <p:sp>
        <p:nvSpPr>
          <p:cNvPr id="10" name="Shape 8"/>
          <p:cNvSpPr/>
          <p:nvPr/>
        </p:nvSpPr>
        <p:spPr>
          <a:xfrm>
            <a:off x="2794406"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1" name="Text 9"/>
          <p:cNvSpPr/>
          <p:nvPr/>
        </p:nvSpPr>
        <p:spPr>
          <a:xfrm>
            <a:off x="2931566"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2</a:t>
            </a:r>
            <a:endParaRPr lang="en-US" sz="1100" dirty="0"/>
          </a:p>
        </p:txBody>
      </p:sp>
      <p:sp>
        <p:nvSpPr>
          <p:cNvPr id="12" name="Text 10"/>
          <p:cNvSpPr/>
          <p:nvPr/>
        </p:nvSpPr>
        <p:spPr>
          <a:xfrm>
            <a:off x="2931566"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Recorrido y partición</a:t>
            </a:r>
            <a:endParaRPr lang="en-US" sz="1500" dirty="0"/>
          </a:p>
        </p:txBody>
      </p:sp>
      <p:sp>
        <p:nvSpPr>
          <p:cNvPr id="13" name="Text 11"/>
          <p:cNvSpPr/>
          <p:nvPr/>
        </p:nvSpPr>
        <p:spPr>
          <a:xfrm>
            <a:off x="2931566"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BFS/DFS, ciclos,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Louvain, k-means</a:t>
            </a:r>
            <a:endParaRPr lang="en-US" sz="1150" dirty="0"/>
          </a:p>
        </p:txBody>
      </p:sp>
      <p:sp>
        <p:nvSpPr>
          <p:cNvPr id="14" name="Shape 12"/>
          <p:cNvSpPr/>
          <p:nvPr/>
        </p:nvSpPr>
        <p:spPr>
          <a:xfrm>
            <a:off x="5040173"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5" name="Text 13"/>
          <p:cNvSpPr/>
          <p:nvPr/>
        </p:nvSpPr>
        <p:spPr>
          <a:xfrm>
            <a:off x="5177333"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3</a:t>
            </a:r>
            <a:endParaRPr lang="en-US" sz="1100" dirty="0"/>
          </a:p>
        </p:txBody>
      </p:sp>
      <p:sp>
        <p:nvSpPr>
          <p:cNvPr id="16" name="Text 14"/>
          <p:cNvSpPr/>
          <p:nvPr/>
        </p:nvSpPr>
        <p:spPr>
          <a:xfrm>
            <a:off x="5177333"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Optimización</a:t>
            </a:r>
            <a:endParaRPr lang="en-US" sz="1500" dirty="0"/>
          </a:p>
        </p:txBody>
      </p:sp>
      <p:sp>
        <p:nvSpPr>
          <p:cNvPr id="17" name="Text 15"/>
          <p:cNvSpPr/>
          <p:nvPr/>
        </p:nvSpPr>
        <p:spPr>
          <a:xfrm>
            <a:off x="5177333"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Dijkstra, Floyd-Warshall,</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flujo máx., p-mediana</a:t>
            </a:r>
            <a:endParaRPr lang="en-US" sz="1150" dirty="0"/>
          </a:p>
        </p:txBody>
      </p:sp>
      <p:sp>
        <p:nvSpPr>
          <p:cNvPr id="18" name="Shape 16"/>
          <p:cNvSpPr/>
          <p:nvPr/>
        </p:nvSpPr>
        <p:spPr>
          <a:xfrm>
            <a:off x="7285939"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9" name="Text 17"/>
          <p:cNvSpPr/>
          <p:nvPr/>
        </p:nvSpPr>
        <p:spPr>
          <a:xfrm>
            <a:off x="7423099"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4</a:t>
            </a:r>
            <a:endParaRPr lang="en-US" sz="1100" dirty="0"/>
          </a:p>
        </p:txBody>
      </p:sp>
      <p:sp>
        <p:nvSpPr>
          <p:cNvPr id="20" name="Text 18"/>
          <p:cNvSpPr/>
          <p:nvPr/>
        </p:nvSpPr>
        <p:spPr>
          <a:xfrm>
            <a:off x="7423099"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Robustez</a:t>
            </a:r>
            <a:endParaRPr lang="en-US" sz="1500" dirty="0"/>
          </a:p>
        </p:txBody>
      </p:sp>
      <p:sp>
        <p:nvSpPr>
          <p:cNvPr id="21" name="Text 19"/>
          <p:cNvSpPr/>
          <p:nvPr/>
        </p:nvSpPr>
        <p:spPr>
          <a:xfrm>
            <a:off x="7423099"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Percolación, cascadas,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SIR, índice compuesto</a:t>
            </a:r>
            <a:endParaRPr lang="en-US" sz="1150" dirty="0"/>
          </a:p>
        </p:txBody>
      </p:sp>
      <p:sp>
        <p:nvSpPr>
          <p:cNvPr id="22" name="Shape 20"/>
          <p:cNvSpPr/>
          <p:nvPr/>
        </p:nvSpPr>
        <p:spPr>
          <a:xfrm>
            <a:off x="9531706" y="2971800"/>
            <a:ext cx="2081174" cy="1874520"/>
          </a:xfrm>
          <a:prstGeom prst="roundRect">
            <a:avLst>
              <a:gd name="adj" fmla="val 3902"/>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3" name="Text 21"/>
          <p:cNvSpPr/>
          <p:nvPr/>
        </p:nvSpPr>
        <p:spPr>
          <a:xfrm>
            <a:off x="9668866"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5</a:t>
            </a:r>
            <a:endParaRPr lang="en-US" sz="1100" dirty="0"/>
          </a:p>
        </p:txBody>
      </p:sp>
      <p:sp>
        <p:nvSpPr>
          <p:cNvPr id="24" name="Text 22"/>
          <p:cNvSpPr/>
          <p:nvPr/>
        </p:nvSpPr>
        <p:spPr>
          <a:xfrm>
            <a:off x="9668866"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Rediseño</a:t>
            </a:r>
            <a:endParaRPr lang="en-US" sz="1500" dirty="0"/>
          </a:p>
        </p:txBody>
      </p:sp>
      <p:sp>
        <p:nvSpPr>
          <p:cNvPr id="25" name="Text 23"/>
          <p:cNvSpPr/>
          <p:nvPr/>
        </p:nvSpPr>
        <p:spPr>
          <a:xfrm>
            <a:off x="9668866"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5 intervenciones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cuantificadas</a:t>
            </a:r>
            <a:endParaRPr lang="en-US" sz="1150" dirty="0"/>
          </a:p>
        </p:txBody>
      </p:sp>
      <p:sp>
        <p:nvSpPr>
          <p:cNvPr id="26" name="Text 24"/>
          <p:cNvSpPr/>
          <p:nvPr/>
        </p:nvSpPr>
        <p:spPr>
          <a:xfrm>
            <a:off x="548640" y="5074920"/>
            <a:ext cx="11064240" cy="822960"/>
          </a:xfrm>
          <a:prstGeom prst="rect">
            <a:avLst/>
          </a:prstGeom>
          <a:noFill/>
          <a:ln/>
        </p:spPr>
        <p:txBody>
          <a:bodyPr wrap="square" lIns="0" tIns="0" rIns="0" bIns="0" rtlCol="0" anchor="ctr"/>
          <a:lstStyle/>
          <a:p>
            <a:pPr marL="0" indent="0">
              <a:buNone/>
            </a:pPr>
            <a:r>
              <a:rPr lang="en-US" sz="1300" dirty="0">
                <a:solidFill>
                  <a:srgbClr val="1B1F2A"/>
                </a:solidFill>
                <a:latin typeface="Calibri" pitchFamily="34" charset="0"/>
                <a:ea typeface="Calibri" pitchFamily="34" charset="-122"/>
                <a:cs typeface="Calibri" pitchFamily="34" charset="-120"/>
              </a:rPr>
              <a:t>Todos los algoritmos centrales implementados desde cero en Julia — BFS, DFS, Dijkstra con montículo propio, Floyd-Warshall, Tarjan, Louvain, k-means, modelo de configuración, NMI/ARI, percolación, Motter-Lai, SIR. Las bibliotecas solo se usan para verificación cruzada.</a:t>
            </a:r>
            <a:endParaRPr lang="en-US" sz="1300" dirty="0"/>
          </a:p>
        </p:txBody>
      </p:sp>
      <p:sp>
        <p:nvSpPr>
          <p:cNvPr id="28" name="Text 2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9" name="Text 2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 — MEDIDAS FUNDAMENTALES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Una jerarquía dispersa, con muy poca redundancia</a:t>
            </a:r>
            <a:endParaRPr lang="en-US" sz="3000" dirty="0"/>
          </a:p>
        </p:txBody>
      </p:sp>
      <p:sp>
        <p:nvSpPr>
          <p:cNvPr id="4" name="Shape 2"/>
          <p:cNvSpPr/>
          <p:nvPr/>
        </p:nvSpPr>
        <p:spPr>
          <a:xfrm>
            <a:off x="548640" y="1554480"/>
            <a:ext cx="11064240" cy="1417320"/>
          </a:xfrm>
          <a:prstGeom prst="roundRect">
            <a:avLst>
              <a:gd name="adj" fmla="val 516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4008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2,36</a:t>
            </a:r>
            <a:endParaRPr lang="en-US" sz="4400" dirty="0"/>
          </a:p>
        </p:txBody>
      </p:sp>
      <p:sp>
        <p:nvSpPr>
          <p:cNvPr id="6" name="Text 4"/>
          <p:cNvSpPr/>
          <p:nvPr/>
        </p:nvSpPr>
        <p:spPr>
          <a:xfrm>
            <a:off x="64008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grado medio</a:t>
            </a:r>
            <a:endParaRPr lang="en-US" sz="1100" dirty="0"/>
          </a:p>
        </p:txBody>
      </p:sp>
      <p:sp>
        <p:nvSpPr>
          <p:cNvPr id="7" name="Text 5"/>
          <p:cNvSpPr/>
          <p:nvPr/>
        </p:nvSpPr>
        <p:spPr>
          <a:xfrm>
            <a:off x="283464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0,0952</a:t>
            </a:r>
            <a:endParaRPr lang="en-US" sz="4400" dirty="0"/>
          </a:p>
        </p:txBody>
      </p:sp>
      <p:sp>
        <p:nvSpPr>
          <p:cNvPr id="8" name="Text 6"/>
          <p:cNvSpPr/>
          <p:nvPr/>
        </p:nvSpPr>
        <p:spPr>
          <a:xfrm>
            <a:off x="283464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clustering medio</a:t>
            </a:r>
            <a:endParaRPr lang="en-US" sz="1100" dirty="0"/>
          </a:p>
        </p:txBody>
      </p:sp>
      <p:sp>
        <p:nvSpPr>
          <p:cNvPr id="9" name="Text 7"/>
          <p:cNvSpPr/>
          <p:nvPr/>
        </p:nvSpPr>
        <p:spPr>
          <a:xfrm>
            <a:off x="502920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−0,1468</a:t>
            </a:r>
            <a:endParaRPr lang="en-US" sz="4400" dirty="0"/>
          </a:p>
        </p:txBody>
      </p:sp>
      <p:sp>
        <p:nvSpPr>
          <p:cNvPr id="10" name="Text 8"/>
          <p:cNvSpPr/>
          <p:nvPr/>
        </p:nvSpPr>
        <p:spPr>
          <a:xfrm>
            <a:off x="502920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asortatividad</a:t>
            </a:r>
            <a:endParaRPr lang="en-US" sz="1100" dirty="0"/>
          </a:p>
        </p:txBody>
      </p:sp>
      <p:sp>
        <p:nvSpPr>
          <p:cNvPr id="11" name="Text 9"/>
          <p:cNvSpPr/>
          <p:nvPr/>
        </p:nvSpPr>
        <p:spPr>
          <a:xfrm>
            <a:off x="722376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5,83</a:t>
            </a:r>
            <a:endParaRPr lang="en-US" sz="4400" dirty="0"/>
          </a:p>
        </p:txBody>
      </p:sp>
      <p:sp>
        <p:nvSpPr>
          <p:cNvPr id="12" name="Text 10"/>
          <p:cNvSpPr/>
          <p:nvPr/>
        </p:nvSpPr>
        <p:spPr>
          <a:xfrm>
            <a:off x="722376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distancia media</a:t>
            </a:r>
            <a:endParaRPr lang="en-US" sz="1100" dirty="0"/>
          </a:p>
        </p:txBody>
      </p:sp>
      <p:sp>
        <p:nvSpPr>
          <p:cNvPr id="13" name="Text 11"/>
          <p:cNvSpPr/>
          <p:nvPr/>
        </p:nvSpPr>
        <p:spPr>
          <a:xfrm>
            <a:off x="941832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11</a:t>
            </a:r>
            <a:endParaRPr lang="en-US" sz="4400" dirty="0"/>
          </a:p>
        </p:txBody>
      </p:sp>
      <p:sp>
        <p:nvSpPr>
          <p:cNvPr id="14" name="Text 12"/>
          <p:cNvSpPr/>
          <p:nvPr/>
        </p:nvSpPr>
        <p:spPr>
          <a:xfrm>
            <a:off x="941832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diámetro</a:t>
            </a:r>
            <a:endParaRPr lang="en-US" sz="1100" dirty="0"/>
          </a:p>
        </p:txBody>
      </p:sp>
      <p:sp>
        <p:nvSpPr>
          <p:cNvPr id="15" name="Shape 13"/>
          <p:cNvSpPr/>
          <p:nvPr/>
        </p:nvSpPr>
        <p:spPr>
          <a:xfrm>
            <a:off x="548640" y="3154680"/>
            <a:ext cx="5394960" cy="1371600"/>
          </a:xfrm>
          <a:prstGeom prst="roundRect">
            <a:avLst>
              <a:gd name="adj" fmla="val 533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16" name="Text 14"/>
          <p:cNvSpPr/>
          <p:nvPr/>
        </p:nvSpPr>
        <p:spPr>
          <a:xfrm>
            <a:off x="731520" y="3291840"/>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141</a:t>
            </a:r>
            <a:endParaRPr lang="en-US" sz="4400" dirty="0"/>
          </a:p>
        </p:txBody>
      </p:sp>
      <p:sp>
        <p:nvSpPr>
          <p:cNvPr id="17" name="Text 15"/>
          <p:cNvSpPr/>
          <p:nvPr/>
        </p:nvSpPr>
        <p:spPr>
          <a:xfrm>
            <a:off x="731520" y="406908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puentes (67,5 % de las aristas)</a:t>
            </a:r>
            <a:endParaRPr lang="en-US" sz="1100" dirty="0"/>
          </a:p>
        </p:txBody>
      </p:sp>
      <p:sp>
        <p:nvSpPr>
          <p:cNvPr id="18" name="Text 16"/>
          <p:cNvSpPr/>
          <p:nvPr/>
        </p:nvSpPr>
        <p:spPr>
          <a:xfrm>
            <a:off x="3108960" y="3520440"/>
            <a:ext cx="2606040" cy="822960"/>
          </a:xfrm>
          <a:prstGeom prst="rect">
            <a:avLst/>
          </a:prstGeom>
          <a:noFill/>
          <a:ln/>
        </p:spPr>
        <p:txBody>
          <a:bodyPr wrap="square" lIns="0" tIns="0" rIns="0" bIns="0" rtlCol="0" anchor="ctr"/>
          <a:lstStyle/>
          <a:p>
            <a:pPr marL="0" indent="0">
              <a:buNone/>
            </a:pPr>
            <a:r>
              <a:rPr lang="en-US" sz="1350" dirty="0">
                <a:solidFill>
                  <a:srgbClr val="1B1F2A"/>
                </a:solidFill>
                <a:latin typeface="Calibri" pitchFamily="34" charset="0"/>
                <a:ea typeface="Calibri" pitchFamily="34" charset="-122"/>
                <a:cs typeface="Calibri" pitchFamily="34" charset="-120"/>
              </a:rPr>
              <a:t>Cada uno de esos 141 enlaces, al caer, desconecta la red.</a:t>
            </a:r>
            <a:endParaRPr lang="en-US" sz="1350" dirty="0"/>
          </a:p>
        </p:txBody>
      </p:sp>
      <p:sp>
        <p:nvSpPr>
          <p:cNvPr id="19" name="Shape 17"/>
          <p:cNvSpPr/>
          <p:nvPr/>
        </p:nvSpPr>
        <p:spPr>
          <a:xfrm>
            <a:off x="6217920" y="3154680"/>
            <a:ext cx="5394960" cy="1371600"/>
          </a:xfrm>
          <a:prstGeom prst="roundRect">
            <a:avLst>
              <a:gd name="adj" fmla="val 533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0" name="Text 18"/>
          <p:cNvSpPr/>
          <p:nvPr/>
        </p:nvSpPr>
        <p:spPr>
          <a:xfrm>
            <a:off x="6400800" y="3291840"/>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47</a:t>
            </a:r>
            <a:endParaRPr lang="en-US" sz="4400" dirty="0"/>
          </a:p>
        </p:txBody>
      </p:sp>
      <p:sp>
        <p:nvSpPr>
          <p:cNvPr id="21" name="Text 19"/>
          <p:cNvSpPr/>
          <p:nvPr/>
        </p:nvSpPr>
        <p:spPr>
          <a:xfrm>
            <a:off x="6400800" y="406908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puntos de articulación</a:t>
            </a:r>
            <a:endParaRPr lang="en-US" sz="1100" dirty="0"/>
          </a:p>
        </p:txBody>
      </p:sp>
      <p:sp>
        <p:nvSpPr>
          <p:cNvPr id="22" name="Text 20"/>
          <p:cNvSpPr/>
          <p:nvPr/>
        </p:nvSpPr>
        <p:spPr>
          <a:xfrm>
            <a:off x="8778240" y="3520440"/>
            <a:ext cx="2606040" cy="822960"/>
          </a:xfrm>
          <a:prstGeom prst="rect">
            <a:avLst/>
          </a:prstGeom>
          <a:noFill/>
          <a:ln/>
        </p:spPr>
        <p:txBody>
          <a:bodyPr wrap="square" lIns="0" tIns="0" rIns="0" bIns="0" rtlCol="0" anchor="ctr"/>
          <a:lstStyle/>
          <a:p>
            <a:pPr marL="0" indent="0">
              <a:buNone/>
            </a:pPr>
            <a:r>
              <a:rPr lang="en-US" sz="1350" dirty="0">
                <a:solidFill>
                  <a:srgbClr val="1B1F2A"/>
                </a:solidFill>
                <a:latin typeface="Calibri" pitchFamily="34" charset="0"/>
                <a:ea typeface="Calibri" pitchFamily="34" charset="-122"/>
                <a:cs typeface="Calibri" pitchFamily="34" charset="-120"/>
              </a:rPr>
              <a:t>26 de ellos están en la capa de agregación, no en el core.</a:t>
            </a:r>
            <a:endParaRPr lang="en-US" sz="1350" dirty="0"/>
          </a:p>
        </p:txBody>
      </p:sp>
      <p:sp>
        <p:nvSpPr>
          <p:cNvPr id="23" name="Text 21"/>
          <p:cNvSpPr/>
          <p:nvPr/>
        </p:nvSpPr>
        <p:spPr>
          <a:xfrm>
            <a:off x="548640" y="4754880"/>
            <a:ext cx="1106424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Distribución por campus: </a:t>
            </a:r>
            <a:r>
              <a:rPr lang="en-US" sz="1300" dirty="0">
                <a:solidFill>
                  <a:srgbClr val="1B1F2A"/>
                </a:solidFill>
                <a:latin typeface="Calibri" pitchFamily="34" charset="0"/>
                <a:ea typeface="Calibri" pitchFamily="34" charset="-122"/>
                <a:cs typeface="Calibri" pitchFamily="34" charset="-120"/>
              </a:rPr>
              <a:t>Central 113 puentes / 23 articulaciones · Paraíso 84 / 14 · Balzay 50 / 6 · Yanuncay 24 / 2 · Hospitalidad 9 / 1. En términos relativos la fracción de puentes es alta en TODOS los campus.</a:t>
            </a:r>
            <a:endParaRPr lang="en-US" sz="1300" dirty="0"/>
          </a:p>
        </p:txBody>
      </p:sp>
      <p:sp>
        <p:nvSpPr>
          <p:cNvPr id="24" name="Text 22"/>
          <p:cNvSpPr/>
          <p:nvPr/>
        </p:nvSpPr>
        <p:spPr>
          <a:xfrm>
            <a:off x="548640" y="5440680"/>
            <a:ext cx="11064240" cy="5486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Solo 1 punto de articulación está en la capa core: el núcleo sí está bien construido. La fragilidad se desplazó un nivel hacia abajo, a la agregación.</a:t>
            </a:r>
            <a:endParaRPr lang="en-US" sz="1350" dirty="0"/>
          </a:p>
        </p:txBody>
      </p:sp>
      <p:sp>
        <p:nvSpPr>
          <p:cNvPr id="26" name="Text 2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7" name="Text 2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P1.2 — DISTRIBUCIÓN DE GRADO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Cola pesada sí, «libre de escala» no</a:t>
            </a:r>
            <a:endParaRPr lang="en-US" sz="3000" dirty="0"/>
          </a:p>
        </p:txBody>
      </p:sp>
      <p:pic>
        <p:nvPicPr>
          <p:cNvPr id="4" name="Image 0" descr="p1_distribucion_grado.png"/>
          <p:cNvPicPr>
            <a:picLocks noChangeAspect="1"/>
          </p:cNvPicPr>
          <p:nvPr/>
        </p:nvPicPr>
        <p:blipFill>
          <a:blip r:embed="rId3"/>
          <a:stretch>
            <a:fillRect/>
          </a:stretch>
        </p:blipFill>
        <p:spPr>
          <a:xfrm>
            <a:off x="548640" y="1554480"/>
            <a:ext cx="6949440" cy="2843784"/>
          </a:xfrm>
          <a:prstGeom prst="rect">
            <a:avLst/>
          </a:prstGeom>
        </p:spPr>
      </p:pic>
      <p:sp>
        <p:nvSpPr>
          <p:cNvPr id="5" name="Text 2"/>
          <p:cNvSpPr/>
          <p:nvPr/>
        </p:nvSpPr>
        <p:spPr>
          <a:xfrm>
            <a:off x="548640" y="4434840"/>
            <a:ext cx="6949440" cy="27432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Figura: histograma (izq.) y escala log-log (der.). 113 de 177 nodos tienen grado 1.</a:t>
            </a:r>
            <a:endParaRPr lang="en-US" sz="1050" dirty="0"/>
          </a:p>
        </p:txBody>
      </p:sp>
      <p:sp>
        <p:nvSpPr>
          <p:cNvPr id="6" name="Shape 3"/>
          <p:cNvSpPr/>
          <p:nvPr/>
        </p:nvSpPr>
        <p:spPr>
          <a:xfrm>
            <a:off x="7772400" y="1554480"/>
            <a:ext cx="3840480" cy="3154680"/>
          </a:xfrm>
          <a:prstGeom prst="roundRect">
            <a:avLst>
              <a:gd name="adj" fmla="val 2319"/>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7" name="Text 4"/>
          <p:cNvSpPr/>
          <p:nvPr/>
        </p:nvSpPr>
        <p:spPr>
          <a:xfrm>
            <a:off x="8001000" y="1737360"/>
            <a:ext cx="3383280" cy="365760"/>
          </a:xfrm>
          <a:prstGeom prst="rect">
            <a:avLst/>
          </a:prstGeom>
          <a:noFill/>
          <a:ln/>
        </p:spPr>
        <p:txBody>
          <a:bodyPr wrap="square" lIns="0" tIns="0" rIns="0" bIns="0" rtlCol="0" anchor="ctr"/>
          <a:lstStyle/>
          <a:p>
            <a:pPr marL="0" indent="0">
              <a:buNone/>
            </a:pPr>
            <a:r>
              <a:rPr lang="en-US" sz="1700" b="1" dirty="0">
                <a:solidFill>
                  <a:srgbClr val="1E2761"/>
                </a:solidFill>
                <a:latin typeface="Cambria" pitchFamily="34" charset="0"/>
                <a:ea typeface="Cambria" pitchFamily="34" charset="-122"/>
                <a:cs typeface="Cambria" pitchFamily="34" charset="-120"/>
              </a:rPr>
              <a:t>¿Es «libre de escala»?</a:t>
            </a:r>
            <a:endParaRPr lang="en-US" sz="1700" dirty="0"/>
          </a:p>
        </p:txBody>
      </p:sp>
      <p:sp>
        <p:nvSpPr>
          <p:cNvPr id="8" name="Text 5"/>
          <p:cNvSpPr/>
          <p:nvPr/>
        </p:nvSpPr>
        <p:spPr>
          <a:xfrm>
            <a:off x="8001000" y="2148840"/>
            <a:ext cx="3383280" cy="2423160"/>
          </a:xfrm>
          <a:prstGeom prst="rect">
            <a:avLst/>
          </a:prstGeom>
          <a:noFill/>
          <a:ln/>
        </p:spPr>
        <p:txBody>
          <a:bodyPr wrap="square" lIns="0" tIns="0" rIns="0" bIns="0" rtlCol="0" anchor="t"/>
          <a:lstStyle/>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Ajuste exploratorio por máxima verosimilitud sobre la cola (k ≥ 2): α ≈ 2,04.</a:t>
            </a:r>
            <a:endParaRPr lang="en-US" sz="1250" dirty="0"/>
          </a:p>
          <a:p>
            <a:pPr marL="0" indent="0">
              <a:spcAft>
                <a:spcPts val="700"/>
              </a:spcAft>
              <a:buNone/>
            </a:pPr>
            <a:r>
              <a:rPr lang="en-US" sz="1250" b="1" dirty="0">
                <a:solidFill>
                  <a:srgbClr val="A01A24"/>
                </a:solidFill>
                <a:latin typeface="Calibri" pitchFamily="34" charset="0"/>
                <a:ea typeface="Calibri" pitchFamily="34" charset="-122"/>
                <a:cs typeface="Calibri" pitchFamily="34" charset="-120"/>
              </a:rPr>
              <a:t>Pero con n = 177 la muestra NO lo justifica.</a:t>
            </a:r>
            <a:endParaRPr lang="en-US" sz="1250" dirty="0"/>
          </a:p>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Antes de afirmarlo haría falta el procedimiento de Clauset, Shalizi y Newman (2009): estimar k_min por Kolmogorov-Smirnov, prueba de bondad de ajuste con p-valor por remuestreo, y razón de verosimilitud contra log-normal y exponencial.</a:t>
            </a:r>
            <a:endParaRPr lang="en-US" sz="1250" dirty="0"/>
          </a:p>
          <a:p>
            <a:pPr marL="0" indent="0">
              <a:spcAft>
                <a:spcPts val="700"/>
              </a:spcAft>
              <a:buNone/>
            </a:pPr>
            <a:r>
              <a:rPr lang="en-US" sz="1250" b="1" dirty="0">
                <a:solidFill>
                  <a:srgbClr val="1B1F2A"/>
                </a:solidFill>
                <a:latin typeface="Calibri" pitchFamily="34" charset="0"/>
                <a:ea typeface="Calibri" pitchFamily="34" charset="-122"/>
                <a:cs typeface="Calibri" pitchFamily="34" charset="-120"/>
              </a:rPr>
              <a:t>Lo indiscutible sí es la heterogeneidad: grado máximo 17 = 7× el grado medio.</a:t>
            </a:r>
            <a:endParaRPr lang="en-US" sz="1250" dirty="0"/>
          </a:p>
        </p:txBody>
      </p:sp>
      <p:sp>
        <p:nvSpPr>
          <p:cNvPr id="9" name="Shape 6"/>
          <p:cNvSpPr/>
          <p:nvPr/>
        </p:nvSpPr>
        <p:spPr>
          <a:xfrm>
            <a:off x="548640" y="4937760"/>
            <a:ext cx="11064240" cy="868680"/>
          </a:xfrm>
          <a:prstGeom prst="roundRect">
            <a:avLst>
              <a:gd name="adj" fmla="val 842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7"/>
          <p:cNvSpPr/>
          <p:nvPr/>
        </p:nvSpPr>
        <p:spPr>
          <a:xfrm>
            <a:off x="777240" y="5074920"/>
            <a:ext cx="10607040" cy="594360"/>
          </a:xfrm>
          <a:prstGeom prst="rect">
            <a:avLst/>
          </a:prstGeom>
          <a:noFill/>
          <a:ln/>
        </p:spPr>
        <p:txBody>
          <a:bodyPr wrap="square" lIns="0" tIns="0" rIns="0" bIns="0" rtlCol="0" anchor="ctr"/>
          <a:lstStyle/>
          <a:p>
            <a:pPr marL="0" indent="0">
              <a:buNone/>
            </a:pPr>
            <a:r>
              <a:rPr lang="en-US" sz="1300" dirty="0">
                <a:solidFill>
                  <a:srgbClr val="1E2761"/>
                </a:solidFill>
                <a:latin typeface="Calibri" pitchFamily="34" charset="0"/>
                <a:ea typeface="Calibri" pitchFamily="34" charset="-122"/>
                <a:cs typeface="Calibri" pitchFamily="34" charset="-120"/>
              </a:rPr>
              <a:t>113 nodos de grado 1 (hojas: equipos de acceso terminales)  ·  DATCC-2A-C3 con grado 17 y DATCC-2A-C2 con 16 son los dos core redundantes de Campus Central  ·  solo 4 nodos superan grado 10.</a:t>
            </a:r>
            <a:endParaRPr lang="en-US" sz="130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P1.3 — CENTRALIDADES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Grado ≠ intermediación: dos criticidades distintas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0175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Grado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Cercanía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Intermediación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Vector propio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 (17)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 (1,000)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DATCC-2A-C2 (16)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CPAR-C10 (0,404)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AGRPRI-1A-D10 (12)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PE2-CENTRAL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ROUTER-HUAYNA-CAPAC (0,366)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BAL-AUL2-D1 (12)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 (0,366)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CC-ARQUITECTURA-D107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CC-ARQUITECTURA-D107 (10)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PE1-CENTRAL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PE2-CENTRAL (0,288)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CC-MONJAS-D126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3886200"/>
            <a:ext cx="5394960" cy="1737360"/>
          </a:xfrm>
          <a:prstGeom prst="roundRect">
            <a:avLst>
              <a:gd name="adj" fmla="val 421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6" name="Text 3"/>
          <p:cNvSpPr/>
          <p:nvPr/>
        </p:nvSpPr>
        <p:spPr>
          <a:xfrm>
            <a:off x="777240" y="4041648"/>
            <a:ext cx="4937760" cy="50292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Solo 4 de los 10 coinciden entre grado e intermediación</a:t>
            </a:r>
            <a:endParaRPr lang="en-US" sz="1600" dirty="0"/>
          </a:p>
        </p:txBody>
      </p:sp>
      <p:sp>
        <p:nvSpPr>
          <p:cNvPr id="7" name="Text 4"/>
          <p:cNvSpPr/>
          <p:nvPr/>
        </p:nvSpPr>
        <p:spPr>
          <a:xfrm>
            <a:off x="777240" y="4572000"/>
            <a:ext cx="4937760" cy="960120"/>
          </a:xfrm>
          <a:prstGeom prst="rect">
            <a:avLst/>
          </a:prstGeom>
          <a:noFill/>
          <a:ln/>
        </p:spPr>
        <p:txBody>
          <a:bodyPr wrap="square" lIns="0" tIns="0" rIns="0" bIns="0" rtlCol="0" anchor="t"/>
          <a:lstStyle/>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Grado: cuántos vecinos DIRECTOS. Un switch de agregación con muchos puertos ocupados puntúa alto aunque nadie pase por él.</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Intermediación: por cuántos caminos mínimos ENTRE TERCEROS pasa. Aquí puntúan los core y los routers de interconexión.</a:t>
            </a:r>
            <a:endParaRPr lang="en-US" sz="1200" dirty="0"/>
          </a:p>
        </p:txBody>
      </p:sp>
      <p:sp>
        <p:nvSpPr>
          <p:cNvPr id="8" name="Shape 5"/>
          <p:cNvSpPr/>
          <p:nvPr/>
        </p:nvSpPr>
        <p:spPr>
          <a:xfrm>
            <a:off x="6217920" y="3886200"/>
            <a:ext cx="5394960" cy="1737360"/>
          </a:xfrm>
          <a:prstGeom prst="roundRect">
            <a:avLst>
              <a:gd name="adj" fmla="val 421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6"/>
          <p:cNvSpPr/>
          <p:nvPr/>
        </p:nvSpPr>
        <p:spPr>
          <a:xfrm>
            <a:off x="6446520" y="4041648"/>
            <a:ext cx="4937760" cy="36576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Papeles distintos, protección distinta</a:t>
            </a:r>
            <a:endParaRPr lang="en-US" sz="1600" dirty="0"/>
          </a:p>
        </p:txBody>
      </p:sp>
      <p:sp>
        <p:nvSpPr>
          <p:cNvPr id="4" name="Text 7"/>
          <p:cNvSpPr/>
          <p:nvPr/>
        </p:nvSpPr>
        <p:spPr>
          <a:xfrm>
            <a:off x="6446520" y="4480560"/>
            <a:ext cx="4937760" cy="1051560"/>
          </a:xfrm>
          <a:prstGeom prst="rect">
            <a:avLst/>
          </a:prstGeom>
          <a:noFill/>
          <a:ln/>
        </p:spPr>
        <p:txBody>
          <a:bodyPr wrap="square" lIns="0" tIns="0" rIns="0" bIns="0" rtlCol="0" anchor="t"/>
          <a:lstStyle/>
          <a:p>
            <a:pPr marL="0" indent="0">
              <a:spcAft>
                <a:spcPts val="600"/>
              </a:spcAft>
              <a:buNone/>
            </a:pPr>
            <a:r>
              <a:rPr lang="en-US" sz="1250" dirty="0">
                <a:solidFill>
                  <a:srgbClr val="1B1F2A"/>
                </a:solidFill>
                <a:latin typeface="Calibri" pitchFamily="34" charset="0"/>
                <a:ea typeface="Calibri" pitchFamily="34" charset="-122"/>
                <a:cs typeface="Calibri" pitchFamily="34" charset="-120"/>
              </a:rPr>
              <a:t>BAL-AUL2-D1 es crítico para SUS diez equipos. Si cae, esos diez pierden servicio y el resto de la institución ni se entera.</a:t>
            </a:r>
            <a:endParaRPr lang="en-US" sz="1250" dirty="0"/>
          </a:p>
          <a:p>
            <a:pPr marL="0" indent="0">
              <a:spcAft>
                <a:spcPts val="600"/>
              </a:spcAft>
              <a:buNone/>
            </a:pPr>
            <a:r>
              <a:rPr lang="en-US" sz="1250" b="1" dirty="0">
                <a:solidFill>
                  <a:srgbClr val="1B1F2A"/>
                </a:solidFill>
                <a:latin typeface="Calibri" pitchFamily="34" charset="0"/>
                <a:ea typeface="Calibri" pitchFamily="34" charset="-122"/>
                <a:cs typeface="Calibri" pitchFamily="34" charset="-120"/>
              </a:rPr>
              <a:t>DATCC-2A-C3 o CPAR-C10 son críticos PARA TODOS LOS DEMÁS. Si caen, se parte la red.</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326880" y="3840480"/>
            <a:ext cx="4572000" cy="4572000"/>
          </a:xfrm>
          <a:prstGeom prst="ellipse">
            <a:avLst/>
          </a:prstGeom>
          <a:solidFill>
            <a:srgbClr val="A01A24">
              <a:alpha val="35000"/>
            </a:srgbClr>
          </a:solidFill>
          <a:ln w="12700">
            <a:solidFill>
              <a:srgbClr val="A01A24">
                <a:alpha val="0"/>
              </a:srgbClr>
            </a:solidFill>
            <a:prstDash val="solid"/>
          </a:ln>
        </p:spPr>
      </p:sp>
      <p:sp>
        <p:nvSpPr>
          <p:cNvPr id="3" name="Text 1"/>
          <p:cNvSpPr/>
          <p:nvPr/>
        </p:nvSpPr>
        <p:spPr>
          <a:xfrm>
            <a:off x="548640" y="640080"/>
            <a:ext cx="11064240" cy="320040"/>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HALLAZGO 1  ·  P1.6 — CONTRASTE CON EL INFORME TÉCNICO</a:t>
            </a:r>
            <a:endParaRPr lang="en-US" sz="1200" dirty="0"/>
          </a:p>
        </p:txBody>
      </p:sp>
      <p:sp>
        <p:nvSpPr>
          <p:cNvPr id="4" name="Text 2"/>
          <p:cNvSpPr/>
          <p:nvPr/>
        </p:nvSpPr>
        <p:spPr>
          <a:xfrm>
            <a:off x="548640" y="1051560"/>
            <a:ext cx="8686800" cy="11887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El informe institucional sobreestima</a:t>
            </a:r>
            <a:endParaRPr lang="en-US" sz="3400" dirty="0"/>
          </a:p>
          <a:p>
            <a:pPr marL="0" indent="0">
              <a:buNone/>
            </a:pPr>
            <a:r>
              <a:rPr lang="en-US" sz="3400" b="1" dirty="0">
                <a:solidFill>
                  <a:srgbClr val="FFFFFF"/>
                </a:solidFill>
                <a:latin typeface="Cambria" pitchFamily="34" charset="0"/>
                <a:ea typeface="Cambria" pitchFamily="34" charset="-122"/>
                <a:cs typeface="Cambria" pitchFamily="34" charset="-120"/>
              </a:rPr>
              <a:t>la redundancia de Campus Paraíso</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749808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Con redundancia (≥2 enlaces a core)</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Enlace simple</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extLst>
                  <a:ext uri="{0D108BD9-81ED-4DB2-BD59-A6C34878D82A}">
                    <a16:rowId xmlns:a16="http://schemas.microsoft.com/office/drawing/2014/main" val="10000"/>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Balzay</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1"/>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Central</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Campus Paraíso</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extLst>
                  <a:ext uri="{0D108BD9-81ED-4DB2-BD59-A6C34878D82A}">
                    <a16:rowId xmlns:a16="http://schemas.microsoft.com/office/drawing/2014/main" val="10003"/>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Yanuncay</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4"/>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Hospitalidad</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5"/>
                  </a:ext>
                </a:extLst>
              </a:tr>
            </a:tbl>
          </a:graphicData>
        </a:graphic>
      </p:graphicFrame>
      <p:sp>
        <p:nvSpPr>
          <p:cNvPr id="6" name="Text 3"/>
          <p:cNvSpPr/>
          <p:nvPr/>
        </p:nvSpPr>
        <p:spPr>
          <a:xfrm>
            <a:off x="8229600" y="2560320"/>
            <a:ext cx="3383280" cy="2103120"/>
          </a:xfrm>
          <a:prstGeom prst="rect">
            <a:avLst/>
          </a:prstGeom>
          <a:noFill/>
          <a:ln/>
        </p:spPr>
        <p:txBody>
          <a:bodyPr wrap="square" lIns="0" tIns="0" rIns="0" bIns="0" rtlCol="0" anchor="t"/>
          <a:lstStyle/>
          <a:p>
            <a:pPr marL="0" indent="0">
              <a:buNone/>
            </a:pPr>
            <a:r>
              <a:rPr lang="en-US" sz="1300" b="1" dirty="0">
                <a:solidFill>
                  <a:srgbClr val="8FE3B0"/>
                </a:solidFill>
                <a:latin typeface="Calibri" pitchFamily="34" charset="0"/>
                <a:ea typeface="Calibri" pitchFamily="34" charset="-122"/>
                <a:cs typeface="Calibri" pitchFamily="34" charset="-120"/>
              </a:rPr>
              <a:t>CONFIRMA  </a:t>
            </a:r>
            <a:r>
              <a:rPr lang="en-US" sz="1300" dirty="0">
                <a:solidFill>
                  <a:srgbClr val="FFFFFF"/>
                </a:solidFill>
                <a:latin typeface="Calibri" pitchFamily="34" charset="0"/>
                <a:ea typeface="Calibri" pitchFamily="34" charset="-122"/>
                <a:cs typeface="Calibri" pitchFamily="34" charset="-120"/>
              </a:rPr>
              <a:t>la redundancia de Balzay (doble enlace a DT-0A-C12/C13).</a:t>
            </a:r>
            <a:endParaRPr lang="en-US" sz="1300" dirty="0"/>
          </a:p>
          <a:p>
            <a:pPr marL="0" indent="0">
              <a:buNone/>
            </a:pPr>
            <a:r>
              <a:rPr lang="en-US" sz="1300" b="1" dirty="0">
                <a:solidFill>
                  <a:srgbClr val="FF9AA2"/>
                </a:solidFill>
                <a:latin typeface="Calibri" pitchFamily="34" charset="0"/>
                <a:ea typeface="Calibri" pitchFamily="34" charset="-122"/>
                <a:cs typeface="Calibri" pitchFamily="34" charset="-120"/>
              </a:rPr>
              <a:t>REFUTA  </a:t>
            </a:r>
            <a:r>
              <a:rPr lang="en-US" sz="1300" dirty="0">
                <a:solidFill>
                  <a:srgbClr val="FFFFFF"/>
                </a:solidFill>
                <a:latin typeface="Calibri" pitchFamily="34" charset="0"/>
                <a:ea typeface="Calibri" pitchFamily="34" charset="-122"/>
                <a:cs typeface="Calibri" pitchFamily="34" charset="-120"/>
              </a:rPr>
              <a:t>la de Paraíso: sus 6 nodos de agregación tienen un único enlace, todos al MISMO core CPAR-C10. Es agregación de puertos, no redundancia de núcleo.</a:t>
            </a:r>
            <a:endParaRPr lang="en-US" sz="1300" dirty="0"/>
          </a:p>
        </p:txBody>
      </p:sp>
      <p:sp>
        <p:nvSpPr>
          <p:cNvPr id="7" name="Shape 4"/>
          <p:cNvSpPr/>
          <p:nvPr/>
        </p:nvSpPr>
        <p:spPr>
          <a:xfrm>
            <a:off x="548640" y="5074920"/>
            <a:ext cx="11064240" cy="1005840"/>
          </a:xfrm>
          <a:prstGeom prst="roundRect">
            <a:avLst>
              <a:gd name="adj" fmla="val 7273"/>
            </a:avLst>
          </a:prstGeom>
          <a:solidFill>
            <a:srgbClr val="2A3A7A"/>
          </a:solidFill>
          <a:ln w="12700">
            <a:solidFill>
              <a:srgbClr val="2A3A7A"/>
            </a:solidFill>
            <a:prstDash val="solid"/>
          </a:ln>
          <a:effectLst>
            <a:outerShdw blurRad="76200" dist="508" dir="5400000" algn="bl" rotWithShape="0">
              <a:srgbClr val="9AA3B0">
                <a:alpha val="25000"/>
              </a:srgbClr>
            </a:outerShdw>
          </a:effectLst>
        </p:spPr>
      </p:sp>
      <p:sp>
        <p:nvSpPr>
          <p:cNvPr id="8" name="Text 5"/>
          <p:cNvSpPr/>
          <p:nvPr/>
        </p:nvSpPr>
        <p:spPr>
          <a:xfrm>
            <a:off x="822960" y="5212080"/>
            <a:ext cx="10515600" cy="731520"/>
          </a:xfrm>
          <a:prstGeom prst="rect">
            <a:avLst/>
          </a:prstGeom>
          <a:noFill/>
          <a:ln/>
        </p:spPr>
        <p:txBody>
          <a:bodyPr wrap="square" lIns="0" tIns="0" rIns="0" bIns="0" rtlCol="0" anchor="ctr"/>
          <a:lstStyle/>
          <a:p>
            <a:pPr marL="0" indent="0">
              <a:buNone/>
            </a:pPr>
            <a:r>
              <a:rPr lang="en-US" sz="1450" b="1" dirty="0">
                <a:solidFill>
                  <a:srgbClr val="CADCFC"/>
                </a:solidFill>
                <a:latin typeface="Calibri" pitchFamily="34" charset="0"/>
                <a:ea typeface="Calibri" pitchFamily="34" charset="-122"/>
                <a:cs typeface="Calibri" pitchFamily="34" charset="-120"/>
              </a:rPr>
              <a:t>Si CPAR-C10 falla, cae Campus Paraíso entero: 44 equipos, el 25 % de la institución. La Fase 3 lo confirmará por una vía completamente independiente — el flujo máximo.</a:t>
            </a:r>
            <a:endParaRPr lang="en-US" sz="1450" dirty="0"/>
          </a:p>
        </p:txBody>
      </p:sp>
      <p:sp>
        <p:nvSpPr>
          <p:cNvPr id="10" name="Text 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5" name="Text 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P2 — MODELOS NULOS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Qué se explica por la secuencia de grados y qué no</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34747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Modelo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Clustering</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Distancia media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Diámetro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Asortatividad</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UCuenca (real)</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0,0952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5,830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11,0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−0,1468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Erdős–Rényi G(n,m) — 100 realiz.</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0,0147 ± 0,0089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5,584 ± 0,247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13,2 ± 1,4</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−0,0112 ± 0,069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Configuración (grados exactos) — 100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0,0472 ± 0,0151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4,168 ± 0,139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9,2 ± 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−0,0290 ± 0,065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Barabási–Albert (k = 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0,0000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5,040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−0,2335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548640" y="3657600"/>
            <a:ext cx="3550920" cy="1965960"/>
          </a:xfrm>
          <a:prstGeom prst="roundRect">
            <a:avLst>
              <a:gd name="adj" fmla="val 372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6" name="Text 3"/>
          <p:cNvSpPr/>
          <p:nvPr/>
        </p:nvSpPr>
        <p:spPr>
          <a:xfrm>
            <a:off x="731520" y="3794760"/>
            <a:ext cx="3185160" cy="3200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Clustering: +5σ sobre ER</a:t>
            </a:r>
            <a:endParaRPr lang="en-US" sz="1400" dirty="0"/>
          </a:p>
        </p:txBody>
      </p:sp>
      <p:sp>
        <p:nvSpPr>
          <p:cNvPr id="7" name="Text 4"/>
          <p:cNvSpPr/>
          <p:nvPr/>
        </p:nvSpPr>
        <p:spPr>
          <a:xfrm>
            <a:off x="731520" y="4160520"/>
            <a:ext cx="318516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Y también por encima del modelo de configuración (0,0472). La heterogeneidad de grados explica ~2/3 de la diferencia; el tercio restante viene de la topología real: los pares redundantes y la agregación de puertos crean triángulos POR DISEÑO.</a:t>
            </a:r>
            <a:endParaRPr lang="en-US" sz="1200" dirty="0"/>
          </a:p>
        </p:txBody>
      </p:sp>
      <p:sp>
        <p:nvSpPr>
          <p:cNvPr id="8" name="Shape 5"/>
          <p:cNvSpPr/>
          <p:nvPr/>
        </p:nvSpPr>
        <p:spPr>
          <a:xfrm>
            <a:off x="4282440" y="3657600"/>
            <a:ext cx="3550920" cy="1965960"/>
          </a:xfrm>
          <a:prstGeom prst="roundRect">
            <a:avLst>
              <a:gd name="adj" fmla="val 372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6"/>
          <p:cNvSpPr/>
          <p:nvPr/>
        </p:nvSpPr>
        <p:spPr>
          <a:xfrm>
            <a:off x="4465320" y="3794760"/>
            <a:ext cx="3185160" cy="3200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Distancia: MÁS alta que ambos nulos</a:t>
            </a:r>
            <a:endParaRPr lang="en-US" sz="1400" dirty="0"/>
          </a:p>
        </p:txBody>
      </p:sp>
      <p:sp>
        <p:nvSpPr>
          <p:cNvPr id="10" name="Text 7"/>
          <p:cNvSpPr/>
          <p:nvPr/>
        </p:nvSpPr>
        <p:spPr>
          <a:xfrm>
            <a:off x="4465320" y="4160520"/>
            <a:ext cx="318516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5,83 frente a 5,58 y 4,17. La jerarquía estricta OBLIGA a dar más saltos: un nulo puede unir un acceso de Paraíso con uno de Balzay; la red real exige subir, cruzar MPLS y volver a bajar.</a:t>
            </a:r>
            <a:endParaRPr lang="en-US" sz="1200" dirty="0"/>
          </a:p>
        </p:txBody>
      </p:sp>
      <p:sp>
        <p:nvSpPr>
          <p:cNvPr id="11" name="Shape 8"/>
          <p:cNvSpPr/>
          <p:nvPr/>
        </p:nvSpPr>
        <p:spPr>
          <a:xfrm>
            <a:off x="8153400" y="3657600"/>
            <a:ext cx="3459480" cy="1965960"/>
          </a:xfrm>
          <a:prstGeom prst="roundRect">
            <a:avLst>
              <a:gd name="adj" fmla="val 372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4" name="Text 9"/>
          <p:cNvSpPr/>
          <p:nvPr/>
        </p:nvSpPr>
        <p:spPr>
          <a:xfrm>
            <a:off x="8336280" y="3794760"/>
            <a:ext cx="3093720" cy="320040"/>
          </a:xfrm>
          <a:prstGeom prst="rect">
            <a:avLst/>
          </a:prstGeom>
          <a:noFill/>
          <a:ln/>
        </p:spPr>
        <p:txBody>
          <a:bodyPr wrap="square" lIns="0" tIns="0" rIns="0" bIns="0" rtlCol="0" anchor="ctr"/>
          <a:lstStyle/>
          <a:p>
            <a:pPr marL="0" indent="0">
              <a:buNone/>
            </a:pPr>
            <a:r>
              <a:rPr lang="en-US" sz="1400" b="1" dirty="0">
                <a:solidFill>
                  <a:srgbClr val="A01A24"/>
                </a:solidFill>
                <a:latin typeface="Calibri" pitchFamily="34" charset="0"/>
                <a:ea typeface="Calibri" pitchFamily="34" charset="-122"/>
                <a:cs typeface="Calibri" pitchFamily="34" charset="-120"/>
              </a:rPr>
              <a:t>Barabási–Albert: clustering 0</a:t>
            </a:r>
            <a:endParaRPr lang="en-US" sz="1400" dirty="0"/>
          </a:p>
        </p:txBody>
      </p:sp>
      <p:sp>
        <p:nvSpPr>
          <p:cNvPr id="13" name="Text 10"/>
          <p:cNvSpPr/>
          <p:nvPr/>
        </p:nvSpPr>
        <p:spPr>
          <a:xfrm>
            <a:off x="8336280" y="4160520"/>
            <a:ext cx="309372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Una red de infraestructura NO crece por conexión preferencial. Ningún switch se conecta «a quien ya tiene más enlaces»: se conecta a los puertos que le tocan en una jerarquía diseñada de antemano.</a:t>
            </a:r>
            <a:endParaRPr lang="en-US" sz="1200" dirty="0"/>
          </a:p>
        </p:txBody>
      </p:sp>
      <p:sp>
        <p:nvSpPr>
          <p:cNvPr id="15" name="Text 1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P3 — BFS, DFS Y CICLOS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La jerarquía de tres capas solo describe un campus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896112">
                  <a:extLst>
                    <a:ext uri="{9D8B030D-6E8A-4147-A177-3AD203B41FA5}">
                      <a16:colId xmlns:a16="http://schemas.microsoft.com/office/drawing/2014/main" val="20001"/>
                    </a:ext>
                  </a:extLst>
                </a:gridCol>
                <a:gridCol w="896112">
                  <a:extLst>
                    <a:ext uri="{9D8B030D-6E8A-4147-A177-3AD203B41FA5}">
                      <a16:colId xmlns:a16="http://schemas.microsoft.com/office/drawing/2014/main" val="20002"/>
                    </a:ext>
                  </a:extLst>
                </a:gridCol>
                <a:gridCol w="896112">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gridCol w="896112">
                  <a:extLst>
                    <a:ext uri="{9D8B030D-6E8A-4147-A177-3AD203B41FA5}">
                      <a16:colId xmlns:a16="http://schemas.microsoft.com/office/drawing/2014/main" val="20005"/>
                    </a:ext>
                  </a:extLst>
                </a:gridCol>
                <a:gridCol w="896112">
                  <a:extLst>
                    <a:ext uri="{9D8B030D-6E8A-4147-A177-3AD203B41FA5}">
                      <a16:colId xmlns:a16="http://schemas.microsoft.com/office/drawing/2014/main" val="20006"/>
                    </a:ext>
                  </a:extLst>
                </a:gridCol>
                <a:gridCol w="896112">
                  <a:extLst>
                    <a:ext uri="{9D8B030D-6E8A-4147-A177-3AD203B41FA5}">
                      <a16:colId xmlns:a16="http://schemas.microsoft.com/office/drawing/2014/main" val="20007"/>
                    </a:ext>
                  </a:extLst>
                </a:gridCol>
                <a:gridCol w="896112">
                  <a:extLst>
                    <a:ext uri="{9D8B030D-6E8A-4147-A177-3AD203B41FA5}">
                      <a16:colId xmlns:a16="http://schemas.microsoft.com/office/drawing/2014/main" val="20008"/>
                    </a:ext>
                  </a:extLst>
                </a:gridCol>
                <a:gridCol w="896112">
                  <a:extLst>
                    <a:ext uri="{9D8B030D-6E8A-4147-A177-3AD203B41FA5}">
                      <a16:colId xmlns:a16="http://schemas.microsoft.com/office/drawing/2014/main" val="20009"/>
                    </a:ext>
                  </a:extLst>
                </a:gridCol>
              </a:tblGrid>
              <a:tr h="329184">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Distancia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B1F2A"/>
                          </a:solidFill>
                          <a:latin typeface="Calibri" pitchFamily="34" charset="0"/>
                          <a:ea typeface="Calibri" pitchFamily="34" charset="-122"/>
                          <a:cs typeface="Calibri" pitchFamily="34" charset="-120"/>
                        </a:rPr>
                        <a:t>Desde el core de Central</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41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B1F2A"/>
                          </a:solidFill>
                          <a:latin typeface="Calibri" pitchFamily="34" charset="0"/>
                          <a:ea typeface="Calibri" pitchFamily="34" charset="-122"/>
                          <a:cs typeface="Calibri" pitchFamily="34" charset="-120"/>
                        </a:rPr>
                        <a:t>Desde INTERNET-MPLS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97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Shape 2"/>
          <p:cNvSpPr/>
          <p:nvPr/>
        </p:nvSpPr>
        <p:spPr>
          <a:xfrm>
            <a:off x="548640" y="2834640"/>
            <a:ext cx="5394960" cy="1554480"/>
          </a:xfrm>
          <a:prstGeom prst="roundRect">
            <a:avLst>
              <a:gd name="adj" fmla="val 470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6" name="Text 3"/>
          <p:cNvSpPr/>
          <p:nvPr/>
        </p:nvSpPr>
        <p:spPr>
          <a:xfrm>
            <a:off x="777240" y="2971800"/>
            <a:ext cx="4937760" cy="50292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Solo 65 de 177 nodos (37 %) están a distancia ≤ 2 del core</a:t>
            </a:r>
            <a:endParaRPr lang="en-US" sz="1550" dirty="0"/>
          </a:p>
        </p:txBody>
      </p:sp>
      <p:sp>
        <p:nvSpPr>
          <p:cNvPr id="7" name="Text 4"/>
          <p:cNvSpPr/>
          <p:nvPr/>
        </p:nvSpPr>
        <p:spPr>
          <a:xfrm>
            <a:off x="777240" y="3474720"/>
            <a:ext cx="4937760" cy="822960"/>
          </a:xfrm>
          <a:prstGeom prst="rect">
            <a:avLst/>
          </a:prstGeom>
          <a:noFill/>
          <a:ln/>
        </p:spPr>
        <p:txBody>
          <a:bodyPr wrap="square" lIns="0" tIns="0" rIns="0" bIns="0" rtlCol="0" anchor="t"/>
          <a:lstStyle/>
          <a:p>
            <a:pPr marL="0" indent="0">
              <a:buNone/>
            </a:pPr>
            <a:r>
              <a:rPr lang="en-US" sz="1250" dirty="0">
                <a:solidFill>
                  <a:srgbClr val="1B1F2A"/>
                </a:solidFill>
                <a:latin typeface="Calibri" pitchFamily="34" charset="0"/>
                <a:ea typeface="Calibri" pitchFamily="34" charset="-122"/>
                <a:cs typeface="Calibri" pitchFamily="34" charset="-120"/>
              </a:rPr>
              <a:t>La cola llega hasta distancia 8 por dos causas distintas: campus remotos que solo alcanzan Central cruzando la nube MPLS, y equipos de acceso colgados de otros equipos de acceso — un anti-patrón que reaparece en la Fase 4.</a:t>
            </a:r>
            <a:endParaRPr lang="en-US" sz="1250" dirty="0"/>
          </a:p>
        </p:txBody>
      </p:sp>
      <p:sp>
        <p:nvSpPr>
          <p:cNvPr id="8" name="Shape 5"/>
          <p:cNvSpPr/>
          <p:nvPr/>
        </p:nvSpPr>
        <p:spPr>
          <a:xfrm>
            <a:off x="6217920" y="2834640"/>
            <a:ext cx="5394960" cy="1554480"/>
          </a:xfrm>
          <a:prstGeom prst="roundRect">
            <a:avLst>
              <a:gd name="adj" fmla="val 4706"/>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6"/>
          <p:cNvSpPr/>
          <p:nvPr/>
        </p:nvSpPr>
        <p:spPr>
          <a:xfrm>
            <a:off x="6446520" y="2971800"/>
            <a:ext cx="4937760" cy="365760"/>
          </a:xfrm>
          <a:prstGeom prst="rect">
            <a:avLst/>
          </a:prstGeom>
          <a:noFill/>
          <a:ln/>
        </p:spPr>
        <p:txBody>
          <a:bodyPr wrap="square" lIns="0" tIns="0" rIns="0" bIns="0" rtlCol="0" anchor="ctr"/>
          <a:lstStyle/>
          <a:p>
            <a:pPr marL="0" indent="0">
              <a:buNone/>
            </a:pPr>
            <a:r>
              <a:rPr lang="en-US" sz="1550" b="1" dirty="0">
                <a:solidFill>
                  <a:srgbClr val="1E2761"/>
                </a:solidFill>
                <a:latin typeface="Cambria" pitchFamily="34" charset="0"/>
                <a:ea typeface="Cambria" pitchFamily="34" charset="-122"/>
                <a:cs typeface="Cambria" pitchFamily="34" charset="-120"/>
              </a:rPr>
              <a:t>Desde la MPLS el perfil es mucho más compacto</a:t>
            </a:r>
            <a:endParaRPr lang="en-US" sz="1550" dirty="0"/>
          </a:p>
        </p:txBody>
      </p:sp>
      <p:sp>
        <p:nvSpPr>
          <p:cNvPr id="10" name="Text 7"/>
          <p:cNvSpPr/>
          <p:nvPr/>
        </p:nvSpPr>
        <p:spPr>
          <a:xfrm>
            <a:off x="6446520" y="3401568"/>
            <a:ext cx="4937760" cy="914400"/>
          </a:xfrm>
          <a:prstGeom prst="rect">
            <a:avLst/>
          </a:prstGeom>
          <a:noFill/>
          <a:ln/>
        </p:spPr>
        <p:txBody>
          <a:bodyPr wrap="square" lIns="0" tIns="0" rIns="0" bIns="0" rtlCol="0" anchor="t"/>
          <a:lstStyle/>
          <a:p>
            <a:pPr marL="0" indent="0">
              <a:buNone/>
            </a:pPr>
            <a:r>
              <a:rPr lang="en-US" sz="1250" dirty="0">
                <a:solidFill>
                  <a:srgbClr val="1B1F2A"/>
                </a:solidFill>
                <a:latin typeface="Calibri" pitchFamily="34" charset="0"/>
                <a:ea typeface="Calibri" pitchFamily="34" charset="-122"/>
                <a:cs typeface="Calibri" pitchFamily="34" charset="-120"/>
              </a:rPr>
              <a:t>Máximo a distancia 6, con el 88,7 % de la red a distancia ≤ 4. La nube MPLS es, por diseño, el punto más central de la topología inter-campus — lo que ya anticipaba su primer puesto en cercanía.</a:t>
            </a:r>
            <a:endParaRPr lang="en-US" sz="1250" dirty="0"/>
          </a:p>
        </p:txBody>
      </p:sp>
      <p:sp>
        <p:nvSpPr>
          <p:cNvPr id="11" name="Shape 8"/>
          <p:cNvSpPr/>
          <p:nvPr/>
        </p:nvSpPr>
        <p:spPr>
          <a:xfrm>
            <a:off x="548640" y="4572000"/>
            <a:ext cx="11064240" cy="1417320"/>
          </a:xfrm>
          <a:prstGeom prst="roundRect">
            <a:avLst>
              <a:gd name="adj" fmla="val 516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9"/>
          <p:cNvSpPr/>
          <p:nvPr/>
        </p:nvSpPr>
        <p:spPr>
          <a:xfrm>
            <a:off x="777240" y="4681728"/>
            <a:ext cx="106070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Ciclos y la tarea del técnico</a:t>
            </a:r>
            <a:endParaRPr lang="en-US" sz="1400" dirty="0"/>
          </a:p>
        </p:txBody>
      </p:sp>
      <p:sp>
        <p:nvSpPr>
          <p:cNvPr id="13" name="Text 10"/>
          <p:cNvSpPr/>
          <p:nvPr/>
        </p:nvSpPr>
        <p:spPr>
          <a:xfrm>
            <a:off x="777240" y="4983480"/>
            <a:ext cx="10607040" cy="960120"/>
          </a:xfrm>
          <a:prstGeom prst="rect">
            <a:avLst/>
          </a:prstGeom>
          <a:noFill/>
          <a:ln/>
        </p:spPr>
        <p:txBody>
          <a:bodyPr wrap="square" lIns="0" tIns="0" rIns="0" bIns="0" rtlCol="0" anchor="t"/>
          <a:lstStyle/>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Número ciclomático m − n + c = 209 − 177 + 1 = 33. Los 33 ciclos están casi todos en core y agregación de Central y Balzay (12 aristas de retroceso terminan en DATCC-2A-C2). Paraíso y Yanuncay aportan un extremo cada uno: no tienen redundancia interna. Ausencia de ciclos = ausencia de camino alternativo = exactamente donde P1 encontró los puentes.</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¿BFS o DFS para la visita física del técnico? DFS. Un técnico no puede teletransportarse entre ramas como sí hace BFS; DFS avanza por una rama hasta el final antes de retroceder — igual que recorrer un pasillo completo antes de pasar al siguiente.</a:t>
            </a:r>
            <a:endParaRPr lang="en-US" sz="1200" dirty="0"/>
          </a:p>
        </p:txBody>
      </p:sp>
      <p:sp>
        <p:nvSpPr>
          <p:cNvPr id="4" name="Text 1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P4 — COMUNIDADES Y MODULARIDAD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Louvain descubre un «núcleo WAN» propio</a:t>
            </a:r>
            <a:endParaRPr lang="en-US" sz="3000" dirty="0"/>
          </a:p>
        </p:txBody>
      </p:sp>
      <p:sp>
        <p:nvSpPr>
          <p:cNvPr id="4" name="Shape 2"/>
          <p:cNvSpPr/>
          <p:nvPr/>
        </p:nvSpPr>
        <p:spPr>
          <a:xfrm>
            <a:off x="548640" y="1554480"/>
            <a:ext cx="11064240" cy="960120"/>
          </a:xfrm>
          <a:prstGeom prst="roundRect">
            <a:avLst>
              <a:gd name="adj" fmla="val 7619"/>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8580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22</a:t>
            </a:r>
            <a:endParaRPr lang="en-US" sz="4400" dirty="0"/>
          </a:p>
        </p:txBody>
      </p:sp>
      <p:sp>
        <p:nvSpPr>
          <p:cNvPr id="6" name="Text 4"/>
          <p:cNvSpPr/>
          <p:nvPr/>
        </p:nvSpPr>
        <p:spPr>
          <a:xfrm>
            <a:off x="68580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comunidades</a:t>
            </a:r>
            <a:endParaRPr lang="en-US" sz="1100" dirty="0"/>
          </a:p>
        </p:txBody>
      </p:sp>
      <p:sp>
        <p:nvSpPr>
          <p:cNvPr id="7" name="Text 5"/>
          <p:cNvSpPr/>
          <p:nvPr/>
        </p:nvSpPr>
        <p:spPr>
          <a:xfrm>
            <a:off x="283464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0,7504</a:t>
            </a:r>
            <a:endParaRPr lang="en-US" sz="4400" dirty="0"/>
          </a:p>
        </p:txBody>
      </p:sp>
      <p:sp>
        <p:nvSpPr>
          <p:cNvPr id="8" name="Text 6"/>
          <p:cNvSpPr/>
          <p:nvPr/>
        </p:nvSpPr>
        <p:spPr>
          <a:xfrm>
            <a:off x="283464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modularidad Q</a:t>
            </a:r>
            <a:endParaRPr lang="en-US" sz="1100" dirty="0"/>
          </a:p>
        </p:txBody>
      </p:sp>
      <p:sp>
        <p:nvSpPr>
          <p:cNvPr id="9" name="Text 7"/>
          <p:cNvSpPr/>
          <p:nvPr/>
        </p:nvSpPr>
        <p:spPr>
          <a:xfrm>
            <a:off x="498348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0,584</a:t>
            </a:r>
            <a:endParaRPr lang="en-US" sz="4400" dirty="0"/>
          </a:p>
        </p:txBody>
      </p:sp>
      <p:sp>
        <p:nvSpPr>
          <p:cNvPr id="10" name="Text 8"/>
          <p:cNvSpPr/>
          <p:nvPr/>
        </p:nvSpPr>
        <p:spPr>
          <a:xfrm>
            <a:off x="498348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NMI vs. campus</a:t>
            </a:r>
            <a:endParaRPr lang="en-US" sz="1100" dirty="0"/>
          </a:p>
        </p:txBody>
      </p:sp>
      <p:sp>
        <p:nvSpPr>
          <p:cNvPr id="11" name="Text 9"/>
          <p:cNvSpPr/>
          <p:nvPr/>
        </p:nvSpPr>
        <p:spPr>
          <a:xfrm>
            <a:off x="713232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0,190</a:t>
            </a:r>
            <a:endParaRPr lang="en-US" sz="4400" dirty="0"/>
          </a:p>
        </p:txBody>
      </p:sp>
      <p:sp>
        <p:nvSpPr>
          <p:cNvPr id="12" name="Text 10"/>
          <p:cNvSpPr/>
          <p:nvPr/>
        </p:nvSpPr>
        <p:spPr>
          <a:xfrm>
            <a:off x="713232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ARI vs. campus</a:t>
            </a:r>
            <a:endParaRPr lang="en-US" sz="1100" dirty="0"/>
          </a:p>
        </p:txBody>
      </p:sp>
      <p:sp>
        <p:nvSpPr>
          <p:cNvPr id="13" name="Text 11"/>
          <p:cNvSpPr/>
          <p:nvPr/>
        </p:nvSpPr>
        <p:spPr>
          <a:xfrm>
            <a:off x="9281160" y="1627632"/>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11 / 177</a:t>
            </a:r>
            <a:endParaRPr lang="en-US" sz="4400" dirty="0"/>
          </a:p>
        </p:txBody>
      </p:sp>
      <p:sp>
        <p:nvSpPr>
          <p:cNvPr id="14" name="Text 12"/>
          <p:cNvSpPr/>
          <p:nvPr/>
        </p:nvSpPr>
        <p:spPr>
          <a:xfrm>
            <a:off x="9281160" y="2404872"/>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nodos discrepantes</a:t>
            </a:r>
            <a:endParaRPr lang="en-US" sz="1100" dirty="0"/>
          </a:p>
        </p:txBody>
      </p:sp>
      <p:sp>
        <p:nvSpPr>
          <p:cNvPr id="15" name="Text 13"/>
          <p:cNvSpPr/>
          <p:nvPr/>
        </p:nvSpPr>
        <p:spPr>
          <a:xfrm>
            <a:off x="548640" y="2743200"/>
            <a:ext cx="534924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¿NMI moderado y ARI bajo se contradicen? No.</a:t>
            </a:r>
            <a:endParaRPr lang="en-US" sz="1600" dirty="0"/>
          </a:p>
        </p:txBody>
      </p:sp>
      <p:sp>
        <p:nvSpPr>
          <p:cNvPr id="16" name="Text 14"/>
          <p:cNvSpPr/>
          <p:nvPr/>
        </p:nvSpPr>
        <p:spPr>
          <a:xfrm>
            <a:off x="548640" y="3108960"/>
            <a:ext cx="5349240" cy="1920240"/>
          </a:xfrm>
          <a:prstGeom prst="rect">
            <a:avLst/>
          </a:prstGeom>
          <a:noFill/>
          <a:ln/>
        </p:spPr>
        <p:txBody>
          <a:bodyPr wrap="square" lIns="0" tIns="0" rIns="0" bIns="0" rtlCol="0" anchor="t"/>
          <a:lstStyle/>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La matriz de confusión es casi bloque-diagonal: Louvain NO mezcla campus entre sí, pero SÍ subdivide cada campus grande (Central en 11 comunidades, Balzay en 4, Paraíso en 5).</a:t>
            </a:r>
            <a:endParaRPr lang="en-US" sz="1250" dirty="0"/>
          </a:p>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El NMI es moderado porque la partición refina la de campus y comparte mucha información; el ARI es bajo porque penaliza específicamente la sobre-partición. Miden cosas distintas y ambos son correctos.</a:t>
            </a:r>
            <a:endParaRPr lang="en-US" sz="1250" dirty="0"/>
          </a:p>
          <a:p>
            <a:pPr marL="0" indent="0">
              <a:spcAft>
                <a:spcPts val="700"/>
              </a:spcAft>
              <a:buNone/>
            </a:pPr>
            <a:r>
              <a:rPr lang="en-US" sz="1250" b="1" dirty="0">
                <a:solidFill>
                  <a:srgbClr val="1B1F2A"/>
                </a:solidFill>
                <a:latin typeface="Calibri" pitchFamily="34" charset="0"/>
                <a:ea typeface="Calibri" pitchFamily="34" charset="-122"/>
                <a:cs typeface="Calibri" pitchFamily="34" charset="-120"/>
              </a:rPr>
              <a:t>Estabilidad: 21–22 comunidades y Q entre 0,736 y 0,751 en cinco semillas; NMI ≥ 0,928 contra la corrida de referencia.</a:t>
            </a:r>
            <a:endParaRPr lang="en-US" sz="1250" dirty="0"/>
          </a:p>
        </p:txBody>
      </p:sp>
      <p:sp>
        <p:nvSpPr>
          <p:cNvPr id="17" name="Shape 15"/>
          <p:cNvSpPr/>
          <p:nvPr/>
        </p:nvSpPr>
        <p:spPr>
          <a:xfrm>
            <a:off x="6172200" y="2743200"/>
            <a:ext cx="5440680" cy="1417320"/>
          </a:xfrm>
          <a:prstGeom prst="roundRect">
            <a:avLst>
              <a:gd name="adj" fmla="val 516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18" name="Text 16"/>
          <p:cNvSpPr/>
          <p:nvPr/>
        </p:nvSpPr>
        <p:spPr>
          <a:xfrm>
            <a:off x="6400800" y="2880360"/>
            <a:ext cx="4983480" cy="32004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Los 11 discrepantes son el núcleo WAN</a:t>
            </a:r>
            <a:endParaRPr lang="en-US" sz="1600" dirty="0"/>
          </a:p>
        </p:txBody>
      </p:sp>
      <p:sp>
        <p:nvSpPr>
          <p:cNvPr id="19" name="Text 17"/>
          <p:cNvSpPr/>
          <p:nvPr/>
        </p:nvSpPr>
        <p:spPr>
          <a:xfrm>
            <a:off x="6400800" y="3200400"/>
            <a:ext cx="4983480" cy="8686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INTERNET-MPLS, los dos PE de Central, el firewall perimetral y los routers de campus de Paraíso, Yanuncay, Museo y Centro Histórico. Su conectividad real los liga más al bloque WAN que a su campus geográfico. No es un error del algoritmo: es una segunda partición legítima, ortogonal a la geográfica.</a:t>
            </a:r>
            <a:endParaRPr lang="en-US" sz="1200" dirty="0"/>
          </a:p>
        </p:txBody>
      </p:sp>
      <p:sp>
        <p:nvSpPr>
          <p:cNvPr id="20" name="Shape 18"/>
          <p:cNvSpPr/>
          <p:nvPr/>
        </p:nvSpPr>
        <p:spPr>
          <a:xfrm>
            <a:off x="6172200" y="4297680"/>
            <a:ext cx="5440680" cy="1417320"/>
          </a:xfrm>
          <a:prstGeom prst="roundRect">
            <a:avLst>
              <a:gd name="adj" fmla="val 516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1" name="Text 19"/>
          <p:cNvSpPr/>
          <p:nvPr/>
        </p:nvSpPr>
        <p:spPr>
          <a:xfrm>
            <a:off x="6400800" y="4434840"/>
            <a:ext cx="498348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Límite de resolución: sí hay evidencia</a:t>
            </a:r>
            <a:endParaRPr lang="en-US" sz="1600" dirty="0"/>
          </a:p>
        </p:txBody>
      </p:sp>
      <p:sp>
        <p:nvSpPr>
          <p:cNvPr id="22" name="Text 20"/>
          <p:cNvSpPr/>
          <p:nvPr/>
        </p:nvSpPr>
        <p:spPr>
          <a:xfrm>
            <a:off x="6400800" y="4754880"/>
            <a:ext cx="4983480" cy="8686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Con m = 209, √(2m) ≈ 20,4. Museo y Centro Histórico (2 equipos cada una) NO aparecen como comunidades propias pese a ser dominios administrativos separados con su propia VLAN: la modularidad no puede «verlas». k-means espectral (K=22) da NMI 0,834 y ARI 0,372 frente a Louvain.</a:t>
            </a:r>
            <a:endParaRPr lang="en-US" sz="1200" dirty="0"/>
          </a:p>
        </p:txBody>
      </p:sp>
      <p:sp>
        <p:nvSpPr>
          <p:cNvPr id="24" name="Text 2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5" name="Text 2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P5 — CAMINOS MÁS CORTOS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El modelo de peso decide la respuesta</a:t>
            </a:r>
            <a:endParaRPr lang="en-US" sz="3000" dirty="0"/>
          </a:p>
        </p:txBody>
      </p:sp>
      <p:sp>
        <p:nvSpPr>
          <p:cNvPr id="4" name="Shape 2"/>
          <p:cNvSpPr/>
          <p:nvPr/>
        </p:nvSpPr>
        <p:spPr>
          <a:xfrm>
            <a:off x="548640" y="1554480"/>
            <a:ext cx="5394960" cy="1828800"/>
          </a:xfrm>
          <a:prstGeom prst="roundRect">
            <a:avLst>
              <a:gd name="adj" fmla="val 4000"/>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777240" y="1691640"/>
            <a:ext cx="493776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Tres modelos, justificados físicamente</a:t>
            </a:r>
            <a:endParaRPr lang="en-US" sz="1600" dirty="0"/>
          </a:p>
        </p:txBody>
      </p:sp>
      <p:sp>
        <p:nvSpPr>
          <p:cNvPr id="6" name="Text 4"/>
          <p:cNvSpPr/>
          <p:nvPr/>
        </p:nvSpPr>
        <p:spPr>
          <a:xfrm>
            <a:off x="777240" y="2057400"/>
            <a:ext cx="4937760" cy="1234440"/>
          </a:xfrm>
          <a:prstGeom prst="rect">
            <a:avLst/>
          </a:prstGeom>
          <a:noFill/>
          <a:ln/>
        </p:spPr>
        <p:txBody>
          <a:bodyPr wrap="square" lIns="0" tIns="0" rIns="0" bIns="0" rtlCol="0" anchor="t"/>
          <a:lstStyle/>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w_saltos = 1</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w_latencia = α + β/c   con α = 0,05 ms (propagación + conmutación por salto, escala de campus) y β = 12 Mbit (trama Ethernet de 1500 B → β/c = tiempo de serialización en ms)</a:t>
            </a:r>
            <a:endParaRPr lang="en-US" sz="1200" dirty="0"/>
          </a:p>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w_carga = b/c   (fracción de la capacidad ya en uso)</a:t>
            </a:r>
            <a:endParaRPr lang="en-US" sz="1200" dirty="0"/>
          </a:p>
        </p:txBody>
      </p:sp>
      <p:sp>
        <p:nvSpPr>
          <p:cNvPr id="7" name="Shape 5"/>
          <p:cNvSpPr/>
          <p:nvPr/>
        </p:nvSpPr>
        <p:spPr>
          <a:xfrm>
            <a:off x="6217920" y="1554480"/>
            <a:ext cx="5394960" cy="1828800"/>
          </a:xfrm>
          <a:prstGeom prst="roundRect">
            <a:avLst>
              <a:gd name="adj" fmla="val 4000"/>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8" name="Text 6"/>
          <p:cNvSpPr/>
          <p:nvPr/>
        </p:nvSpPr>
        <p:spPr>
          <a:xfrm>
            <a:off x="6446520" y="1691640"/>
            <a:ext cx="493776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Dijkstra vs. Floyd-Warshall</a:t>
            </a:r>
            <a:endParaRPr lang="en-US" sz="1600" dirty="0"/>
          </a:p>
        </p:txBody>
      </p:sp>
      <p:sp>
        <p:nvSpPr>
          <p:cNvPr id="9" name="Text 7"/>
          <p:cNvSpPr/>
          <p:nvPr/>
        </p:nvSpPr>
        <p:spPr>
          <a:xfrm>
            <a:off x="6446520" y="2057400"/>
            <a:ext cx="4937760" cy="1234440"/>
          </a:xfrm>
          <a:prstGeom prst="rect">
            <a:avLst/>
          </a:prstGeom>
          <a:noFill/>
          <a:ln/>
        </p:spPr>
        <p:txBody>
          <a:bodyPr wrap="square" lIns="0" tIns="0" rIns="0" bIns="0" rtlCol="0" anchor="t"/>
          <a:lstStyle/>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Dijkstra con montículo binario propio, O((V+E)log V). Floyd-Warshall clásico, O(V³). Coinciden en 20 pares al azar × 3 modelos = 60 verificaciones.</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El «punto de equilibrio» (cuántas fuentes de Dijkstra cuestan una pasada de FW) crece de ~1 a ~200 con n — justo lo que predice la teoría.</a:t>
            </a:r>
            <a:endParaRPr lang="en-US" sz="1200" dirty="0"/>
          </a:p>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Aquí conviene FW: el análisis necesita la matriz completa (cercanía, p-mediana, p-centro). En n=177 tarda 4 ms.</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Modelo de peso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Coincidencia top-10 de cercanía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Par de acceso más distante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Distancia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w_saltos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 (referencia)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ENF-2B-A122 ↔ POST-2A-A66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11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w_latencia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 10 con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POST-2A-A66 ↔ QUIN-1A-A128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0,639 ms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50" b="1" dirty="0">
                          <a:solidFill>
                            <a:srgbClr val="A01A24"/>
                          </a:solidFill>
                          <a:latin typeface="Calibri" pitchFamily="34" charset="0"/>
                          <a:ea typeface="Calibri" pitchFamily="34" charset="-122"/>
                          <a:cs typeface="Calibri" pitchFamily="34" charset="-120"/>
                        </a:rPr>
                        <a:t>w_carga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A01A24"/>
                          </a:solidFill>
                          <a:latin typeface="Calibri" pitchFamily="34" charset="0"/>
                          <a:ea typeface="Calibri" pitchFamily="34" charset="-122"/>
                          <a:cs typeface="Calibri" pitchFamily="34" charset="-120"/>
                        </a:rPr>
                        <a:t>0 / 10 — cambia por completo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ECOK1-1A-A102 ↔ INV-1B-A162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0,710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8"/>
          <p:cNvSpPr/>
          <p:nvPr/>
        </p:nvSpPr>
        <p:spPr>
          <a:xfrm>
            <a:off x="548640" y="5074920"/>
            <a:ext cx="11064240" cy="1005840"/>
          </a:xfrm>
          <a:prstGeom prst="roundRect">
            <a:avLst>
              <a:gd name="adj" fmla="val 727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9"/>
          <p:cNvSpPr/>
          <p:nvPr/>
        </p:nvSpPr>
        <p:spPr>
          <a:xfrm>
            <a:off x="777240" y="5193792"/>
            <a:ext cx="10607040" cy="7772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51 de 209 aristas tienen tráfico 0 → peso EXACTAMENTE 0 bajo w_carga, y 51 nodos empatan en cercanía. No es un error de cálculo: es una propiedad real del modelo, que mide congestión y no topología.  ·  Ningún modelo puede dar peso negativo (α, β, c &gt; 0; b ≥ 0), así que Dijkstra es siempre válido: no hace falta Bellman-Ford.</a:t>
            </a:r>
            <a:endParaRPr lang="en-US" sz="1250" dirty="0"/>
          </a:p>
        </p:txBody>
      </p:sp>
      <p:sp>
        <p:nvSpPr>
          <p:cNvPr id="14" name="Text 10"/>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1"/>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P6.1 — FUNCIÓN DE CAPACIDAD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Estimar 181 capacidades — y descubrir un dato inconsistente</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74980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Regla de estimación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Aristas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Capacidad</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Documentada explícitamente en el diagrama MPLS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1–20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Troncal core–agregación (el informe declara 10 Gbps, cap. 2.1)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40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rol ∈ {wan, inferido}: por analogía con los enlaces MPLS documentados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1150" i="1" dirty="0">
                          <a:solidFill>
                            <a:srgbClr val="1B1F2A"/>
                          </a:solidFill>
                          <a:latin typeface="Calibri" pitchFamily="34" charset="0"/>
                          <a:ea typeface="Calibri" pitchFamily="34" charset="-122"/>
                          <a:cs typeface="Calibri" pitchFamily="34" charset="-120"/>
                        </a:rPr>
                        <a:t>Agregación–acceso: uplink Ethernet estándar (el supuesto más discutible)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111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Otros (firewalls de interconexión, core–core): por defecto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23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3840480"/>
            <a:ext cx="11064240" cy="1600200"/>
          </a:xfrm>
          <a:prstGeom prst="roundRect">
            <a:avLst>
              <a:gd name="adj" fmla="val 457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6" name="Text 3"/>
          <p:cNvSpPr/>
          <p:nvPr/>
        </p:nvSpPr>
        <p:spPr>
          <a:xfrm>
            <a:off x="822960" y="3959352"/>
            <a:ext cx="10515600" cy="274320"/>
          </a:xfrm>
          <a:prstGeom prst="rect">
            <a:avLst/>
          </a:prstGeom>
          <a:noFill/>
          <a:ln/>
        </p:spPr>
        <p:txBody>
          <a:bodyPr wrap="square" lIns="0" tIns="0" rIns="0" bIns="0" rtlCol="0" anchor="ctr"/>
          <a:lstStyle/>
          <a:p>
            <a:pPr marL="0" indent="0">
              <a:buNone/>
            </a:pPr>
            <a:r>
              <a:rPr lang="en-US" sz="1100" b="1" kern="0" spc="120" dirty="0">
                <a:solidFill>
                  <a:srgbClr val="A01A24"/>
                </a:solidFill>
                <a:latin typeface="Calibri" pitchFamily="34" charset="0"/>
                <a:ea typeface="Calibri" pitchFamily="34" charset="-122"/>
                <a:cs typeface="Calibri" pitchFamily="34" charset="-120"/>
              </a:rPr>
              <a:t>HALLAZGO ORIGINAL  ·  Inconsistencia detectada en el conjunto de datos</a:t>
            </a:r>
            <a:endParaRPr lang="en-US" sz="1100" dirty="0"/>
          </a:p>
        </p:txBody>
      </p:sp>
      <p:sp>
        <p:nvSpPr>
          <p:cNvPr id="7" name="Text 4"/>
          <p:cNvSpPr/>
          <p:nvPr/>
        </p:nvSpPr>
        <p:spPr>
          <a:xfrm>
            <a:off x="822960" y="4251960"/>
            <a:ext cx="10515600"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El enlace DATCC-2A-C2 – DATCC-2A-C3 (los dos core de Central) registra 1 890 Mbps de tráfico medido sobre una capacidad estimada de 1 000 Mbps: b/c = 1,89 &gt; 1, físicamente imposible.</a:t>
            </a:r>
            <a:endParaRPr lang="en-US" sz="1500" dirty="0"/>
          </a:p>
        </p:txBody>
      </p:sp>
      <p:sp>
        <p:nvSpPr>
          <p:cNvPr id="8" name="Text 5"/>
          <p:cNvSpPr/>
          <p:nvPr/>
        </p:nvSpPr>
        <p:spPr>
          <a:xfrm>
            <a:off x="822960" y="4754880"/>
            <a:ext cx="10515600" cy="6400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Es el único de las 209 enlaces con b/c &gt; 1: la medición valida el resto de las reglas y aísla el único punto donde fallan. Cae en la quinta regla (core–core, sin regla específica) y recibe 1 Gbps por defecto; opera necesariamente a 10 Gbps o más. No altera ningún resultado de flujo de este informe — no pertenece a ningún corte mínimo — pero sería obligatorio corregirlo en cualquier extensión.</a:t>
            </a:r>
            <a:endParaRPr lang="en-US" sz="1200" dirty="0"/>
          </a:p>
        </p:txBody>
      </p:sp>
      <p:sp>
        <p:nvSpPr>
          <p:cNvPr id="9" name="Text 6"/>
          <p:cNvSpPr/>
          <p:nvPr/>
        </p:nvSpPr>
        <p:spPr>
          <a:xfrm>
            <a:off x="548640" y="5623560"/>
            <a:ext cx="11064240" cy="457200"/>
          </a:xfrm>
          <a:prstGeom prst="rect">
            <a:avLst/>
          </a:prstGeom>
          <a:noFill/>
          <a:ln/>
        </p:spPr>
        <p:txBody>
          <a:bodyPr wrap="square" lIns="0" tIns="0" rIns="0" bIns="0" rtlCol="0" anchor="ctr"/>
          <a:lstStyle/>
          <a:p>
            <a:pPr marL="0" indent="0">
              <a:buNone/>
            </a:pPr>
            <a:r>
              <a:rPr lang="en-US" sz="1250" dirty="0">
                <a:solidFill>
                  <a:srgbClr val="5B6472"/>
                </a:solidFill>
                <a:latin typeface="Calibri" pitchFamily="34" charset="0"/>
                <a:ea typeface="Calibri" pitchFamily="34" charset="-122"/>
                <a:cs typeface="Calibri" pitchFamily="34" charset="-120"/>
              </a:rPr>
              <a:t>Resultado: 139 aristas a 1 Gbps, 68 a 10 Gbps y 2 a 20 Gbps. Cada supuesto queda registrado arista por arista en p6_capacidad_estimada.csv, para que sea auditable.</a:t>
            </a:r>
            <a:endParaRPr lang="en-US" sz="1250" dirty="0"/>
          </a:p>
        </p:txBody>
      </p:sp>
      <p:sp>
        <p:nvSpPr>
          <p:cNvPr id="11"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P6.2–P6.4 — FLUJO MÁXIMO Y CORTE MÍNIMO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Paraíso: el segundo campus más grande, el peor flujo</a:t>
            </a:r>
            <a:endParaRPr lang="en-US" sz="3000" dirty="0"/>
          </a:p>
        </p:txBody>
      </p:sp>
      <p:graphicFrame>
        <p:nvGraphicFramePr>
          <p:cNvPr id="4" name="Chart 0"/>
          <p:cNvGraphicFramePr/>
          <p:nvPr/>
        </p:nvGraphicFramePr>
        <p:xfrm>
          <a:off x="548640" y="1600200"/>
          <a:ext cx="68580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48640" y="4846320"/>
            <a:ext cx="6858000" cy="457200"/>
          </a:xfrm>
          <a:prstGeom prst="rect">
            <a:avLst/>
          </a:prstGeom>
          <a:noFill/>
          <a:ln/>
        </p:spPr>
        <p:txBody>
          <a:bodyPr wrap="square" lIns="0" tIns="0" rIns="0" bIns="0" rtlCol="0" anchor="ctr"/>
          <a:lstStyle/>
          <a:p>
            <a:pPr marL="0" indent="0">
              <a:buNone/>
            </a:pPr>
            <a:r>
              <a:rPr lang="en-US" sz="1100" i="1" dirty="0">
                <a:solidFill>
                  <a:srgbClr val="5B6472"/>
                </a:solidFill>
                <a:latin typeface="Calibri" pitchFamily="34" charset="0"/>
                <a:ea typeface="Calibri" pitchFamily="34" charset="-122"/>
                <a:cs typeface="Calibri" pitchFamily="34" charset="-120"/>
              </a:rPr>
              <a:t>Flujo máximo de cada campus hacia INTERNET-MPLS (super-fuente sobre sus equipos de acceso). Ford-Fulkerson y Edmonds-Karp coinciden en los 7 casos.</a:t>
            </a:r>
            <a:endParaRPr lang="en-US" sz="1100" dirty="0"/>
          </a:p>
        </p:txBody>
      </p:sp>
      <p:sp>
        <p:nvSpPr>
          <p:cNvPr id="6" name="Shape 3"/>
          <p:cNvSpPr/>
          <p:nvPr/>
        </p:nvSpPr>
        <p:spPr>
          <a:xfrm>
            <a:off x="7680960" y="1600200"/>
            <a:ext cx="3931920" cy="3200400"/>
          </a:xfrm>
          <a:prstGeom prst="roundRect">
            <a:avLst>
              <a:gd name="adj" fmla="val 228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7" name="Text 4"/>
          <p:cNvSpPr/>
          <p:nvPr/>
        </p:nvSpPr>
        <p:spPr>
          <a:xfrm>
            <a:off x="7909560" y="1755648"/>
            <a:ext cx="3474720" cy="32004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Corte mínimo de Paraíso = 1 arista</a:t>
            </a:r>
            <a:endParaRPr lang="en-US" sz="1600" dirty="0"/>
          </a:p>
        </p:txBody>
      </p:sp>
      <p:sp>
        <p:nvSpPr>
          <p:cNvPr id="8" name="Text 5"/>
          <p:cNvSpPr/>
          <p:nvPr/>
        </p:nvSpPr>
        <p:spPr>
          <a:xfrm>
            <a:off x="7909560" y="2121408"/>
            <a:ext cx="3474720" cy="2560320"/>
          </a:xfrm>
          <a:prstGeom prst="rect">
            <a:avLst/>
          </a:prstGeom>
          <a:noFill/>
          <a:ln/>
        </p:spPr>
        <p:txBody>
          <a:bodyPr wrap="square" lIns="0" tIns="0" rIns="0" bIns="0" rtlCol="0" anchor="t"/>
          <a:lstStyle/>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CPAR-C10 — ROUTER-CAMPUS-HUAYNA-CAPAC, 1 000 Mbps.</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Verificación manual del teorema: la suma de capacidades del corte = el flujo máximo, en los 7 campus. Aquí se comprueba en una línea.</a:t>
            </a:r>
            <a:endParaRPr lang="en-US" sz="1200" dirty="0"/>
          </a:p>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Esa arista TAMBIÉN está en la lista de puentes de P1: el cuello de botella físico y el punto de fragilidad topológica coinciden exactamente.</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Mismo patrón en Yanuncay (1 arista) y Hospitalidad (4). En Central el corte son 7 aristas de alta capacidad, ninguna puente: perder una degrada, no desconecta.</a:t>
            </a:r>
            <a:endParaRPr lang="en-US" sz="1200" dirty="0"/>
          </a:p>
        </p:txBody>
      </p:sp>
      <p:sp>
        <p:nvSpPr>
          <p:cNvPr id="9" name="Shape 6"/>
          <p:cNvSpPr/>
          <p:nvPr/>
        </p:nvSpPr>
        <p:spPr>
          <a:xfrm>
            <a:off x="548640" y="534924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7"/>
          <p:cNvSpPr/>
          <p:nvPr/>
        </p:nvSpPr>
        <p:spPr>
          <a:xfrm>
            <a:off x="777240" y="5468112"/>
            <a:ext cx="10607040" cy="5486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Flujo de costo mínimo (P6.5): demanda simultánea Balzay 11 500 + Central 22 000 Mbps, costo 1 por salto y 5 por usar un enlace de respaldo. Se sirve el 100 % con costo 208 500, evitando sistemáticamente los respaldos — objetivo distinto al del flujo máximo puro.</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P8 — LA PARADOJA DE LA ROBUSTEZ</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Robusta al azar, frágil al ataque: 42 nodos contra 4</a:t>
            </a:r>
            <a:endParaRPr lang="en-US" sz="3000" dirty="0"/>
          </a:p>
        </p:txBody>
      </p:sp>
      <p:pic>
        <p:nvPicPr>
          <p:cNvPr id="4" name="Image 0" descr="p8_percolacion_nodos.png"/>
          <p:cNvPicPr>
            <a:picLocks noChangeAspect="1"/>
          </p:cNvPicPr>
          <p:nvPr/>
        </p:nvPicPr>
        <p:blipFill>
          <a:blip r:embed="rId3"/>
          <a:stretch>
            <a:fillRect/>
          </a:stretch>
        </p:blipFill>
        <p:spPr>
          <a:xfrm>
            <a:off x="548640" y="1572768"/>
            <a:ext cx="5760720" cy="3840480"/>
          </a:xfrm>
          <a:prstGeom prst="rect">
            <a:avLst/>
          </a:prstGeom>
        </p:spPr>
      </p:pic>
      <p:sp>
        <p:nvSpPr>
          <p:cNvPr id="5" name="Text 2"/>
          <p:cNvSpPr/>
          <p:nvPr/>
        </p:nvSpPr>
        <p:spPr>
          <a:xfrm>
            <a:off x="548640" y="5440680"/>
            <a:ext cx="5760720" cy="45720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S(f) = tamaño relativo de la componente gigante tras eliminar una fracción f de nodos. Aleatorio: media ± desv. estándar sobre 100 realizaciones.</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29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918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Estrategia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f_c</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S(f = 0,05)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Fallo aleatorio (100 realiz.)</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0,237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0,879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Ataque por 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0,381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Intermediación (estática)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Intermediación (recalculada)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0,053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Shape 3"/>
          <p:cNvSpPr/>
          <p:nvPr/>
        </p:nvSpPr>
        <p:spPr>
          <a:xfrm>
            <a:off x="6583680" y="3429000"/>
            <a:ext cx="5029200" cy="2468880"/>
          </a:xfrm>
          <a:prstGeom prst="roundRect">
            <a:avLst>
              <a:gd name="adj" fmla="val 296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8" name="Text 4"/>
          <p:cNvSpPr/>
          <p:nvPr/>
        </p:nvSpPr>
        <p:spPr>
          <a:xfrm>
            <a:off x="6812280" y="3566160"/>
            <a:ext cx="4572000" cy="27432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Consecuencia operativa</a:t>
            </a:r>
            <a:endParaRPr lang="en-US" sz="1600" dirty="0"/>
          </a:p>
        </p:txBody>
      </p:sp>
      <p:sp>
        <p:nvSpPr>
          <p:cNvPr id="9" name="Text 5"/>
          <p:cNvSpPr/>
          <p:nvPr/>
        </p:nvSpPr>
        <p:spPr>
          <a:xfrm>
            <a:off x="6812280" y="3886200"/>
            <a:ext cx="4572000" cy="1920240"/>
          </a:xfrm>
          <a:prstGeom prst="rect">
            <a:avLst/>
          </a:prstGeom>
          <a:noFill/>
          <a:ln/>
        </p:spPr>
        <p:txBody>
          <a:bodyPr wrap="square" lIns="0" tIns="0" rIns="0" bIns="0" rtlCol="0" anchor="t"/>
          <a:lstStyle/>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Un plan de MANTENIMIENTO puede tratar los fallos como aproximadamente aleatorios: la tolerancia es razonable.</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Un plan de RESPUESTA A INCIDENTES DE SEGURIDAD no puede asumir eso. Un atacante colapsa la red con 4 bajas dirigidas en vez de 42 al azar.</a:t>
            </a:r>
            <a:endParaRPr lang="en-US" sz="1200" dirty="0"/>
          </a:p>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Esos 4–8 equipos necesitan protección desproporcionada respecto a su número: redundancia, monitoreo dedicado y control de acceso físico.</a:t>
            </a:r>
            <a:endParaRPr lang="en-US" sz="1200" dirty="0"/>
          </a:p>
        </p:txBody>
      </p:sp>
      <p:sp>
        <p:nvSpPr>
          <p:cNvPr id="11" name="Text 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P8.4 — EFICIENCIA GLOBAL  ·  P9.1 — CASCADAS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El servicio se degrada mucho antes de que la red se rompa</a:t>
            </a:r>
            <a:endParaRPr lang="en-US" sz="3000" dirty="0"/>
          </a:p>
        </p:txBody>
      </p:sp>
      <p:pic>
        <p:nvPicPr>
          <p:cNvPr id="4" name="Image 0" descr="p8_eficiencia_vs_percolacion.png"/>
          <p:cNvPicPr>
            <a:picLocks noChangeAspect="1"/>
          </p:cNvPicPr>
          <p:nvPr/>
        </p:nvPicPr>
        <p:blipFill>
          <a:blip r:embed="rId3"/>
          <a:stretch>
            <a:fillRect/>
          </a:stretch>
        </p:blipFill>
        <p:spPr>
          <a:xfrm>
            <a:off x="548640" y="1572768"/>
            <a:ext cx="5120640" cy="3410712"/>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0" y="1600200"/>
          <a:ext cx="566928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891540">
                  <a:extLst>
                    <a:ext uri="{9D8B030D-6E8A-4147-A177-3AD203B41FA5}">
                      <a16:colId xmlns:a16="http://schemas.microsoft.com/office/drawing/2014/main" val="20001"/>
                    </a:ext>
                  </a:extLst>
                </a:gridCol>
                <a:gridCol w="89154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891540">
                  <a:extLst>
                    <a:ext uri="{9D8B030D-6E8A-4147-A177-3AD203B41FA5}">
                      <a16:colId xmlns:a16="http://schemas.microsoft.com/office/drawing/2014/main" val="20004"/>
                    </a:ext>
                  </a:extLst>
                </a:gridCol>
              </a:tblGrid>
              <a:tr h="36576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f (nodos eliminados)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0,02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0,20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65760">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E(f)/E(0) — fallo aleatorio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0,785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0,598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0,388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E(f)/E(0) — ataque dirigido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0,611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0,148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0,057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Shape 2"/>
          <p:cNvSpPr/>
          <p:nvPr/>
        </p:nvSpPr>
        <p:spPr>
          <a:xfrm>
            <a:off x="5943600" y="2880360"/>
            <a:ext cx="5669280" cy="1417320"/>
          </a:xfrm>
          <a:prstGeom prst="roundRect">
            <a:avLst>
              <a:gd name="adj" fmla="val 516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7" name="Text 3"/>
          <p:cNvSpPr/>
          <p:nvPr/>
        </p:nvSpPr>
        <p:spPr>
          <a:xfrm>
            <a:off x="6172200" y="3017520"/>
            <a:ext cx="5212080" cy="1143000"/>
          </a:xfrm>
          <a:prstGeom prst="rect">
            <a:avLst/>
          </a:prstGeom>
          <a:noFill/>
          <a:ln/>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La eficiencia pondera el INVERSO de la distancia: un nodo que sigue conectado pero ahora a 8 saltos en vez de 2 aporta casi nada a E, aunque siga contando entero en la componente gigante. La red puede seguir «arriba» mucho después de que el servicio percibido se haya degradado severamente.</a:t>
            </a:r>
            <a:endParaRPr lang="en-US" sz="1200" dirty="0"/>
          </a:p>
        </p:txBody>
      </p:sp>
      <p:sp>
        <p:nvSpPr>
          <p:cNvPr id="8" name="Shape 4"/>
          <p:cNvSpPr/>
          <p:nvPr/>
        </p:nvSpPr>
        <p:spPr>
          <a:xfrm>
            <a:off x="548640" y="5120640"/>
            <a:ext cx="11064240" cy="1051560"/>
          </a:xfrm>
          <a:prstGeom prst="roundRect">
            <a:avLst>
              <a:gd name="adj" fmla="val 6957"/>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5"/>
          <p:cNvSpPr/>
          <p:nvPr/>
        </p:nvSpPr>
        <p:spPr>
          <a:xfrm>
            <a:off x="822960" y="5230368"/>
            <a:ext cx="10515600" cy="292608"/>
          </a:xfrm>
          <a:prstGeom prst="rect">
            <a:avLst/>
          </a:prstGeom>
          <a:noFill/>
          <a:ln/>
        </p:spPr>
        <p:txBody>
          <a:bodyPr wrap="square" lIns="0" tIns="0" rIns="0" bIns="0" rtlCol="0" anchor="ctr"/>
          <a:lstStyle/>
          <a:p>
            <a:pPr marL="0" indent="0">
              <a:buNone/>
            </a:pPr>
            <a:r>
              <a:rPr lang="en-US" sz="1500" b="1" dirty="0">
                <a:solidFill>
                  <a:srgbClr val="A01A24"/>
                </a:solidFill>
                <a:latin typeface="Cambria" pitchFamily="34" charset="0"/>
                <a:ea typeface="Cambria" pitchFamily="34" charset="-122"/>
                <a:cs typeface="Cambria" pitchFamily="34" charset="-120"/>
              </a:rPr>
              <a:t>P9.1–P9.2 — No hay efecto dominó de NODOS: la fragilidad es de CONECTIVIDAD, no de SOBRECARGA masiva</a:t>
            </a:r>
            <a:endParaRPr lang="en-US" sz="1500" dirty="0"/>
          </a:p>
        </p:txBody>
      </p:sp>
      <p:sp>
        <p:nvSpPr>
          <p:cNvPr id="10" name="Text 6"/>
          <p:cNvSpPr/>
          <p:nvPr/>
        </p:nvSpPr>
        <p:spPr>
          <a:xfrm>
            <a:off x="822960" y="5513832"/>
            <a:ext cx="10515600" cy="621792"/>
          </a:xfrm>
          <a:prstGeom prst="rect">
            <a:avLst/>
          </a:prstGeom>
          <a:noFill/>
          <a:ln/>
        </p:spPr>
        <p:txBody>
          <a:bodyPr wrap="square" lIns="0" tIns="0" rIns="0" bIns="0" rtlCol="0" anchor="t"/>
          <a:lstStyle/>
          <a:p>
            <a:pPr marL="0" indent="0">
              <a:buNone/>
            </a:pPr>
            <a:r>
              <a:rPr lang="en-US" sz="1050" dirty="0">
                <a:solidFill>
                  <a:srgbClr val="1B1F2A"/>
                </a:solidFill>
                <a:latin typeface="Calibri" pitchFamily="34" charset="0"/>
                <a:ea typeface="Calibri" pitchFamily="34" charset="-122"/>
                <a:cs typeface="Calibri" pitchFamily="34" charset="-120"/>
              </a:rPr>
              <a:t>Modelo de Motter-Lai (carga=intermediación, Cᵢ=(1+τ)Lᵢ, 13 valores de τ): con el criterio de NODOS, ningún nodo desencadena una cascada &gt;8,5 % de la red, ni con τ=0 — no hay τ_c positivo. Con un criterio ALTERNATIVO —fracción de CAPACIDAD (Mbps) afectada—, 8 de 15 candidatos superan 20 %, y en dos (core/WAN) el daño no baja de ese umbral ni con τ=1,0: pocos nodos caen, pero si son del núcleo, se llevan mucha capacidad.</a:t>
            </a:r>
            <a:endParaRPr lang="en-US" sz="1200" dirty="0"/>
          </a:p>
        </p:txBody>
      </p:sp>
      <p:sp>
        <p:nvSpPr>
          <p:cNvPr id="12"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P9.3–P9.4 — EPIDEMIAS E INMUNIZACIÓN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Inmunizar 11 equipos bien elegidos vale por siete al azar</a:t>
            </a:r>
            <a:endParaRPr lang="en-US" sz="3000" dirty="0"/>
          </a:p>
        </p:txBody>
      </p:sp>
      <p:pic>
        <p:nvPicPr>
          <p:cNvPr id="4" name="Image 0" descr="p9_sir_umbral.png"/>
          <p:cNvPicPr>
            <a:picLocks noChangeAspect="1"/>
          </p:cNvPicPr>
          <p:nvPr/>
        </p:nvPicPr>
        <p:blipFill>
          <a:blip r:embed="rId3"/>
          <a:stretch>
            <a:fillRect/>
          </a:stretch>
        </p:blipFill>
        <p:spPr>
          <a:xfrm>
            <a:off x="548640" y="1600200"/>
            <a:ext cx="4846320" cy="3227832"/>
          </a:xfrm>
          <a:prstGeom prst="rect">
            <a:avLst/>
          </a:prstGeom>
        </p:spPr>
      </p:pic>
      <p:sp>
        <p:nvSpPr>
          <p:cNvPr id="5" name="Text 2"/>
          <p:cNvSpPr/>
          <p:nvPr/>
        </p:nvSpPr>
        <p:spPr>
          <a:xfrm>
            <a:off x="548640" y="4892040"/>
            <a:ext cx="4846320" cy="45720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λ_c = ⟨k⟩/⟨k²⟩ = 2,362/12,689 = 0,1861 (campo medio). SIR discreto, γ = 0,3, 60 realizaciones por punto.</a:t>
            </a:r>
            <a:endParaRPr lang="en-US" sz="1050" dirty="0"/>
          </a:p>
        </p:txBody>
      </p:sp>
      <p:graphicFrame>
        <p:nvGraphicFramePr>
          <p:cNvPr id="6" name="Chart 0"/>
          <p:cNvGraphicFramePr/>
          <p:nvPr/>
        </p:nvGraphicFramePr>
        <p:xfrm>
          <a:off x="5760720" y="1600200"/>
          <a:ext cx="5852160" cy="283464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 3"/>
          <p:cNvSpPr/>
          <p:nvPr/>
        </p:nvSpPr>
        <p:spPr>
          <a:xfrm>
            <a:off x="5760720" y="4480560"/>
            <a:ext cx="5852160" cy="365760"/>
          </a:xfrm>
          <a:prstGeom prst="rect">
            <a:avLst/>
          </a:prstGeom>
          <a:noFill/>
          <a:ln/>
        </p:spPr>
        <p:txBody>
          <a:bodyPr wrap="square" lIns="0" tIns="0" rIns="0" bIns="0" rtlCol="0" anchor="ctr"/>
          <a:lstStyle/>
          <a:p>
            <a:pPr marL="0" indent="0">
              <a:buNone/>
            </a:pPr>
            <a:r>
              <a:rPr lang="en-US" sz="1100" i="1" dirty="0">
                <a:solidFill>
                  <a:srgbClr val="5B6472"/>
                </a:solidFill>
                <a:latin typeface="Calibri" pitchFamily="34" charset="0"/>
                <a:ea typeface="Calibri" pitchFamily="34" charset="-122"/>
                <a:cs typeface="Calibri" pitchFamily="34" charset="-120"/>
              </a:rPr>
              <a:t>Mismo presupuesto: 11 equipos parcheados (≈6 % de la red), λ = 8λ_c, 200 realizaciones.</a:t>
            </a:r>
            <a:endParaRPr lang="en-US" sz="1100" dirty="0"/>
          </a:p>
        </p:txBody>
      </p:sp>
      <p:sp>
        <p:nvSpPr>
          <p:cNvPr id="8" name="Shape 4"/>
          <p:cNvSpPr/>
          <p:nvPr/>
        </p:nvSpPr>
        <p:spPr>
          <a:xfrm>
            <a:off x="5760720" y="4892040"/>
            <a:ext cx="5852160" cy="1234440"/>
          </a:xfrm>
          <a:prstGeom prst="roundRect">
            <a:avLst>
              <a:gd name="adj" fmla="val 592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5"/>
          <p:cNvSpPr/>
          <p:nvPr/>
        </p:nvSpPr>
        <p:spPr>
          <a:xfrm>
            <a:off x="5989320" y="5010912"/>
            <a:ext cx="5394960" cy="100584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Reducción: 11,0 % (aleatoria) vs. 77,2 % (centralidad) — siete veces más. Y un segundo efecto menos citado: la desviación estándar cae de 29,7 % a 3,0 %. La inmunización dirigida no solo reduce el daño esperado: elimina el riesgo de cola.</a:t>
            </a:r>
            <a:endParaRPr lang="en-US" sz="1200" dirty="0"/>
          </a:p>
        </p:txBody>
      </p:sp>
      <p:sp>
        <p:nvSpPr>
          <p:cNvPr id="10" name="Shape 6"/>
          <p:cNvSpPr/>
          <p:nvPr/>
        </p:nvSpPr>
        <p:spPr>
          <a:xfrm>
            <a:off x="548640" y="5440680"/>
            <a:ext cx="4846320" cy="685800"/>
          </a:xfrm>
          <a:prstGeom prst="roundRect">
            <a:avLst>
              <a:gd name="adj" fmla="val 10667"/>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1" name="Text 7"/>
          <p:cNvSpPr/>
          <p:nvPr/>
        </p:nvSpPr>
        <p:spPr>
          <a:xfrm>
            <a:off x="731520" y="5532120"/>
            <a:ext cx="4480560" cy="548640"/>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Con n = 177 la dispersión es del orden de la media cerca del umbral: la figura confirma el orden de magnitud, no localiza λ_c con precisión.</a:t>
            </a:r>
            <a:endParaRPr lang="en-US" sz="1100" dirty="0"/>
          </a:p>
        </p:txBody>
      </p:sp>
      <p:sp>
        <p:nvSpPr>
          <p:cNvPr id="13"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4"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P10 — DIAGNÓSTICO DE PUNTOS CRÍTICOS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Cuatro señales independientes, un solo ranking</a:t>
            </a:r>
            <a:endParaRPr lang="en-US" sz="3000" dirty="0"/>
          </a:p>
        </p:txBody>
      </p:sp>
      <p:sp>
        <p:nvSpPr>
          <p:cNvPr id="4" name="Text 2"/>
          <p:cNvSpPr/>
          <p:nvPr/>
        </p:nvSpPr>
        <p:spPr>
          <a:xfrm>
            <a:off x="548640" y="1572768"/>
            <a:ext cx="11064240" cy="548640"/>
          </a:xfrm>
          <a:prstGeom prst="rect">
            <a:avLst/>
          </a:prstGeom>
          <a:noFill/>
          <a:ln/>
        </p:spPr>
        <p:txBody>
          <a:bodyPr wrap="square" lIns="0" tIns="0" rIns="0" bIns="0" rtlCol="0" anchor="ctr"/>
          <a:lstStyle/>
          <a:p>
            <a:pPr marL="0" indent="0">
              <a:buNone/>
            </a:pPr>
            <a:r>
              <a:rPr lang="en-US" sz="1250" dirty="0">
                <a:solidFill>
                  <a:srgbClr val="1B1F2A"/>
                </a:solidFill>
                <a:latin typeface="Calibri" pitchFamily="34" charset="0"/>
                <a:ea typeface="Calibri" pitchFamily="34" charset="-122"/>
                <a:cs typeface="Calibri" pitchFamily="34" charset="-120"/>
              </a:rPr>
              <a:t>Índice compuesto = promedio de 4 componentes normalizados a [0,1]: intermediación (P1) + condición de punto de articulación (P1) + participación en los cortes mínimos (P6) + daño causado en la cascada (P9). Pesos iguales, declarados como punto de partida a falta de una prioridad de negocio de la institución.</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64240" cy="914400"/>
        </p:xfrm>
        <a:graphic>
          <a:graphicData uri="http://schemas.openxmlformats.org/drawingml/2006/table">
            <a:tbl>
              <a:tblPr/>
              <a:tblGrid>
                <a:gridCol w="5486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960120">
                  <a:extLst>
                    <a:ext uri="{9D8B030D-6E8A-4147-A177-3AD203B41FA5}">
                      <a16:colId xmlns:a16="http://schemas.microsoft.com/office/drawing/2014/main" val="20007"/>
                    </a:ext>
                  </a:extLst>
                </a:gridCol>
              </a:tblGrid>
              <a:tr h="30175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Equipo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Interm.</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Artic.</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Cortes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Índice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INTERNET-MPLS</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Nube MPLS</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0,818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0,682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BAL-AUL2-D1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0,248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0,585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DATCC-2A-C3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0,530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CPAR-C10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0,905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0,524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ROUTER-CAMPUS-HUAYNA-CAPAC</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0,820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0,503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BAL-CENTEC-D2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0,126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0,429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6"/>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7–8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BAL-AUL1-D4 · HOS-0A-D05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 · Hospitalidad</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0,101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0,398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7"/>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CB-EADMI-D6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0,150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8"/>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FORTIGATE-1800F-CENTRAL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interconexión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0,417</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0,382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Shape 3"/>
          <p:cNvSpPr/>
          <p:nvPr/>
        </p:nvSpPr>
        <p:spPr>
          <a:xfrm>
            <a:off x="548640" y="548640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7" name="Text 4"/>
          <p:cNvSpPr/>
          <p:nvPr/>
        </p:nvSpPr>
        <p:spPr>
          <a:xfrm>
            <a:off x="777240" y="5605272"/>
            <a:ext cx="10607040" cy="5486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Cinco de los diez puestos son switches de agregación — confirma que la fragilidad no está en el núcleo. El segundo puesto, BAL-AUL2-D1, tiene intermediación modesta (0,248) pero participa en 10 cortes mínimos: ninguna centralidad clásica por sí sola lo habría detectado. Ese es el valor de combinar cuatro señales.</a:t>
            </a:r>
            <a:endParaRPr lang="en-US" sz="125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P11.1 — QUÉ CONSTRUIR</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Cinco intervenciones, cada una derivada del diagnóstico</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5120640">
                  <a:extLst>
                    <a:ext uri="{9D8B030D-6E8A-4147-A177-3AD203B41FA5}">
                      <a16:colId xmlns:a16="http://schemas.microsoft.com/office/drawing/2014/main" val="20004"/>
                    </a:ext>
                  </a:extLst>
                </a:gridCol>
              </a:tblGrid>
              <a:tr h="45720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Tipo</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Enlace</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Qué problema del diagnóstico resuelve</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Duplicar</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CPAR-C10 — ROUTER-CAMPUS-HUAYNA-CAPAC</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El cuello de botella de flujo más severo de la institución (P6). Se sube al estándar de 10 Gbps del resto de troncales WAN.</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HOS-0A-D05 — FORTIGATE-1800F-CENTRAL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Hospitalidad depende de un único enlace inferido a MPLS y es punto de articulación (P1). Ruta alterna vía el firewall de 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CCJ-CJURIDICO-D4 — DATCC-2A-C2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Mismo patrón para el Consultorio Jurídico. Ruta alterna vía un core de Campus 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ROUTER-CAMPUS-YANUNCAY — DATCC-2A-C3</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Yanuncay (11 equipos de acceso) depende de un único enlace troncal para salir del campus.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AUL2-0A-A121 — BAL-CENTEC-D2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Mitigación del equipo de mayor tráfico (81,71 Mbps) tras BAL-AUL2-D1, segundo puesto de P10.</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4709160"/>
            <a:ext cx="11064240" cy="1371600"/>
          </a:xfrm>
          <a:prstGeom prst="roundRect">
            <a:avLst>
              <a:gd name="adj" fmla="val 533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6" name="Text 3"/>
          <p:cNvSpPr/>
          <p:nvPr/>
        </p:nvSpPr>
        <p:spPr>
          <a:xfrm>
            <a:off x="822960" y="4828032"/>
            <a:ext cx="105156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Nota de modelado, declarada explícitamente</a:t>
            </a:r>
            <a:endParaRPr lang="en-US" sz="1500" dirty="0"/>
          </a:p>
        </p:txBody>
      </p:sp>
      <p:sp>
        <p:nvSpPr>
          <p:cNvPr id="7" name="Text 4"/>
          <p:cNvSpPr/>
          <p:nvPr/>
        </p:nvSpPr>
        <p:spPr>
          <a:xfrm>
            <a:off x="822960" y="5120640"/>
            <a:ext cx="10515600" cy="9144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«Duplicar» un enlace en un grafo simple NO crea una arista nueva: una segunda fibra entre el mismo par de equipos protege contra el corte de una fibra, pero no contra la falla del equipo. Por eso la intervención 1 se modela como aumento de CAPACIDAD — afecta al flujo, no al conteo de puentes ni de articulación — mientras que las otras cuatro son aristas topológicamente nuevas. Ocultar esa distinción habría inflado artificialmente la mejora reportada.</a:t>
            </a:r>
            <a:endParaRPr lang="en-US" sz="120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P11.2–P11.3 — CUANTIFICACIÓN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Antes / después, y por qué gana a las alternativas ingenuas</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778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2918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Métrica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Antes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Después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Variación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Puentes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  (−2,1 %)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Puntos de articulación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  (−2,1 %)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Distancia media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Eficiencia global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Robustez (AUC percolación)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0,0477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0,0495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+3,7 %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Flujo máximo Paraíso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+900 %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6400800" y="1600200"/>
          <a:ext cx="5212080" cy="914400"/>
        </p:xfrm>
        <a:graphic>
          <a:graphicData uri="http://schemas.openxmlformats.org/drawingml/2006/table">
            <a:tbl>
              <a:tblPr/>
              <a:tblGrid>
                <a:gridCol w="1572768">
                  <a:extLst>
                    <a:ext uri="{9D8B030D-6E8A-4147-A177-3AD203B41FA5}">
                      <a16:colId xmlns:a16="http://schemas.microsoft.com/office/drawing/2014/main" val="20000"/>
                    </a:ext>
                  </a:extLst>
                </a:gridCol>
                <a:gridCol w="786384">
                  <a:extLst>
                    <a:ext uri="{9D8B030D-6E8A-4147-A177-3AD203B41FA5}">
                      <a16:colId xmlns:a16="http://schemas.microsoft.com/office/drawing/2014/main" val="20001"/>
                    </a:ext>
                  </a:extLst>
                </a:gridCol>
                <a:gridCol w="969264">
                  <a:extLst>
                    <a:ext uri="{9D8B030D-6E8A-4147-A177-3AD203B41FA5}">
                      <a16:colId xmlns:a16="http://schemas.microsoft.com/office/drawing/2014/main" val="20002"/>
                    </a:ext>
                  </a:extLst>
                </a:gridCol>
                <a:gridCol w="969264">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Propuesta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Puentes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Dist. media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Eficiencia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Flujo Paraíso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Red base</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P11 (justificada)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Alt. A: mayor 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4,741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0,2440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Alt. B: aleatoria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5,718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0,2120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2"/>
          <p:cNvSpPr/>
          <p:nvPr/>
        </p:nvSpPr>
        <p:spPr>
          <a:xfrm>
            <a:off x="6400800" y="3584448"/>
            <a:ext cx="5212080" cy="2176272"/>
          </a:xfrm>
          <a:prstGeom prst="roundRect">
            <a:avLst>
              <a:gd name="adj" fmla="val 336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7" name="Text 3"/>
          <p:cNvSpPr/>
          <p:nvPr/>
        </p:nvSpPr>
        <p:spPr>
          <a:xfrm>
            <a:off x="6629400" y="3694176"/>
            <a:ext cx="4754880" cy="32004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A primera vista las alternativas ganan… y no</a:t>
            </a:r>
            <a:endParaRPr lang="en-US" sz="1550" dirty="0"/>
          </a:p>
        </p:txBody>
      </p:sp>
      <p:sp>
        <p:nvSpPr>
          <p:cNvPr id="8" name="Text 4"/>
          <p:cNvSpPr/>
          <p:nvPr/>
        </p:nvSpPr>
        <p:spPr>
          <a:xfrm>
            <a:off x="6629400" y="4041648"/>
            <a:ext cx="4754880" cy="1645920"/>
          </a:xfrm>
          <a:prstGeom prst="rect">
            <a:avLst/>
          </a:prstGeom>
          <a:noFill/>
          <a:ln/>
        </p:spPr>
        <p:txBody>
          <a:bodyPr wrap="square" lIns="0" tIns="0" rIns="0" bIns="0" rtlCol="0" anchor="t"/>
          <a:lstStyle/>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«Mayor grado» conecta pares de core/agregación que YA tienen múltiples caminos entre sí: son atajos genéricos, mejoran las métricas promedio y no reparan ningún punto de articulación real. Su robustez AUC es idéntica a la de la red base.</a:t>
            </a:r>
            <a:endParaRPr lang="en-US" sz="1150" dirty="0"/>
          </a:p>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La aleatoria reduce más los puentes por pura estadística: con 5 aristas al azar entre 177 nodos es probable tocar algún puente. Mejora sin dirección: no se sabe qué se reparó.</a:t>
            </a:r>
            <a:endParaRPr lang="en-US" sz="1150" dirty="0"/>
          </a:p>
          <a:p>
            <a:pPr marL="0" indent="0">
              <a:spcAft>
                <a:spcPts val="500"/>
              </a:spcAft>
              <a:buNone/>
            </a:pPr>
            <a:r>
              <a:rPr lang="en-US" sz="1150" b="1" dirty="0">
                <a:solidFill>
                  <a:srgbClr val="1B1F2A"/>
                </a:solidFill>
                <a:latin typeface="Calibri" pitchFamily="34" charset="0"/>
                <a:ea typeface="Calibri" pitchFamily="34" charset="-122"/>
                <a:cs typeface="Calibri" pitchFamily="34" charset="-120"/>
              </a:rPr>
              <a:t>Ninguna de las dos resuelve Paraíso (2 000 vs. 10 000) y ninguna toca Hospitalidad.</a:t>
            </a:r>
            <a:endParaRPr lang="en-US" sz="1150" dirty="0"/>
          </a:p>
        </p:txBody>
      </p:sp>
      <p:sp>
        <p:nvSpPr>
          <p:cNvPr id="9" name="Shape 5"/>
          <p:cNvSpPr/>
          <p:nvPr/>
        </p:nvSpPr>
        <p:spPr>
          <a:xfrm>
            <a:off x="548640" y="3977640"/>
            <a:ext cx="5577840" cy="1783080"/>
          </a:xfrm>
          <a:prstGeom prst="roundRect">
            <a:avLst>
              <a:gd name="adj" fmla="val 410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6"/>
          <p:cNvSpPr/>
          <p:nvPr/>
        </p:nvSpPr>
        <p:spPr>
          <a:xfrm>
            <a:off x="777240" y="4096512"/>
            <a:ext cx="51206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Por qué el flujo de Hospitalidad no cambia</a:t>
            </a:r>
            <a:endParaRPr lang="en-US" sz="1350" dirty="0"/>
          </a:p>
        </p:txBody>
      </p:sp>
      <p:sp>
        <p:nvSpPr>
          <p:cNvPr id="11" name="Text 7"/>
          <p:cNvSpPr/>
          <p:nvPr/>
        </p:nvSpPr>
        <p:spPr>
          <a:xfrm>
            <a:off x="777240" y="4389120"/>
            <a:ext cx="5120640" cy="123444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Su cuello de botella real no está en la salida del campus sino en la capa agregación–acceso interna (4 enlaces de 1 Gbps hacia HOS-0A-D05). La nueva ruta mejora la robustez topológica — que era el objetivo — sin tocar esa capacidad. Lo digo en vez de disimularlo.</a:t>
            </a:r>
            <a:endParaRPr lang="en-US" sz="1150" dirty="0"/>
          </a:p>
        </p:txBody>
      </p:sp>
      <p:sp>
        <p:nvSpPr>
          <p:cNvPr id="12" name="Text 8"/>
          <p:cNvSpPr/>
          <p:nvPr/>
        </p:nvSpPr>
        <p:spPr>
          <a:xfrm>
            <a:off x="548640" y="5897880"/>
            <a:ext cx="11064240" cy="32004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Optimizar una métrica agregada no es lo mismo que reparar un modo de falla.</a:t>
            </a:r>
            <a:endParaRPr lang="en-US" sz="1500" dirty="0"/>
          </a:p>
        </p:txBody>
      </p:sp>
      <p:sp>
        <p:nvSpPr>
          <p:cNvPr id="14" name="Text 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CIERRE</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Seis conclusiones y cinco limitaciones</a:t>
            </a:r>
            <a:endParaRPr lang="en-US" sz="3000" dirty="0"/>
          </a:p>
        </p:txBody>
      </p:sp>
      <p:sp>
        <p:nvSpPr>
          <p:cNvPr id="4" name="Shape 2"/>
          <p:cNvSpPr/>
          <p:nvPr/>
        </p:nvSpPr>
        <p:spPr>
          <a:xfrm>
            <a:off x="548640" y="1554480"/>
            <a:ext cx="384048" cy="384048"/>
          </a:xfrm>
          <a:prstGeom prst="ellipse">
            <a:avLst/>
          </a:prstGeom>
          <a:solidFill>
            <a:srgbClr val="1E2761"/>
          </a:solidFill>
          <a:ln w="12700">
            <a:solidFill>
              <a:srgbClr val="1E2761"/>
            </a:solidFill>
            <a:prstDash val="solid"/>
          </a:ln>
        </p:spPr>
      </p:sp>
      <p:sp>
        <p:nvSpPr>
          <p:cNvPr id="5" name="Text 3"/>
          <p:cNvSpPr/>
          <p:nvPr/>
        </p:nvSpPr>
        <p:spPr>
          <a:xfrm>
            <a:off x="548640" y="15544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78992" y="153619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Jerarquía dispersa por diseño</a:t>
            </a:r>
            <a:endParaRPr lang="en-US" sz="1400" dirty="0"/>
          </a:p>
        </p:txBody>
      </p:sp>
      <p:sp>
        <p:nvSpPr>
          <p:cNvPr id="7" name="Text 5"/>
          <p:cNvSpPr/>
          <p:nvPr/>
        </p:nvSpPr>
        <p:spPr>
          <a:xfrm>
            <a:off x="1078992" y="181051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Clustering casi nulo y asortatividad negativa se explican por heterogeneidad de grado y diseño, no por patrones sociales.</a:t>
            </a:r>
            <a:endParaRPr lang="en-US" sz="1200" dirty="0"/>
          </a:p>
        </p:txBody>
      </p:sp>
      <p:sp>
        <p:nvSpPr>
          <p:cNvPr id="8" name="Shape 6"/>
          <p:cNvSpPr/>
          <p:nvPr/>
        </p:nvSpPr>
        <p:spPr>
          <a:xfrm>
            <a:off x="6217920" y="1554480"/>
            <a:ext cx="384048" cy="384048"/>
          </a:xfrm>
          <a:prstGeom prst="ellipse">
            <a:avLst/>
          </a:prstGeom>
          <a:solidFill>
            <a:srgbClr val="1E2761"/>
          </a:solidFill>
          <a:ln w="12700">
            <a:solidFill>
              <a:srgbClr val="1E2761"/>
            </a:solidFill>
            <a:prstDash val="solid"/>
          </a:ln>
        </p:spPr>
      </p:sp>
      <p:sp>
        <p:nvSpPr>
          <p:cNvPr id="9" name="Text 7"/>
          <p:cNvSpPr/>
          <p:nvPr/>
        </p:nvSpPr>
        <p:spPr>
          <a:xfrm>
            <a:off x="6217920" y="15544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748272" y="153619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Puntos críticos identificados</a:t>
            </a:r>
            <a:endParaRPr lang="en-US" sz="1400" dirty="0"/>
          </a:p>
        </p:txBody>
      </p:sp>
      <p:sp>
        <p:nvSpPr>
          <p:cNvPr id="11" name="Text 9"/>
          <p:cNvSpPr/>
          <p:nvPr/>
        </p:nvSpPr>
        <p:spPr>
          <a:xfrm>
            <a:off x="6748272" y="181051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INTERNET-MPLS, el par CPAR-C10 + ROUTER-HUAYNA-CAPAC, DATCC-2A-C3 y BAL-AUL2-D1: cuatro caminos analíticos convergen.</a:t>
            </a:r>
            <a:endParaRPr lang="en-US" sz="1200" dirty="0"/>
          </a:p>
        </p:txBody>
      </p:sp>
      <p:sp>
        <p:nvSpPr>
          <p:cNvPr id="12" name="Shape 10"/>
          <p:cNvSpPr/>
          <p:nvPr/>
        </p:nvSpPr>
        <p:spPr>
          <a:xfrm>
            <a:off x="548640" y="2606040"/>
            <a:ext cx="384048" cy="384048"/>
          </a:xfrm>
          <a:prstGeom prst="ellipse">
            <a:avLst/>
          </a:prstGeom>
          <a:solidFill>
            <a:srgbClr val="1E2761"/>
          </a:solidFill>
          <a:ln w="12700">
            <a:solidFill>
              <a:srgbClr val="1E2761"/>
            </a:solidFill>
            <a:prstDash val="solid"/>
          </a:ln>
        </p:spPr>
      </p:sp>
      <p:sp>
        <p:nvSpPr>
          <p:cNvPr id="13" name="Text 11"/>
          <p:cNvSpPr/>
          <p:nvPr/>
        </p:nvSpPr>
        <p:spPr>
          <a:xfrm>
            <a:off x="548640" y="260604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078992" y="258775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Falla grave y asimétrica</a:t>
            </a:r>
            <a:endParaRPr lang="en-US" sz="1400" dirty="0"/>
          </a:p>
        </p:txBody>
      </p:sp>
      <p:sp>
        <p:nvSpPr>
          <p:cNvPr id="15" name="Text 13"/>
          <p:cNvSpPr/>
          <p:nvPr/>
        </p:nvSpPr>
        <p:spPr>
          <a:xfrm>
            <a:off x="1078992" y="286207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f_c pasa de 0,237 (azar) a 0,023 (ataque). La eficiencia se degrada aún antes que la conectividad.</a:t>
            </a:r>
            <a:endParaRPr lang="en-US" sz="1200" dirty="0"/>
          </a:p>
        </p:txBody>
      </p:sp>
      <p:sp>
        <p:nvSpPr>
          <p:cNvPr id="16" name="Shape 14"/>
          <p:cNvSpPr/>
          <p:nvPr/>
        </p:nvSpPr>
        <p:spPr>
          <a:xfrm>
            <a:off x="6217920" y="2606040"/>
            <a:ext cx="384048" cy="384048"/>
          </a:xfrm>
          <a:prstGeom prst="ellipse">
            <a:avLst/>
          </a:prstGeom>
          <a:solidFill>
            <a:srgbClr val="1E2761"/>
          </a:solidFill>
          <a:ln w="12700">
            <a:solidFill>
              <a:srgbClr val="1E2761"/>
            </a:solidFill>
            <a:prstDash val="solid"/>
          </a:ln>
        </p:spPr>
      </p:sp>
      <p:sp>
        <p:nvSpPr>
          <p:cNvPr id="17" name="Text 15"/>
          <p:cNvSpPr/>
          <p:nvPr/>
        </p:nvSpPr>
        <p:spPr>
          <a:xfrm>
            <a:off x="6217920" y="260604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748272" y="258775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Fragilidad de conectividad</a:t>
            </a:r>
            <a:endParaRPr lang="en-US" sz="1400" dirty="0"/>
          </a:p>
        </p:txBody>
      </p:sp>
      <p:sp>
        <p:nvSpPr>
          <p:cNvPr id="19" name="Text 17"/>
          <p:cNvSpPr/>
          <p:nvPr/>
        </p:nvSpPr>
        <p:spPr>
          <a:xfrm>
            <a:off x="6748272" y="2862072"/>
            <a:ext cx="4864608" cy="685800"/>
          </a:xfrm>
          <a:prstGeom prst="rect">
            <a:avLst/>
          </a:prstGeom>
          <a:noFill/>
          <a:ln/>
        </p:spPr>
        <p:txBody>
          <a:bodyPr wrap="square" lIns="0" tIns="0" rIns="0" bIns="0" rtlCol="0" anchor="t"/>
          <a:lstStyle/>
          <a:p>
            <a:pPr marL="0" indent="0">
              <a:buNone/>
            </a:pPr>
            <a:r>
              <a:rPr lang="en-US" sz="1100" dirty="0">
                <a:solidFill>
                  <a:srgbClr val="1B1F2A"/>
                </a:solidFill>
                <a:latin typeface="Calibri" pitchFamily="34" charset="0"/>
                <a:ea typeface="Calibri" pitchFamily="34" charset="-122"/>
                <a:cs typeface="Calibri" pitchFamily="34" charset="-120"/>
              </a:rPr>
              <a:t>No hay cascada masiva de NODOS (máx. 8,5 %); pero por CAPACIDAD, un disparo del núcleo sí supera 20 % incluso con τ generoso.</a:t>
            </a:r>
            <a:endParaRPr lang="en-US" sz="1200" dirty="0"/>
          </a:p>
        </p:txBody>
      </p:sp>
      <p:sp>
        <p:nvSpPr>
          <p:cNvPr id="20" name="Shape 18"/>
          <p:cNvSpPr/>
          <p:nvPr/>
        </p:nvSpPr>
        <p:spPr>
          <a:xfrm>
            <a:off x="548640" y="3657600"/>
            <a:ext cx="384048" cy="384048"/>
          </a:xfrm>
          <a:prstGeom prst="ellipse">
            <a:avLst/>
          </a:prstGeom>
          <a:solidFill>
            <a:srgbClr val="1E2761"/>
          </a:solidFill>
          <a:ln w="12700">
            <a:solidFill>
              <a:srgbClr val="1E2761"/>
            </a:solidFill>
            <a:prstDash val="solid"/>
          </a:ln>
        </p:spPr>
      </p:sp>
      <p:sp>
        <p:nvSpPr>
          <p:cNvPr id="21" name="Text 19"/>
          <p:cNvSpPr/>
          <p:nvPr/>
        </p:nvSpPr>
        <p:spPr>
          <a:xfrm>
            <a:off x="548640" y="3657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078992" y="363931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El informe sobreestima Paraíso</a:t>
            </a:r>
            <a:endParaRPr lang="en-US" sz="1400" dirty="0"/>
          </a:p>
        </p:txBody>
      </p:sp>
      <p:sp>
        <p:nvSpPr>
          <p:cNvPr id="23" name="Text 21"/>
          <p:cNvSpPr/>
          <p:nvPr/>
        </p:nvSpPr>
        <p:spPr>
          <a:xfrm>
            <a:off x="1078992" y="391363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Un único core, un único enlace de salida, 1 000 Mbps para 35 equipos de acceso.</a:t>
            </a:r>
            <a:endParaRPr lang="en-US" sz="1200" dirty="0"/>
          </a:p>
        </p:txBody>
      </p:sp>
      <p:sp>
        <p:nvSpPr>
          <p:cNvPr id="24" name="Shape 22"/>
          <p:cNvSpPr/>
          <p:nvPr/>
        </p:nvSpPr>
        <p:spPr>
          <a:xfrm>
            <a:off x="6217920" y="3657600"/>
            <a:ext cx="384048" cy="384048"/>
          </a:xfrm>
          <a:prstGeom prst="ellipse">
            <a:avLst/>
          </a:prstGeom>
          <a:solidFill>
            <a:srgbClr val="1E2761"/>
          </a:solidFill>
          <a:ln w="12700">
            <a:solidFill>
              <a:srgbClr val="1E2761"/>
            </a:solidFill>
            <a:prstDash val="solid"/>
          </a:ln>
        </p:spPr>
      </p:sp>
      <p:sp>
        <p:nvSpPr>
          <p:cNvPr id="25" name="Text 23"/>
          <p:cNvSpPr/>
          <p:nvPr/>
        </p:nvSpPr>
        <p:spPr>
          <a:xfrm>
            <a:off x="6217920" y="3657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748272" y="363931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Cinco enlaces bastan para mover la aguja</a:t>
            </a:r>
            <a:endParaRPr lang="en-US" sz="1400" dirty="0"/>
          </a:p>
        </p:txBody>
      </p:sp>
      <p:sp>
        <p:nvSpPr>
          <p:cNvPr id="27" name="Text 25"/>
          <p:cNvSpPr/>
          <p:nvPr/>
        </p:nvSpPr>
        <p:spPr>
          <a:xfrm>
            <a:off x="6748272" y="391363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+900 % de flujo en Paraíso, −2,1 % de puentes, +3,5 % de eficiencia — superando a dos alternativas ingenuas.</a:t>
            </a:r>
            <a:endParaRPr lang="en-US" sz="1200" dirty="0"/>
          </a:p>
        </p:txBody>
      </p:sp>
      <p:sp>
        <p:nvSpPr>
          <p:cNvPr id="28" name="Shape 26"/>
          <p:cNvSpPr/>
          <p:nvPr/>
        </p:nvSpPr>
        <p:spPr>
          <a:xfrm>
            <a:off x="548640" y="4846320"/>
            <a:ext cx="11064240" cy="1325880"/>
          </a:xfrm>
          <a:prstGeom prst="roundRect">
            <a:avLst>
              <a:gd name="adj" fmla="val 551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9" name="Text 27"/>
          <p:cNvSpPr/>
          <p:nvPr/>
        </p:nvSpPr>
        <p:spPr>
          <a:xfrm>
            <a:off x="822960" y="4956048"/>
            <a:ext cx="105156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Limitaciones que este análisis reconoce</a:t>
            </a:r>
            <a:endParaRPr lang="en-US" sz="1500" dirty="0"/>
          </a:p>
        </p:txBody>
      </p:sp>
      <p:sp>
        <p:nvSpPr>
          <p:cNvPr id="30" name="Text 28"/>
          <p:cNvSpPr/>
          <p:nvPr/>
        </p:nvSpPr>
        <p:spPr>
          <a:xfrm>
            <a:off x="822960" y="5257800"/>
            <a:ext cx="10515600" cy="77724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181 de 209 capacidades son estimadas (y el propio análisis detectó un caso donde la regla falla)  ·  el modelo no incorpora energía, rack ni licenciamiento  ·  la red se trata como estática, sin series de tiempo  ·  percolación, cascada y SIR son promedios: una falla concreta puede diferir  ·  no puede concluirse el retorno económico de ninguna intervención, solo su impacto estructural.</a:t>
            </a:r>
            <a:endParaRPr lang="en-US" sz="1200" dirty="0"/>
          </a:p>
        </p:txBody>
      </p:sp>
      <p:sp>
        <p:nvSpPr>
          <p:cNvPr id="32" name="Text 2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3" name="Text 3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1645920" y="3657600"/>
            <a:ext cx="5486400" cy="548640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9509760" y="-1280160"/>
            <a:ext cx="4206240" cy="4206240"/>
          </a:xfrm>
          <a:prstGeom prst="ellipse">
            <a:avLst/>
          </a:prstGeom>
          <a:solidFill>
            <a:srgbClr val="A01A24">
              <a:alpha val="32000"/>
            </a:srgbClr>
          </a:solidFill>
          <a:ln w="12700">
            <a:solidFill>
              <a:srgbClr val="A01A24">
                <a:alpha val="0"/>
              </a:srgbClr>
            </a:solidFill>
            <a:prstDash val="solid"/>
          </a:ln>
        </p:spPr>
      </p:sp>
      <p:sp>
        <p:nvSpPr>
          <p:cNvPr id="4" name="Text 2"/>
          <p:cNvSpPr/>
          <p:nvPr/>
        </p:nvSpPr>
        <p:spPr>
          <a:xfrm>
            <a:off x="548640" y="1051560"/>
            <a:ext cx="11064240" cy="320040"/>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LA PREGUNTA DE CIERRE DEL ENUNCIADO</a:t>
            </a:r>
            <a:endParaRPr lang="en-US" sz="1200" dirty="0"/>
          </a:p>
        </p:txBody>
      </p:sp>
      <p:sp>
        <p:nvSpPr>
          <p:cNvPr id="5" name="Text 3"/>
          <p:cNvSpPr/>
          <p:nvPr/>
        </p:nvSpPr>
        <p:spPr>
          <a:xfrm>
            <a:off x="548640" y="1463040"/>
            <a:ext cx="10058400" cy="1005840"/>
          </a:xfrm>
          <a:prstGeom prst="rect">
            <a:avLst/>
          </a:prstGeom>
          <a:noFill/>
          <a:ln/>
        </p:spPr>
        <p:txBody>
          <a:bodyPr wrap="square" lIns="0" tIns="0" rIns="0" bIns="0" rtlCol="0" anchor="ctr"/>
          <a:lstStyle/>
          <a:p>
            <a:pPr marL="0" indent="0">
              <a:buNone/>
            </a:pPr>
            <a:r>
              <a:rPr lang="en-US" sz="2400" i="1" dirty="0">
                <a:solidFill>
                  <a:srgbClr val="FFFFFF"/>
                </a:solidFill>
                <a:latin typeface="Cambria" pitchFamily="34" charset="0"/>
                <a:ea typeface="Cambria" pitchFamily="34" charset="-122"/>
                <a:cs typeface="Cambria" pitchFamily="34" charset="-120"/>
              </a:rPr>
              <a:t>«Si usted fuera el administrador de esta red y tuviera</a:t>
            </a:r>
            <a:endParaRPr lang="en-US" sz="2400" dirty="0"/>
          </a:p>
          <a:p>
            <a:pPr marL="0" indent="0">
              <a:buNone/>
            </a:pPr>
            <a:r>
              <a:rPr lang="en-US" sz="2400" i="1" dirty="0">
                <a:solidFill>
                  <a:srgbClr val="FFFFFF"/>
                </a:solidFill>
                <a:latin typeface="Cambria" pitchFamily="34" charset="0"/>
                <a:ea typeface="Cambria" pitchFamily="34" charset="-122"/>
                <a:cs typeface="Cambria" pitchFamily="34" charset="-120"/>
              </a:rPr>
              <a:t>presupuesto para cinco enlaces, ¿cuáles construiría y por qué?»</a:t>
            </a:r>
            <a:endParaRPr lang="en-US" sz="2400" dirty="0"/>
          </a:p>
        </p:txBody>
      </p:sp>
      <p:sp>
        <p:nvSpPr>
          <p:cNvPr id="6" name="Shape 4"/>
          <p:cNvSpPr/>
          <p:nvPr/>
        </p:nvSpPr>
        <p:spPr>
          <a:xfrm>
            <a:off x="548640" y="2743200"/>
            <a:ext cx="11064240" cy="1691640"/>
          </a:xfrm>
          <a:prstGeom prst="roundRect">
            <a:avLst>
              <a:gd name="adj" fmla="val 4324"/>
            </a:avLst>
          </a:prstGeom>
          <a:solidFill>
            <a:srgbClr val="2A3A7A"/>
          </a:solidFill>
          <a:ln w="12700">
            <a:solidFill>
              <a:srgbClr val="2A3A7A"/>
            </a:solidFill>
            <a:prstDash val="solid"/>
          </a:ln>
          <a:effectLst>
            <a:outerShdw blurRad="76200" dist="508" dir="5400000" algn="bl" rotWithShape="0">
              <a:srgbClr val="9AA3B0">
                <a:alpha val="25000"/>
              </a:srgbClr>
            </a:outerShdw>
          </a:effectLst>
        </p:spPr>
      </p:sp>
      <p:sp>
        <p:nvSpPr>
          <p:cNvPr id="7" name="Text 5"/>
          <p:cNvSpPr/>
          <p:nvPr/>
        </p:nvSpPr>
        <p:spPr>
          <a:xfrm>
            <a:off x="868680" y="2926080"/>
            <a:ext cx="10424160" cy="45720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Los cinco de la propuesta — y empezaría por Campus Paraíso.</a:t>
            </a:r>
            <a:endParaRPr lang="en-US" sz="2600" dirty="0"/>
          </a:p>
        </p:txBody>
      </p:sp>
      <p:sp>
        <p:nvSpPr>
          <p:cNvPr id="8" name="Text 6"/>
          <p:cNvSpPr/>
          <p:nvPr/>
        </p:nvSpPr>
        <p:spPr>
          <a:xfrm>
            <a:off x="868680" y="3474720"/>
            <a:ext cx="10424160" cy="86868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Duplicar CPAR-C10 — ROUTER-CAMPUS-HUAYNA-CAPAC a 10 Gbps es, a la vez, la intervención más barata (cambio de óptica sobre fibra ya tendida), la de mayor impacto medido (+900 % de flujo) y la que corrige una discrepancia documentada entre lo que el informe técnico afirma y lo que los datos muestran.</a:t>
            </a:r>
            <a:endParaRPr lang="en-US" sz="1400" dirty="0"/>
          </a:p>
        </p:txBody>
      </p:sp>
      <p:sp>
        <p:nvSpPr>
          <p:cNvPr id="9" name="Text 7"/>
          <p:cNvSpPr/>
          <p:nvPr/>
        </p:nvSpPr>
        <p:spPr>
          <a:xfrm>
            <a:off x="548640" y="4846320"/>
            <a:ext cx="11064240" cy="118872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Gracias.  Preguntas.</a:t>
            </a:r>
            <a:endParaRPr lang="en-US" sz="2200" dirty="0"/>
          </a:p>
          <a:p>
            <a:pPr marL="0" indent="0">
              <a:buNone/>
            </a:pPr>
            <a:r>
              <a:rPr lang="en-US" sz="1300" dirty="0">
                <a:solidFill>
                  <a:srgbClr val="CADCFC"/>
                </a:solidFill>
                <a:latin typeface="Calibri" pitchFamily="34" charset="0"/>
                <a:ea typeface="Calibri" pitchFamily="34" charset="-122"/>
                <a:cs typeface="Calibri" pitchFamily="34" charset="-120"/>
              </a:rPr>
              <a:t>Efrain Adolfo Alvarado Plasencia  ·  efrain.alvarado@ucuenca.edu.ec</a:t>
            </a:r>
            <a:endParaRPr lang="en-US" sz="2200" dirty="0"/>
          </a:p>
          <a:p>
            <a:pPr marL="0" indent="0">
              <a:buNone/>
            </a:pPr>
            <a:r>
              <a:rPr lang="en-US" sz="1300" dirty="0">
                <a:solidFill>
                  <a:srgbClr val="9FB2E8"/>
                </a:solidFill>
                <a:latin typeface="Calibri" pitchFamily="34" charset="0"/>
                <a:ea typeface="Calibri" pitchFamily="34" charset="-122"/>
                <a:cs typeface="Calibri" pitchFamily="34" charset="-120"/>
              </a:rPr>
              <a:t>Repositorio reproducible: github.com/chino111160/redes-complejas-ucuenca</a:t>
            </a:r>
            <a:endParaRPr lang="en-US" sz="2200" dirty="0"/>
          </a:p>
        </p:txBody>
      </p:sp>
      <p:sp>
        <p:nvSpPr>
          <p:cNvPr id="11"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11125</Words>
  <Application>Microsoft Office PowerPoint</Application>
  <PresentationFormat>Panorámica</PresentationFormat>
  <Paragraphs>777</Paragraphs>
  <Slides>30</Slides>
  <Notes>30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30</vt:i4>
      </vt:variant>
    </vt:vector>
  </HeadingPairs>
  <TitlesOfParts>
    <vt:vector size="34"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de Redes Complejas - Red de datos UCuenca</dc:title>
  <dc:subject>PptxGenJS Presentation</dc:subject>
  <dc:creator>Efrain Adolfo Alvarado Plasencia</dc:creator>
  <cp:lastModifiedBy>Adolfo Alvarado</cp:lastModifiedBy>
  <cp:revision>1</cp:revision>
  <dcterms:created xsi:type="dcterms:W3CDTF">2026-08-18T19:25:19Z</dcterms:created>
  <dcterms:modified xsi:type="dcterms:W3CDTF">2026-08-27T00:17:52Z</dcterms:modified>
</cp:coreProperties>
</file>