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2" d="100"/>
          <a:sy n="92" d="100"/>
        </p:scale>
        <p:origin x="53" y="72"/>
      </p:cViewPr>
      <p:guideLst/>
    </p:cSldViewPr>
  </p:slideViewPr>
  <p:notesTextViewPr>
    <p:cViewPr>
      <p:scale>
        <a:sx n="3" d="2"/>
        <a:sy n="3" d="2"/>
      </p:scale>
      <p:origin x="0" y="-8952"/>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Flujo máximo (Mbps)</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8367-401D-B219-14FA5B1431E1}"/>
              </c:ext>
            </c:extLst>
          </c:dPt>
          <c:dPt>
            <c:idx val="1"/>
            <c:invertIfNegative val="0"/>
            <c:bubble3D val="0"/>
            <c:extLst>
              <c:ext xmlns:c16="http://schemas.microsoft.com/office/drawing/2014/chart" uri="{C3380CC4-5D6E-409C-BE32-E72D297353CC}">
                <c16:uniqueId val="{00000003-8367-401D-B219-14FA5B1431E1}"/>
              </c:ext>
            </c:extLst>
          </c:dPt>
          <c:dPt>
            <c:idx val="2"/>
            <c:invertIfNegative val="0"/>
            <c:bubble3D val="0"/>
            <c:extLst>
              <c:ext xmlns:c16="http://schemas.microsoft.com/office/drawing/2014/chart" uri="{C3380CC4-5D6E-409C-BE32-E72D297353CC}">
                <c16:uniqueId val="{00000005-8367-401D-B219-14FA5B1431E1}"/>
              </c:ext>
            </c:extLst>
          </c:dPt>
          <c:dPt>
            <c:idx val="3"/>
            <c:invertIfNegative val="0"/>
            <c:bubble3D val="0"/>
            <c:extLst>
              <c:ext xmlns:c16="http://schemas.microsoft.com/office/drawing/2014/chart" uri="{C3380CC4-5D6E-409C-BE32-E72D297353CC}">
                <c16:uniqueId val="{00000007-8367-401D-B219-14FA5B1431E1}"/>
              </c:ext>
            </c:extLst>
          </c:dPt>
          <c:dPt>
            <c:idx val="4"/>
            <c:invertIfNegative val="0"/>
            <c:bubble3D val="0"/>
            <c:extLst>
              <c:ext xmlns:c16="http://schemas.microsoft.com/office/drawing/2014/chart" uri="{C3380CC4-5D6E-409C-BE32-E72D297353CC}">
                <c16:uniqueId val="{00000009-8367-401D-B219-14FA5B1431E1}"/>
              </c:ext>
            </c:extLst>
          </c:dPt>
          <c:dPt>
            <c:idx val="5"/>
            <c:invertIfNegative val="0"/>
            <c:bubble3D val="0"/>
            <c:extLst>
              <c:ext xmlns:c16="http://schemas.microsoft.com/office/drawing/2014/chart" uri="{C3380CC4-5D6E-409C-BE32-E72D297353CC}">
                <c16:uniqueId val="{0000000B-8367-401D-B219-14FA5B1431E1}"/>
              </c:ext>
            </c:extLst>
          </c:dPt>
          <c:dPt>
            <c:idx val="6"/>
            <c:invertIfNegative val="0"/>
            <c:bubble3D val="0"/>
            <c:spPr>
              <a:solidFill>
                <a:srgbClr val="A01A24"/>
              </a:solidFill>
              <a:effectLst/>
            </c:spPr>
            <c:extLst>
              <c:ext xmlns:c16="http://schemas.microsoft.com/office/drawing/2014/chart" uri="{C3380CC4-5D6E-409C-BE32-E72D297353CC}">
                <c16:uniqueId val="{0000000D-8367-401D-B219-14FA5B1431E1}"/>
              </c:ext>
            </c:extLst>
          </c:dPt>
          <c:dLbls>
            <c:numFmt formatCode="#,##0" sourceLinked="0"/>
            <c:spPr>
              <a:noFill/>
              <a:ln>
                <a:noFill/>
              </a:ln>
              <a:effectLst/>
            </c:spPr>
            <c:txPr>
              <a:bodyPr/>
              <a:lstStyle/>
              <a:p>
                <a:pPr>
                  <a:defRPr sz="1100" b="0" i="0" u="none" strike="noStrike">
                    <a:solidFill>
                      <a:srgbClr val="1B1F2A"/>
                    </a:solidFill>
                    <a:latin typeface="Calibri"/>
                  </a:defRPr>
                </a:pPr>
                <a:endParaRPr lang="es-EC"/>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Central
(56 acc.)</c:v>
                </c:pt>
                <c:pt idx="1">
                  <c:v>Balzay
(24 acc.)</c:v>
                </c:pt>
                <c:pt idx="2">
                  <c:v>Museo
(1)</c:v>
                </c:pt>
                <c:pt idx="3">
                  <c:v>C. Histórico
(1)</c:v>
                </c:pt>
                <c:pt idx="4">
                  <c:v>Yanuncay
(11 acc.)</c:v>
                </c:pt>
                <c:pt idx="5">
                  <c:v>Hospitalidad
(4 acc.)</c:v>
                </c:pt>
                <c:pt idx="6">
                  <c:v>PARAÍSO
(35 acc.)</c:v>
                </c:pt>
              </c:strCache>
            </c:strRef>
          </c:cat>
          <c:val>
            <c:numRef>
              <c:f>Sheet1!$B$2:$B$8</c:f>
              <c:numCache>
                <c:formatCode>General</c:formatCode>
                <c:ptCount val="7"/>
                <c:pt idx="0">
                  <c:v>44000</c:v>
                </c:pt>
                <c:pt idx="1">
                  <c:v>23000</c:v>
                </c:pt>
                <c:pt idx="2">
                  <c:v>11000</c:v>
                </c:pt>
                <c:pt idx="3">
                  <c:v>11000</c:v>
                </c:pt>
                <c:pt idx="4">
                  <c:v>10000</c:v>
                </c:pt>
                <c:pt idx="5">
                  <c:v>4000</c:v>
                </c:pt>
                <c:pt idx="6">
                  <c:v>1000</c:v>
                </c:pt>
              </c:numCache>
            </c:numRef>
          </c:val>
          <c:extLst>
            <c:ext xmlns:c16="http://schemas.microsoft.com/office/drawing/2014/chart" uri="{C3380CC4-5D6E-409C-BE32-E72D297353CC}">
              <c16:uniqueId val="{0000000E-8367-401D-B219-14FA5B1431E1}"/>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Calibri"/>
              </a:defRPr>
            </a:pPr>
            <a:endParaRPr lang="es-EC"/>
          </a:p>
        </c:txPr>
        <c:crossAx val="2094734552"/>
        <c:crosses val="autoZero"/>
        <c:auto val="1"/>
        <c:lblAlgn val="ctr"/>
        <c:lblOffset val="100"/>
        <c:noMultiLvlLbl val="1"/>
      </c:catAx>
      <c:valAx>
        <c:axId val="2094734552"/>
        <c:scaling>
          <c:orientation val="minMax"/>
          <c:max val="5000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Calibri"/>
              </a:defRPr>
            </a:pPr>
            <a:endParaRPr lang="es-EC"/>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Tamaño final del brote (%)</c:v>
                </c:pt>
              </c:strCache>
            </c:strRef>
          </c:tx>
          <c:spPr>
            <a:solidFill>
              <a:srgbClr val="5B6472"/>
            </a:solidFill>
            <a:effectLst/>
          </c:spPr>
          <c:invertIfNegative val="0"/>
          <c:dPt>
            <c:idx val="0"/>
            <c:invertIfNegative val="0"/>
            <c:bubble3D val="0"/>
            <c:extLst>
              <c:ext xmlns:c16="http://schemas.microsoft.com/office/drawing/2014/chart" uri="{C3380CC4-5D6E-409C-BE32-E72D297353CC}">
                <c16:uniqueId val="{00000001-5FF9-4CD6-A326-9ECF98443D03}"/>
              </c:ext>
            </c:extLst>
          </c:dPt>
          <c:dPt>
            <c:idx val="1"/>
            <c:invertIfNegative val="0"/>
            <c:bubble3D val="0"/>
            <c:spPr>
              <a:solidFill>
                <a:srgbClr val="8794AB"/>
              </a:solidFill>
              <a:effectLst/>
            </c:spPr>
            <c:extLst>
              <c:ext xmlns:c16="http://schemas.microsoft.com/office/drawing/2014/chart" uri="{C3380CC4-5D6E-409C-BE32-E72D297353CC}">
                <c16:uniqueId val="{00000003-5FF9-4CD6-A326-9ECF98443D03}"/>
              </c:ext>
            </c:extLst>
          </c:dPt>
          <c:dPt>
            <c:idx val="2"/>
            <c:invertIfNegative val="0"/>
            <c:bubble3D val="0"/>
            <c:spPr>
              <a:solidFill>
                <a:srgbClr val="A01A24"/>
              </a:solidFill>
              <a:effectLst/>
            </c:spPr>
            <c:extLst>
              <c:ext xmlns:c16="http://schemas.microsoft.com/office/drawing/2014/chart" uri="{C3380CC4-5D6E-409C-BE32-E72D297353CC}">
                <c16:uniqueId val="{00000005-5FF9-4CD6-A326-9ECF98443D03}"/>
              </c:ext>
            </c:extLst>
          </c:dPt>
          <c:dLbls>
            <c:numFmt formatCode="0.0&quot;%&quot;" sourceLinked="0"/>
            <c:spPr>
              <a:noFill/>
              <a:ln>
                <a:noFill/>
              </a:ln>
              <a:effectLst/>
            </c:spPr>
            <c:txPr>
              <a:bodyPr/>
              <a:lstStyle/>
              <a:p>
                <a:pPr>
                  <a:defRPr sz="1100" b="0" i="0" u="none" strike="noStrike">
                    <a:solidFill>
                      <a:srgbClr val="1B1F2A"/>
                    </a:solidFill>
                    <a:latin typeface="Calibri"/>
                  </a:defRPr>
                </a:pPr>
                <a:endParaRPr lang="es-EC"/>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Sin inmunizar</c:v>
                </c:pt>
                <c:pt idx="1">
                  <c:v>Aleatoria (11)</c:v>
                </c:pt>
                <c:pt idx="2">
                  <c:v>Por centralidad (11)</c:v>
                </c:pt>
              </c:strCache>
            </c:strRef>
          </c:cat>
          <c:val>
            <c:numRef>
              <c:f>Sheet1!$B$2:$B$4</c:f>
              <c:numCache>
                <c:formatCode>General</c:formatCode>
                <c:ptCount val="3"/>
                <c:pt idx="0">
                  <c:v>40.5</c:v>
                </c:pt>
                <c:pt idx="1">
                  <c:v>36.1</c:v>
                </c:pt>
                <c:pt idx="2">
                  <c:v>9.1999999999999993</c:v>
                </c:pt>
              </c:numCache>
            </c:numRef>
          </c:val>
          <c:extLst>
            <c:ext xmlns:c16="http://schemas.microsoft.com/office/drawing/2014/chart" uri="{C3380CC4-5D6E-409C-BE32-E72D297353CC}">
              <c16:uniqueId val="{00000006-5FF9-4CD6-A326-9ECF98443D03}"/>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Calibri"/>
              </a:defRPr>
            </a:pPr>
            <a:endParaRPr lang="es-EC"/>
          </a:p>
        </c:txPr>
        <c:crossAx val="2094734552"/>
        <c:crosses val="autoZero"/>
        <c:auto val="1"/>
        <c:lblAlgn val="ctr"/>
        <c:lblOffset val="100"/>
        <c:noMultiLvlLbl val="1"/>
      </c:catAx>
      <c:valAx>
        <c:axId val="2094734552"/>
        <c:scaling>
          <c:orientation val="minMax"/>
          <c:max val="5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Calibri"/>
              </a:defRPr>
            </a:pPr>
            <a:endParaRPr lang="es-EC"/>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4563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(≈40 s)
"Buenos días. Presento el proyecto integrador del módulo de Redes Complejas. El caso de estudio no es un grafo de laboratorio: es la red de datos real de la Universidad de Cuenca — 177 equipos y 209 enlaces en seis campus y dos sedes — reconstruida a partir de los 34 diagramas del informe técnico institucional."
"Adelanto el mensaje central para que lo tengan en mente durante toda la exposición: la red está bien construida en su núcleo, pero tiene un punto débil grave y documentable en Campus Paraíso; y ese punto se corrige con la más barata de las cinco intervenciones que propongo."
CONTEXTO PARA MÍ (por si preguntan al inicio)
· "Red compleja" aquí significa simplemente: modelamos la red como un GRAFO — puntos (nodos = equipos: switches, routers, firewalls) unidos por líneas (aristas = enlaces de fibra o cobre). Sobre ese grafo se pueden calcular propiedades que un diagrama de red no muestra a simple vista.
· El grafo es SIMPLE (una sola arista por par de equipos), NO DIRIGIDO (el enlace funciona en ambos sentidos) y CONEXO (desde cualquier equipo se puede llegar a cualquier otro).
· Si preguntan de dónde salen los datos: de los CSV saneados que entregó el docente (red_ucuenca_nodes.csv y red_ucuenca_edges.csv), verificados contra los 13 valores de control del Anexo A del enunciado antes de calcular nada.
RESPIRA. Mira al jurado, no a la pantalla. Esta lámina es solo de presentación: no te quedes más de 40 segundos.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(≈50 s)
"Esta es la pregunta que plantea el enunciado y es la que la última lámina tiene que poder responder. La leo completa porque todo lo que viene está al servicio de ella."
"El trabajo se organiza en cinco fases y quiero subrayar la palabra ENCADENADAS: la Fase 4 necesita resultados de la Fase 3, y la Fase 5 necesita los de la Fase 4. Si una falla, se cae el resto."
"Una nota de método antes de empezar: BFS, DFS, Dijkstra, Floyd-Warshall, Louvain, k-means, Tarjan, percolación, cascadas y SIR están implementados desde cero. Graphs.jl solo lo uso para VERIFICAR que mi implementación da el mismo resultado, y esa verificación es una aserción que aborta el programa si alguna vez fallara."
VOCABULARIO QUE PUEDO NECESITAR EXPLICAR
· BFS (búsqueda en anchura): recorre la red "por capas" — primero los vecinos directos, luego los vecinos de los vecinos. Sirve para medir distancias en número de saltos.
· DFS (búsqueda en profundidad): avanza por un camino hasta el final antes de retroceder. Sirve para encontrar ciclos y puntos frágiles.
· Dijkstra / Floyd-Warshall: algoritmos de camino más corto. El primero desde UN origen; el segundo calcula TODOS los pares de una vez.
· Louvain: algoritmo que agrupa nodos en "comunidades" — bloques más conectados por dentro que por fuera.
· Percolación: quitar nodos o enlaces uno a uno y ver cuándo la red se parte.
SI PREGUNTAN "¿por qué Julia?": es uno de los dos lenguajes del módulo, y el código base y el código de referencia (Ford-Fulkerson, Edmonds-Karp, k-means) venían en Julia.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(≈60 s)
"Tres cosas importan de esta lámina."
"Primero, la ESCALA y la DENSIDAD. 177 nodos y 209 enlaces. La densidad, 0,0134, es la fracción de conexiones que existen frente a todas las que podrían existir: de los 15 576 pares posibles de equipos, solo 209 están conectados. Es una red extremadamente dispersa; el equipo típico tiene dos o tres vecinos. Eso condiciona absolutamente todo lo que viene después."
"Segundo, la JERARQUÍA. El informe describe tres capas: core, agregación y acceso. También afirma que los troncales operan a 10 Gbps y que Balzay y Paraíso tienen redundancia física completa. Guarden esa última frase: voy a volver sobre ella."
"Tercero, y es la cifra que quiero que retengan: solo 17 enlaces cruzan la frontera entre campus. Toda la institución cuelga de esos 17. Eso ya anticipa dónde van a estar los puntos críticos."
CÓMO EXPLICAR "DENSIDAD" SI ME LO PIDEN
Densidad = 2m / [n(n−1)]. Es un número entre 0 y 1. Vale 1 si todos con todos, 0 si nadie con nadie. 0,0134 significa que existe el 1,3 % de las conexiones posibles. Para comparar: una red social típica es más densa; una red de infraestructura física siempre es dispersa porque cada cable cuesta dinero.
CÓMO EXPLICAR "COMPONENTE CONEXA"
Un "trozo" de la red donde todos pueden alcanzarse entre sí. Que haya UNA sola significa que hoy no hay ningún equipo aislado — la red está entera. Ese es el punto de partida; la Fase 4 mide qué haría falta para romperla.
SI PREGUNTAN por "capacidad estimada": lo explico en detalle en la lámina de flujo máximo. Adelanto solo que la capacidad nominal está documentada en 28 aristas y las otras 181 se estiman con reglas explícitas, registradas arista por arista.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(≈60 s)
"Estas son las medidas globales. Me detengo solo en las dos cifras rojas, que son las que tienen consecuencia operativa."
"141 de las 209 aristas son PUENTES: enlaces que, al caer, parten la red en dos. Es el 67,5 %. Y 47 de los 177 equipos son PUNTOS DE ARTICULACIÓN: equipos cuya caída deja incomunicados a otros."
"Pero el dato más útil no es el total: es DÓNDE están. Solo hay UN punto de articulación en la capa core. El núcleo está bien construido, con equipos redundantes. En cambio hay 26 en la capa de agregación, y cada uno de ellos es el único paso hacia un grupo entero de equipos de acceso. La fragilidad de esta red no está en el núcleo: está un nivel más abajo."
DEFINICIONES SENCILLAS, POR SI ME LAS PIDEN
· GRADO de un nodo = cuántos enlaces tiene. Grado medio 2,36 = el equipo típico tiene poco más de dos cables.
· CLUSTERING = probabilidad de que dos vecinos míos sean vecinos entre sí (los "triángulos" de la red). 0,0952 es casi nada.
· ASORTATIVIDAD = si los equipos muy conectados se conectan entre sí (positiva) o con equipos poco conectados (negativa). Aquí es −0,1468: negativa.
· DISTANCIA MEDIA = número medio de saltos entre dos equipos cualesquiera: 5,83.
· DIÁMETRO = el peor caso de esa distancia: 11 saltos.
· PUENTE y PUNTO DE ARTICULACIÓN se calculan con el algoritmo de TARJAN, que hace un recorrido en profundidad marcando tiempos de descubrimiento. Lo implementé a mano, coste lineal O(V+E).
SI PREGUNTAN "¿141 puentes es mucho?": Sí. En una red bien mallada la mayoría de enlaces tienen ruta alternativa y por lo tanto NO son puentes. Que dos de cada tres lo sean confirma que esta red es esencialmente un ÁRBOL con unos pocos ciclos añadidos en el núcleo.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(≈70 s)
"El enunciado avisa que un informe que solo tabula números sin responder estas preguntas obtiene, como máximo, la mitad del puntaje. Así que las contesto directamente."
"La distribución de grado: 113 de los 177 equipos tienen un solo enlace — son hojas, equipos de acceso terminales. En el otro extremo, los dos core de Campus Central, con grado 17 y 16."
"¿Es una red libre de escala? Un ajuste de ley de potencias sobre la cola da alfa ≈ 2,04, que en la literatura se leería que sí. Sostengo que esa lectura sería INCORRECTA, y digo por qué: con 177 nodos la cola tiene 64 observaciones. Para afirmarlo haría falta el procedimiento completo de Clauset, Shalizi y Newman: prueba de bondad de ajuste por Kolmogorov-Smirnov y comparación contra log-normal y exponencial, que en muestras pequeñas suelen ajustar igual de bien. Lo que sí es indiscutible es la heterogeneidad de grado."
"Abajo respondo las otras dos preguntas: por qué el clustering es tan bajo y por qué la asortatividad es negativa. Las dos tienen la misma causa — el mecanismo que generó esta red es el DISEÑO jerárquico, no el crecimiento social."
QUÉ ES "LIBRE DE ESCALA" (por si me lo preguntan)
Una red es libre de escala cuando la probabilidad de que un nodo tenga grado k cae como una potencia de k: P(k) ~ k^(−α). En la práctica significa que hay muchísimos nodos poco conectados y unos pocos "hubs" enormes, sin un tamaño típico. Internet a nivel de sistemas autónomos se comporta así. Aquí NO puedo afirmarlo por tamaño de muestra, aunque el patrón visual se le parezca.
QUÉ ES "CLUSTERING" EN UNA FRASE
De todos los pares de vecinos que tiene un equipo, ¿qué fracción está también conectada entre sí? Mide triángulos.
SI PREGUNTAN "¿y para qué sirve saber esto?"
Sirve para elegir modelo. Si la red fuera libre de escala se aplicarían resultados teóricos conocidos sobre robustez. Como no puedo afirmarlo, mido la robustez directamente por simulación — que es exactamente lo que hace la Fase 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(≈55 s)
"Calculé las cuatro centralidades que pide el enunciado y las puse en una sola tabla comparativa. La pregunta que hay que responder es si los nodos más centrales por grado coinciden con los más centrales por intermediación. La respuesta es NO: solo 4 de los 10."
"Y esa discrepancia es informativa, no es ruido. El grado cuenta vecinos directos. La intermediación cuenta por cuántos caminos mínimos entre terceros pasa un equipo."
"La consecuencia operativa está a la derecha y es la parte que me interesa. BAL-AUL2-D1 es crítico PARA SUS diez equipos; si cae, esos diez se quedan sin servicio y nadie más se entera. DATCC-2A-C3 o CPAR-C10 son críticos PARA TODOS LOS DEMÁS; si caen, se parte la red. Son dos tipos de criticidad y exigen dos tipos de protección."
LAS CUATRO CENTRALIDADES, EN CRISTIANO
· GRADO — "cuántos cables tengo". La más simple.
· CERCANÍA (closeness) — "qué tan cerca estoy de todo el mundo", es decir 1 dividido por la suma de mis distancias a los demás. La encabeza INTERNET-MPLS: no es el que más cables tiene, pero es desde donde se llega a todo en menos saltos.
· INTERMEDIACIÓN (betweenness) — "por cuántas rutas ajenas paso". Es la que detecta cuellos de botella y puntos de paso obligado. Es la métrica estrella de este trabajo.
· VECTOR PROPIO (eigenvector) — "qué tan bien conectados están mis vecinos". Premia pertenecer al núcleo denso; por eso su top se llena de equipos de Campus Central colgados de los dos core.
ANALOGÍA ÚTIL SI SE TRABAN
Piensen en una ciudad. El grado es cuántas calles llegan a una esquina. La intermediación es cuánto tráfico DE PASO cruza esa esquina. Una esquina de barrio puede tener muchas calles y poco tráfico de paso; un puente sobre el río puede tener solo dos accesos y ser insustituible. Aquí los "puentes sobre el río" son los core y los routers de campus.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LÁMINA MÁS IMPORTANTE DE LA PRIMERA MITAD. Baja el ritmo. (≈75 s)
QUÉ DECIR
"El enunciado pide contrastar los datos con lo que AFIRMA el informe técnico institucional. De ahí sale el hallazgo central del proyecto."
"El informe dice, textualmente, que Balzay y Paraíso implementan redundancia física completa entre core y agregación. Para verificarlo hice algo muy simple: conté, para cada nodo de agregación, cuántas aristas tiene hacia nodos de capa core. Dos o más significa redundancia real. Exactamente una significa enlace simple."
"Los datos CONFIRMAN Balzay: sus nodos de agregación tienen doble enlace, a DT-0A-C12 y DT-0A-C13. Y REFUTAN Paraíso: sus seis nodos de agregación tienen un único enlace, todos hacia el MISMO core, CPAR-C10. Eso es agregación de puertos — juntar varios cables hacia el mismo destino para sumar ancho de banda — pero NO es redundancia de núcleo, porque no hay un segundo core al que caerse."
"La consecuencia es directa: si CPAR-C10 falla, cae Campus Paraíso entero. 44 equipos, el 25 % de la institución."
LA DIFERENCIA CLAVE, EN UNA FRASE
Agregación de puertos = varios cables al MISMO equipo → protege contra el corte de un cable.
Redundancia de núcleo = cables a DOS equipos distintos → protege contra la caída de un equipo.
El informe promete lo segundo y los datos muestran lo primero.
SI PREGUNTAN POR CAMPUS CENTRAL
"Hay una sorpresa: Central, que el informe describe con enlaces simples, SÍ muestra redundancia real en los 13 nodos de agregación medidos, doblemente conectados a DATCC-2A-C2 y DATCC-2A-C3. La explicación más plausible es que el informe se refiere a la capa agregación-acceso, donde los enlaces simples sí están generalizados en todos los campus. Esa lectura benévola no aplica a Paraíso."
SI PREGUNTAN "¿estás diciendo que el informe está mal?"
Respuesta prudente: "Estoy diciendo que los datos que ustedes mismos me entregaron no respaldan esa afirmación para Paraíso. Puede ser una imprecisión de redacción o un cambio de topología posterior al informe. En cualquier caso, es una discrepancia que vale la pena verificar en campo, y el resto del análisis muestra que tiene consecuencias medibles."
NO improvises aquí. Este hallazgo es el que sostiene la propuesta final.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(≈70 s)
"P2 pide comparar la red real contra MODELOS NULOS. Un modelo nulo es una red artificial que conserva algunas propiedades de la real y aleatoriza el resto; sirve para saber qué parte de lo que observamos es simplemente consecuencia de esas propiedades y qué parte es estructura genuina."
"Usé dos, con 100 realizaciones cada uno. Erdős-Rényi conserva solo el número de nodos y de enlaces, y los coloca al azar. El modelo de configuración conserva además la SECUENCIA DE GRADOS exacta: cada equipo mantiene su número de cables, pero se reconecta al azar."
"La lectura tiene dos partes. El clustering real está a más de cinco desviaciones estándar por encima de Erdős-Rényi, así que no es azar. Pero también está por encima del modelo de configuración. Conclusión: la heterogeneidad de grados explica unos dos tercios de la diferencia, y el tercio restante solo puede venir de la topología real — los pares redundantes crean triángulos POR DISEÑO."
"La distancia media va al revés: la real es MÁS alta que la de ambos modelos. La jerarquía estricta obliga a dar más saltos de los que la sola secuencia de grados predeciría. Un modelo nulo puede unir directamente un equipo de Paraíso con uno de Balzay; la red real exige subir a agregación, al core, salir por WAN, cruzar MPLS y volver a bajar."
"Y Barabási-Albert da clustering exactamente cero. Es coherente: ese modelo hace crecer la red conectando cada nodo nuevo preferentemente a los que YA tienen más enlaces, que es como crecen las redes sociales o la web. Una red física no funciona así: cada switch se conecta a los puertos que le tocan en un diseño hecho de antemano."
"Abajo, las dos visualizaciones que pide el enunciado, ambas con el mismo layout de resortes de Fruchterman-Reingold. La izquierda dice DÓNDE está cada cosa; la derecha dice QUÉ sostiene el conjunto."
QUÉ ES UN "LAYOUT DE RESORTES"
Un algoritmo de dibujo que trata las aristas como muelles y los nodos como cargas que se repelen; al equilibrarse, los grupos muy conectados quedan juntos y los poco conectados se separan. Lo elegí porque no tengo coordenadas geográficas en los datos y porque minimiza cruces de líneas.
SI PREGUNTAN "¿por qué 100 realizaciones?"
Porque los modelos nulos son aleatorios: una sola realización podría ser atípica. Con 100 reporto media y desviación estándar, y así puedo decir cuántas sigmas separa la red real del modelo.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(≈70 s)
"BFS y DFS los implementé desde cero: BFS con una cola FIFO, DFS con una pila explícita e iterativa para no depender del límite de recursión. Ambos tienen coste lineal O(V+E) y ambos están verificados contra la biblioteca."
"El PERFIL DE PROFUNDIDAD es simplemente contar cuántos equipos quedan a distancia 1, a distancia 2, a distancia 3, y así, partiendo del core de Campus Central. Responde una pregunta concreta del enunciado: ¿se refleja en las distancias medidas la jerarquía que el informe declara?"
"Solo parcialmente. Si la jerarquía se cumpliera al pie de la letra, casi todo debería estar a distancia dos o menos. Solo el 37 % lo está. El resto forma una cola que llega hasta distancia 8, por dos causas que conviene no confundir: campus remotos que solo llegan a Central cruzando la nube MPLS, y equipos de acceso colgados de otros equipos de acceso, en cadena, que es un anti-patrón de diseño."
"Dicho de otro modo: el modelo de tres capas del informe describe UN campus, no la institución completa."
"Sobre los ciclos: hay exactamente 33. Ese número, m menos n más el número de componentes, es el número ciclomático, y no depende del árbol que uno elija. Están casi todos en el core y la agregación de Central y Balzay. Paraíso y Yanuncay aportan un extremo cada uno. Ausencia de ciclos es ausencia de camino alternativo — es el mismo fenómeno que los puentes de la Fase 1, visto desde otro algoritmo."
"Y sobre el técnico: DFS, sin ambigüedad. BFS visita todos los equipos a un salto, luego todos a dos saltos, saltando de rama en rama; llevado a recorrido físico obligaría a volver al core entre visita y visita."
QUÉ ES UN "CICLO" AQUÍ
Un camino cerrado: puedo salir de un equipo, pasar por otros y volver sin repetir enlaces. Que exista un ciclo significa que hay AL MENOS DOS rutas entre esos equipos — es decir, redundancia. Que no exista significa una sola ruta.
SI PREGUNTAN por la diferencia BFS/DFS en una frase
BFS usa una COLA (el primero que entra es el primero que sale) y explora por niveles. DFS usa una PILA (el último que entra es el primero que sale) y explora por ramas. Es la única diferencia, y de ella sale todo lo demás.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(≈75 s)
"Louvain, implementado desde cero, busca COMUNIDADES: grupos de equipos más conectados entre sí que con el resto. Encuentra 22 comunidades con una modularidad Q de 0,75."
"La MODULARIDAD mide cuánto mejor está agrupada la red que si las mismas aristas se hubieran repartido al azar. Va de 0 a 1; por encima de 0,3 ya se considera estructura clara. 0,75 es muy alta, y es lo esperable en una red con capas jerárquicas bien separadas."
"El resultado es estable: en cinco semillas distintas el número de comunidades varía entre 21 y 22, y la coincidencia con la corrida de referencia nunca baja de 0,93."
"Comparado con la partición 'natural' por campus obtengo NMI 0,584 y ARI 0,190. Parecen contradictorios y no lo son: la matriz de confusión es casi bloque-diagonal — Louvain no mezcla campus, pero sí subdivide los grandes. El NMI es moderado porque la partición REFINA; el ARI es bajo porque penaliza justamente esa sobre-partición."
"Lo interesante son los 11 nodos discrepantes: casi todos son equipos de WAN e interconexión. Louvain los agrupa juntos porque forman un NÚCLEO WAN funcionalmente propio — un bloque que existe en la topología pero que la etiqueta 'campus', que es geográfica, no puede expresar."
"Y sobre el límite de resolución: sí hay evidencia concreta. Museo y Centro Histórico, con dos equipos cada una, no aparecen como comunidades propias pese a ser dominios administrativos separados. La modularidad no puede 'verlas' porque su tamaño está por debajo del umbral teórico."
GLOSARIO PARA ESTA LÁMINA
· NMI (información mutua normalizada): cuánta información comparten dos formas de agrupar los mismos nodos. 1 = idénticas, 0 = independientes.
· ARI (índice de Rand ajustado): mide lo mismo pero corrigiendo por el acuerdo que se daría al azar; castiga fuerte partir un grupo en varios.
· k-MEANS ESPECTRAL: convertir cada nodo en un punto de un espacio matemático (usando los autovectores del laplaciano del grafo) y luego agrupar esos puntos por distancia. Es otra vía hacia el mismo objetivo, y coincide parcialmente con Louvain — lo cual es lo esperable, no un error.
· LÍMITE DE RESOLUCIÓN (Fortunato y Barthélemy, 2007): la modularidad no puede detectar comunidades más pequeñas que cierto umbral que depende del tamaño de la red.
SI PREGUNTAN "¿y esto para qué sirve en la práctica?"
Para diseñar VLANs y dominios de difusión: las comunidades que encuentra el algoritmo son candidatas naturales a segmentos de red. Y el "núcleo WAN" que aparece aquí justificaría tratarlo como una zona de seguridad propia.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(≈70 s)
"Antes de aplicar cualquier algoritmo de camino más corto hay que decidir QUÉ se minimiza. Ese es el 'modelo de peso': cuánto cuesta atravesar cada enlace."
"Usé los tres que propone el enunciado y justifiqué las constantes físicamente, no por conveniencia: alfa igual a 0,05 milisegundos es la propagación más la conmutación por salto, razonable a escala de campus; beta igual a 12 megabits es el tamaño de una trama Ethernet de 1500 bytes, de modo que beta dividido por la capacidad da directamente el tiempo de serialización en milisegundos."
"Implementé Dijkstra con mi propio montículo binario y Floyd-Warshall clásico, y coinciden en 20 pares al azar por cada uno de los tres modelos: 60 verificaciones."
"Lo importante es la tabla. Saltos y latencia coinciden en 10 de 10 en el ranking de cercanía — el modelo de latencia es una perturbación pequeña del de saltos, y eso me sirve de CONTROL: confirma que está bien calibrado. Pero w_carga cambia el ranking POR COMPLETO. La causa está en los datos: 51 aristas tienen tráfico medido cero y por tanto peso exactamente cero. Muchos equipos de acceso quedan a distancia cero de su switch. No es un error: es que ese modelo mide congestión, no topología."
"Y sobre pesos negativos: ninguno de los tres puede producirlos, así que Dijkstra es siempre válido aquí, sin necesidad de Bellman-Ford."
SI ME PREGUNTAN POR PROTOCOLOS REALES (viene en el enunciado, prepáralo)
"OSPF e IS-IS usan un costo ESTÁTICO, típicamente proporcional al inverso del ancho de banda nominal — muy parecido a mi w_latencia sin el término de tráfico. NO usan un costo que dependa del tráfico instantáneo. La razón es un modo de falla concreto: si el peso dependiera de la carga en tiempo real, cada cambio de tráfico dispararía un recálculo de rutas, y el tráfico que huye de un enlace congestionado sobrecargaría la ruta alternativa, haciendo que ESA se volviera cara y el tráfico regresara. Eso se llama oscilación de rutas o route flapping, y está documentado desde los primeros diseños adaptativos de ARPANET."
POR QUÉ FLOYD-WARSHALL AQUÍ Y NO DIJKSTRA REPETIDO
Porque necesito TODAS las distancias entre todos los pares (para cercanía, p-mediana y p-centro). El "punto de equilibrio" que medí crece de ~1 a ~200 fuentes conforme crece n: por debajo de ese número conviene Dijkstra repetido, por encima conviene una sola pasada de Floyd-Warshall.
SI SE TRABAN: "montículo binario" es simplemente una estructura de datos que siempre me devuelve el elemento más pequeño en tiempo logarítmico. Es lo que hace a Dijkstra eficiente.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ÉSTA ES LA SEGUNDA LÁMINA MÁS IMPORTANTE. Es la confirmación cuantitativa del hallazgo. (≈85 s)
QUÉ DECIR
"El FLUJO MÁXIMO responde una pregunta distinta a todo lo anterior: ya no 'quién está conectado con quién', sino 'CUÁNTO cabe'. Modelé, para cada campus, el escenario 'todo el tráfico del campus sale hacia Internet': una super-fuente conectada a todos sus equipos de acceso, y como destino la nube MPLS."
"Lo resolví con Ford-Fulkerson y con Edmonds-Karp, reutilizando el código de referencia del módulo, y ambos dan el mismo resultado en los siete casos — como exige el teorema."
"Miren la barra roja. Paraíso, con 35 equipos de acceso — más que Yanuncay y Hospitalidad juntos —, tiene 1 000 Mbps de salida. Cuarenta y cuatro veces menos que Central. Once veces menos que Yanuncay, que tiene un tercio de sus equipos."
"El CORTE MÍNIMO de Paraíso es una sola arista: CPAR-C10 a ROUTER-CAMPUS-HUAYNA-CAPAC. El teorema se verifica a mano en una línea: una arista de 1 000 Mbps, flujo máximo 1 000 Mbps."
"Y esa arista también está en la lista de puentes de la Fase 1. El cuello de botella físico y el punto de fragilidad topológica COINCIDEN. Es la confirmación del hallazgo anterior por una vía completamente independiente."
ANTES DE ESTA LÁMINA, EXPLICA EL TEOREMA EN UNA FRASE
"Max-flow / min-cut dice que el caudal máximo que puede salir de una zona es exactamente igual a la capacidad del conjunto más barato de enlaces que, al cortarse, la dejaría incomunicada. Traducido: el cuello de botella y el punto de corte son la misma cosa."
ANALOGÍA DE APOYO
Piensen en tuberías. El flujo máximo es cuánta agua puede salir del edificio. El corte mínimo es el conjunto de tuberías que, si las cierro todas, dejan el edificio a cero — y el teorema dice que ambos números coinciden. En Paraíso ese conjunto es UNA sola tubería de 1 Gbps.
SOBRE EL HALLAZGO ADICIONAL (abajo)
"La capacidad nominal solo está documentada en 28 de 209 aristas; las 181 restantes las estimé con cinco reglas explícitas, registradas arista por arista. Al validar encontré una inconsistencia: el enlace entre los dos core de Central registra 1 890 Mbps de tráfico sobre una capacidad estimada de 1 000 — imposible. La causa es que ese enlace core-core no cae en ninguna regla específica y recibe el valor por defecto. La medición demuestra que opera a 10 Gbps o más. Es el único caso, lo que a la vez valida el resto de las reglas y aísla el punto donde fallan. No cambia ningún resultado de flujo porque esa arista no está en ningún corte mínimo, pero lo documento como mejora del conjunto de datos."
SI PREGUNTAN POR FLUJO DE COSTO MÍNIMO (P6.5)
"También resolví el problema de servir una demanda fija simultánea de Balzay (11 500 Mbps) y Central (22 000), con costo 1 por salto y 5 por usar un enlace de respaldo. Se sirve el 100 % con costo total 208 500, evitando sistemáticamente los respaldos. Usé Bellman-Ford ahí porque la red residual sí genera costos negativos."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(≈60 s)
"P7 plantea un problema clásico de investigación de operaciones: la institución quiere instalar p colectores de telemetría — sondas SNMP o NetFlow — de modo que ningún equipo quede demasiado lejos de uno."
"Hay dos formulaciones y responden a objetivos distintos. La p-MEDIANA minimiza la distancia PROMEDIO de todos los equipos a su colector más cercano. El p-CENTRO minimiza la distancia del PEOR CASO. La primera optimiza el promedio; la segunda da una garantía para todos."
"Las escribí como programas enteros binarios y las resolví de dos maneras: una heurística voraz — que en cada paso añade el colector que más reduce el objetivo — y exactamente con JuMP y HiGHS, que es un solver de programación entera."
"La voraz alcanza el óptimo en p igual a 1 y a 5, y se queda entre 1 y 5 por ciento por encima en p igual a 2 y 3. Es el comportamiento típico de un algoritmo voraz sin backtracking: en p igual a 2 fija INTERNET-MPLS, que era la mejor solución para p igual a 1, y ya no puede abandonarla, mientras que el óptimo sí lo hace."
"La pregunta del enunciado es si estas ubicaciones coinciden con los nodos más centrales de la Fase 1. Solo parcialmente, y el motivo es conceptual: un colector no necesita estar en el camino de muchos pares; necesita estar donde hay equipos que monitorear sin quedar lejos de ninguno."
"Un dato para quedarse: con cinco colectores, el p-centro garantiza que ningún equipo de la institución quede a más de TRES saltos, frente a los seis que se tendrían con uno solo."
QUÉ SIGNIFICAN LAS VARIABLES (por si preguntan por la formulación)
· y_j vale 1 si abro un colector en el equipo j, 0 si no.
· x_ij vale 1 si el equipo i se asigna al colector j.
· La restricción Σ y_j = p fija cuántos colectores puedo abrir.
· Σ_j x_ij = 1 obliga a que cada equipo esté asignado exactamente a uno.
· x_ij ≤ y_j impide asignar equipos a un colector que no existe.
RESTRICCIONES QUE EL MODELO OMITE (viene en el enunciado)
Espacio en rack, alimentación eléctrica redundante, puertos de administración libres, seguridad física del cuarto de telecomunicaciones y el costo de licenciamiento. Incorporarlas sería restringir los candidatos (fijando y_j = 0 para el resto) y sumar un costo fijo por sitio, lo que convierte el problema en "localización con costos fijos".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(≈80 s)
"Llegamos a la pregunta '¿qué tan grave sería la falla?'. La herramienta se llama PERCOLACIÓN: elimino nodos uno a uno y mido qué queda conectado."
"S(f) es el tamaño de la COMPONENTE GIGANTE — el trozo más grande que sigue comunicado — después de eliminar una fracción f de los equipos. Empieza en 1 (todo conectado) y baja. Defino el umbral f_c como el punto donde S cruza 0,5, es decir, cuando la mayor parte de la red deja de estar comunicada entre sí."
"Comparé cuatro estrategias. La primera es FALLO ALEATORIO: elimino equipos al azar, promediado sobre 100 realizaciones — modela averías, cortes de luz, fallos de hardware. Las otras tres son ATAQUES DIRIGIDOS: elimino primero los de mayor grado, o los de mayor intermediación."
"El resultado es contundente. Al azar, la red aguanta perder el 23,7 % de sus equipos — 42 equipos — antes de partirse a la mitad. Dirigido, bastan CUATRO. Más de diez a uno. Eso se llama la PARADOJA DE LA ROBUSTEZ y es típico de redes con grado muy heterogéneo."
"La consecuencia operativa es lo que quiero que quede: un plan de mantenimiento puede tratar los fallos como aleatorios. Un plan de respuesta a incidentes de seguridad NO puede. Esos cuatro a ocho equipos necesitan protección desproporcionada respecto a su número."
"Y una segunda métrica, abajo a la derecha: la EFICIENCIA GLOBAL. Es el promedio del inverso de las distancias. Se degrada mucho ANTES que la conectividad: con solo el 2 % de nodos atacados ya cayó al 61 %, y con el 5 % al 15 %, mientras la componente gigante apenas se movía."
POR QUÉ ESO IMPORTA (dilo, es la mejor frase de la lámina)
"Un equipo que sigue TÉCNICAMENTE conectado pero ahora está a ocho saltos en vez de a dos aporta casi nada a la eficiencia, aunque siga contando entero en la componente gigante. Traducido a operación: la red puede seguir 'arriba', respondiendo a ping, mucho después de que el usuario ya note el servicio degradado. Un monitoreo que alarme solo por pérdida de conectividad se entera tarde."
DETALLE POR SI PREGUNTAN
· "Estática" vs "recalculada": en la estática ordeno los nodos una sola vez al principio; en la recalculada vuelvo a calcular la intermediación sobre la red YA reducida antes de cada eliminación. La recalculada es la más destructiva — al 5 % deja solo el 5 % de la red conectada — y también la más cara de computar, lo que en la práctica actúa como barrera para el atacante.
· Para ENLACES la caída es menor (de 0,354 a 0,321 atacando primero los puentes), porque los 141 puentes ya son individualmente el peor caso: no queda margen para empeorar mucho más.
· Comparado con los modelos nulos: f_c real 0,237 ≈ configuración 0,232 &lt;&lt; Erdős-Rényi 0,271. La robustez ante fallo aleatorio se explica por la secuencia de grados, no por estructura adicional.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(≈75 s)
"Esta lámina reúne dos mecanismos de falla distintos al de la anterior."
"PRIMERO, LAS CASCADAS. El modelo de Motter y Lai asigna a cada equipo una CARGA — aquí, su intermediación, es decir, cuánto tráfico de paso soporta — y una CAPACIDAD fija igual a la carga multiplicada por (1 + tau), donde tau es el margen de diseño. Al eliminar un nodo, su carga se redistribuye por las rutas restantes; quien supere su capacidad también cae, y la cascada continúa."
"Y aquí hay un resultado NEGATIVO que conviene decir con claridad: ningún nodo desencadena una cascada superior al 8,5 % de la red, ni siquiera con margen cero. No existe un tau crítico positivo que reportar. Escribir 'tau_c igual a cero' sería engañoso, porque se leería justo al revés."
"Esto NO contradice lo anterior. En la percolación la métrica es CONECTIVIDAD — qué se desconecta de qué. Aquí es SOBRECARGA — qué se satura. Esta red se rompe por desconexión, no por efecto dominó. Y eso tiene una consecuencia de compra muy concreta: hace falta redundancia topológica, no sobredimensionar capacidad por si acaso."
"SEGUNDO, LAS EPIDEMIAS. Simulé un modelo SIR, que se interpreta aquí como un malware propagándose entre equipos, o un error de configuración replicado. Cada infectado contagia a sus vecinos con probabilidad beta y se recupera con probabilidad gamma."
"La teoría predice un umbral epidémico lambda_c igual al grado medio dividido por el grado cuadrático medio: 0,186. La simulación es coherente con esa predicción, aunque con dispersión grande — y lo digo abiertamente: con 177 nodos la desviación estándar es del orden de la media cerca del umbral, así que la figura confirma el orden de magnitud, no localiza el umbral con precisión."
"La parte con valor operativo directo es la derecha. Con el MISMO presupuesto — once equipos parcheados, un 6 % de la red — la inmunización al azar reduce el brote un 11 %; elegir los once de mayor centralidad lo reduce un 77 %. Siete veces más. Es el resultado clásico de Pastor-Satorras y Vespignani reproducido sobre datos reales."
"Y hay un segundo efecto que se cita menos: la desviación estándar cae de casi 30 % a 3 %. La inmunización dirigida no solo reduce el daño esperado, ELIMINA EL RIESGO DE COLA — los escenarios catastróficos dejan de ser posibles. Para quien planifica una ventana de parcheo con recursos limitados, esa previsibilidad vale tanto como la reducción de la media."
QUÉ ES "SIR" EN UNA FRASE
Cada equipo está en uno de tres estados: Susceptible (sano), Infectado, o Recuperado (ya inmune). El brote crece mientras la tasa de contagio supere la de recuperación.
SI PREGUNTAN POR LA ANALOGÍA ELÉCTRICA (P9.5)
"En una red de transmisión eléctrica la 'carga' es el flujo de potencia de una línea, la 'capacidad' es su límite térmico, y la 'cascada' es literalmente un apagón en cascada — el del noreste de EE. UU. y Canadá en 2003 es el caso canónico. Motter y Lai formalizan precisamente esa analogía. La diferencia técnica es que allí el flujo lo determinan las leyes de Kirchhoff y no los caminos más cortos, pero igualmente se concentra en pocas líneas troncales, que es la propiedad que hace funcionar la analogía."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(≈60 s)
"P10 consolida todo lo anterior en un ranking único. El índice compuesto es el promedio de cuatro señales, cada una normalizada entre 0 y 1: la intermediación de la Fase 1, si el equipo es punto de articulación, en cuántos cortes mínimos de la Fase 3 participa, y cuánto daño causa en la cascada de la Fase 4."
"Elegí PESOS IGUALES deliberadamente, y lo declaro en el informe: las cuatro señales miden cosas genuinamente distintas y no tengo base técnica para privilegiar una sin una prioridad de negocio declarada por la institución. Si me dijeran que la continuidad de servicio pesa más que el ancho de banda, el índice se reponderaría trivialmente — y los cinco primeros puestos se mantienen bajo cualquier reponderación razonable, porque puntúan alto en al menos tres de los cuatro componentes."
"INTERNET-MPLS encabeza por ser el único punto de salida de toda la institución."
"La sorpresa es el SEGUNDO puesto. BAL-AUL2-D1 no es core ni WAN: es un switch de agregación con intermediación modesta, 0,248. Pero participa en DIEZ cortes mínimos, el máximo de la red. Ninguna centralidad clásica por sí sola lo habría detectado. Ese es exactamente el valor de combinar cuatro señales en lugar de una."
"Y en cuarto y quinto lugar, en rojo, el par que sostiene todo Campus Paraíso. Cuatro caminos analíticos independientes — centralidades, redundancia declarada, flujo máximo y este índice — convergen en el mismo diagnóstico. Esa convergencia es la mejor evidencia de que el diagnóstico es correcto."
SI PREGUNTAN POR DATCC-2A-C3 (tercer puesto, pero NO es articulación)
"Correcto, y es interesante: tiene la intermediación más alta de la red, 1,000, pero NO es punto de articulación, porque su gemelo DATCC-2A-C2 absorbe el tráfico si cae. La red no se parte. Lo que sí ocurre es que la capacidad de salida de Central cae a la mitad y la latencia efectiva se degrada de forma generalizada. Es el ejemplo perfecto de por qué la eficiencia importa tanto como la conectividad."
SI PREGUNTAN "¿por qué INTERNET-MPLS tiene 0 cortes?"
Porque en mi modelo de flujo es el SUMIDERO, el destino. Por construcción no puede aparecer como extremo de un corte. Su puesto lo gana por intermediación y por ser punto de articulación.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(≈70 s)
"La restricción del enunciado es dura: a lo sumo CINCO cambios de topología. Cada una de mis cinco sale de un patrón concreto del diagnóstico, no de una intuición."
"La PRIMERA y más importante: duplicar a 10 Gbps el enlace de salida de Paraíso. Es el cuello de botella de flujo más severo de la institución, y el estándar de 10 Gbps es el que ya usan los demás troncales WAN documentados."
"La SEGUNDA y la TERCERA atacan el mismo patrón: Hospitalidad y el Consultorio Jurídico dependen cada uno de un único enlace inferido hacia la nube MPLS, y ambos extremos son puntos de articulación. Les doy una ruta alterna hacia Campus Central."
"La CUARTA: Yanuncay depende de un único enlace troncal para sacar sus once equipos de acceso; ese enlace es, él solo, el corte mínimo del campus."
"La QUINTA es la más modesta y la reconozco como tal: mitiga el equipo de mayor tráfico detrás de BAL-AUL2-D1, el segundo puesto del ranking. No resuelve el patrón general de acceso de único homing, que afecta a 132 equipos y está muy fuera de presupuesto."
LA NOTA DE MODELADO — DILA EN VOZ ALTA, SUMA PUNTOS
"Quiero declarar algo explícitamente: 'duplicar' un enlace en un grafo simple NO crea una arista nueva. Una segunda fibra entre el MISMO par de equipos protege contra el corte de una fibra, pero no contra la falla del equipo. Por eso la intervención uno la modelo como aumento de capacidad y no como arista nueva. Ocultar esa distinción habría inflado artificialmente la mejora que reporto en la siguiente lámina."
SI PREGUNTAN POR FACTIBILIDAD (P11.4) — tenlo listo
"Las cinco tienen complejidad de obra muy distinta. La 1 y la 4 son upgrades de enlaces YA tendidos entre equipos ya conectados: cambio de óptica o SFP y, quizá, contrato de mayor ancho de banda con el proveedor MPLS. Sin obra civil, alta factibilidad. La 2 y la 3 requieren fibra nueva hacia Campus Central; si la distancia física excede lo razonable para fibra propia, en la práctica se resolvería con un segundo circuito del proveedor. La 5 es la más barata — cableado interno del mismo campus — pero también la de menor alcance: beneficia a un solo equipo. Si hubiera que ejecutarlas por fases, el orden por relación impacto/costo sería 1, 4, 3, 2, 5."</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(≈80 s)
"Los resultados. Los puentes bajan exactamente en tres — uno por cada arista topológicamente nueva que ofrece una ruta alterna real. La distancia media baja 3,1 %, la eficiencia sube 3,5 %, la robustez 3,7 %. Y el flujo de Paraíso se multiplica por diez."
"Explico dos cosas que podrían leerse como debilidades y prefiero decirlas yo antes de que me las pregunten."
"PRIMERA: los puntos de articulación bajan solo en uno, no en tres. Dar una segunda ruta al CAMPUS no siempre quita a un nodo su condición de articulación LOCAL: HOS-0A-D05 sigue siendo el único paso hacia sus cuatro equipos, aunque el campus ya no dependa de un único enlace externo."
"SEGUNDA: el flujo de Hospitalidad no cambia. Su cuello de botella real no está en la salida sino en la capa interna. La nueva ruta mejora la robustez topológica, que era el objetivo, sin tocar esa capacidad."
"Ahora la comparación con las alternativas, que es la parte que más me interesa. El enunciado exige demostrar que mi propuesta es mejor que alternativas obtenidas por criterios genéricos, así que probé dos: unir los cinco pares de mayor grado, y cinco enlaces al azar."
"A primera vista las alternativas GANAN. 'Mayor grado' da mejor distancia media, 4,74 frente a 5,65, y mejor eficiencia. La aleatoria reduce más los puentes, 128 frente a 138. Un lector apresurado diría que mi propuesta es la peor de las tres."
"La conclusión correcta es la contraria, y el motivo está en QUÉ miden esas columnas. 'Mayor grado' conecta sistemáticamente pares de core y agregación que YA tienen múltiples caminos entre sí: son atajos genéricos que mejoran métricas promedio precisamente porque acortan rutas que ya funcionaban. Su robustez es IDÉNTICA a la de la red base: cero mejora en lo que importa. La aleatoria reduce puentes por pura estadística, sin dirección: no se sabe qué se reparó ni se puede defender ante un comité de inversión."
"Y ninguna de las dos resuelve Paraíso, ni toca Hospitalidad."
CIERRA CON ESTA FRASE, DESPACIO
"La lección de ingeniería es que optimizar una métrica agregada no es lo mismo que reparar un modo de falla."
SI PREGUNTAN "¿qué es AUC de percolación?"
Es el área bajo la curva S(f): un único número que resume qué tan bien aguanta la red el ataque completo, de 0 a 1. Sirve para comparar dos redes de un vistazo, sin mirar toda la curva.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(≈60 s)
"Recapitulo en seis conclusiones, una por cada pieza del diagnóstico."
"Uno: la red es una jerarquía dispersa cuyas propiedades se explican por su heterogeneidad de grado y por el diseño, no por patrones sociales ni por crecimiento preferencial."
"Dos: los puntos críticos están identificados, y lo importante es que cuatro caminos analíticos independientes convergen en los mismos equipos."
"Tres: la falla sería grave y asimétrica — robusta al azar, frágil al ataque — y el servicio percibido se degrada antes que la conectividad."
"Cuatro: la fragilidad es de conectividad, no de sobrecarga en cadena. Eso cambia qué hay que comprar."
"Cinco: el informe institucional sobreestima la redundancia de Paraíso, y es el hallazgo más accionable."
"Seis: cinco enlaces bastan para mover la aguja, y la propuesta dirigida supera a las alternativas genéricas en lo que importa."
LAS LIMITACIONES — DILAS TÚ, NO ESPERES A QUE TE LAS SAQUEN
"Y termino con lo que este análisis NO puede concluir, con la misma claridad. 181 de las 209 capacidades son estimadas, y el propio análisis encontró un caso donde la regla falla. El modelo no incorpora energía, espacio en rack ni licencias. La red se trata como estática, con una sola foto de tráfico. Los resultados de percolación, cascada y SIR son promedios de muchas realizaciones: una falla real concreta puede comportarse distinto. Y no puedo concluir el retorno económico de ninguna intervención, solo su impacto estructural sobre las métricas de red."
POR QUÉ ESTO SUMA Y NO RESTA
Un informe que declara sus límites es más creíble, no menos. Si el jurado detecta una limitación que tú no mencionaste, parece un descuido; si tú la mencionas primero, parece rigor.
SI PREGUNTAN POR TRABAJO FUTURO
Tres extensiones concretas: (i) series de tiempo de tráfico de al menos un ciclo académico, para distinguir cuellos de botella permanentes de picos; (ii) completar la capacidad nominal de los 181 enlaces desde el inventario de equipamiento; y (iii) modelar la red como multigrafo con fiabilidad por enlace, lo que permitiría evaluar bien la duplicación de fibras y calcular disponibilidad esperada en lugar de solo conectividad.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DECIR (≈45 s)
"Cierro respondiendo la pregunta que el enunciado pone como criterio de excelencia."
"Si yo fuera el administrador de esta red y tuviera presupuesto para cinco enlaces, construiría los cinco de la propuesta, y EMPEZARÍA POR CAMPUS PARAÍSO."
"La razón es que esa primera intervención es simultáneamente las tres cosas que rara vez coinciden: la más BARATA, porque es un cambio de óptica sobre fibra ya tendida y no requiere obra civil; la de mayor IMPACTO medido, con un aumento de flujo del 900 %; y la que corrige una DISCREPANCIA documentada entre lo que el informe técnico afirma y lo que los datos muestran."
"Es decir: no es una decisión de compromiso. Es una decisión sin contrapartida, y por eso es por donde hay que empezar."
"Gracias. Quedo atento a las preguntas."
GESTIÓN DEL TIEMPO
Objetivo 15 minutos. Si vas justo, las láminas que puedes acelerar sin perder el hilo son la 5 (grado y triángulos), la 8 (modelos nulos) y la 13 (localización): son las tres que menos alimentan el argumento final y sirven perfectamente como respaldo si te preguntan por ellas. NO aceleres la 7 (Paraíso), la 12 (flujo máximo) ni la 18 (antes/después): son las que sostienen la tesis.
PREGUNTAS QUE ES PROBABLE QUE TE HAGAN
1. "¿Por qué implementaste los algoritmos desde cero?" → Lo pedía el enunciado; las bibliotecas solo se usan para verificar, y esa verificación es una aserción automática.
2. "¿Cómo sabes que tus estimaciones de capacidad son razonables?" → No lo sé con certeza, por eso registro el supuesto arista por arista y declaro que la regla de agregación-acceso es la más discutible. Y el propio análisis encontró el único caso donde la regla falla.
3. "¿Por qué pesos iguales en el índice compuesto?" → Porque no tengo una prioridad de negocio declarada. Es un punto de partida, no una verdad; y los cinco primeros puestos son robustos a la reponderación.
4. "¿Y si el presupuesto fuera de un solo enlace?" → La intervención 1, sin dudarlo: la más barata y la de mayor impacto.
5. "¿Usaste inteligencia artificial?" → Sí, y está declarado en el Anexo D del informe: asistencia en la traducción de los algoritmos a código Julia, en la revisión de errores, en la redacción y como tutor conceptual. El diseño metodológico, los criterios y las intervenciones son míos, y el texto final es responsabilidad mía.
Si no sabes una respuesta: "Es una buena observación, no lo verifiqué en este trabajo; queda como línea de extensión." Es mucho mejor que improvisar.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669280" cy="566928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10241280" y="3291840"/>
            <a:ext cx="4023360" cy="4023360"/>
          </a:xfrm>
          <a:prstGeom prst="ellipse">
            <a:avLst/>
          </a:prstGeom>
          <a:solidFill>
            <a:srgbClr val="A01A24">
              <a:alpha val="30000"/>
            </a:srgbClr>
          </a:solidFill>
          <a:ln w="12700">
            <a:solidFill>
              <a:srgbClr val="A01A24">
                <a:alpha val="0"/>
              </a:srgbClr>
            </a:solidFill>
            <a:prstDash val="solid"/>
          </a:ln>
        </p:spPr>
      </p:sp>
      <p:sp>
        <p:nvSpPr>
          <p:cNvPr id="4" name="Text 2"/>
          <p:cNvSpPr/>
          <p:nvPr/>
        </p:nvSpPr>
        <p:spPr>
          <a:xfrm>
            <a:off x="548640" y="1143000"/>
            <a:ext cx="8412480" cy="310896"/>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UNIVERSIDAD DE CUENCA  ·  MÓDULO 1217 — REDES COMPLEJAS</a:t>
            </a:r>
            <a:endParaRPr lang="en-US" sz="1200" dirty="0"/>
          </a:p>
        </p:txBody>
      </p:sp>
      <p:sp>
        <p:nvSpPr>
          <p:cNvPr id="5" name="Text 3"/>
          <p:cNvSpPr/>
          <p:nvPr/>
        </p:nvSpPr>
        <p:spPr>
          <a:xfrm>
            <a:off x="548640" y="1691640"/>
            <a:ext cx="8412480" cy="9144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Análisis de Redes Complejas</a:t>
            </a:r>
            <a:endParaRPr lang="en-US" sz="4600" dirty="0"/>
          </a:p>
        </p:txBody>
      </p:sp>
      <p:sp>
        <p:nvSpPr>
          <p:cNvPr id="6" name="Text 4"/>
          <p:cNvSpPr/>
          <p:nvPr/>
        </p:nvSpPr>
        <p:spPr>
          <a:xfrm>
            <a:off x="548640" y="2697480"/>
            <a:ext cx="8229600" cy="9144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La red de datos de la Universidad de Cuenca:</a:t>
            </a:r>
            <a:endParaRPr lang="en-US" sz="1900" dirty="0"/>
          </a:p>
          <a:p>
            <a:pPr marL="0" indent="0">
              <a:buNone/>
            </a:pPr>
            <a:r>
              <a:rPr lang="en-US" sz="1900" dirty="0">
                <a:solidFill>
                  <a:srgbClr val="CADCFC"/>
                </a:solidFill>
                <a:latin typeface="Calibri" pitchFamily="34" charset="0"/>
                <a:ea typeface="Calibri" pitchFamily="34" charset="-122"/>
                <a:cs typeface="Calibri" pitchFamily="34" charset="-120"/>
              </a:rPr>
              <a:t>diagnóstico de puntos críticos y rediseño acotado</a:t>
            </a:r>
            <a:endParaRPr lang="en-US" sz="1900" dirty="0"/>
          </a:p>
        </p:txBody>
      </p:sp>
      <p:sp>
        <p:nvSpPr>
          <p:cNvPr id="7" name="Text 5"/>
          <p:cNvSpPr/>
          <p:nvPr/>
        </p:nvSpPr>
        <p:spPr>
          <a:xfrm>
            <a:off x="548640" y="3749040"/>
            <a:ext cx="8412480" cy="365760"/>
          </a:xfrm>
          <a:prstGeom prst="rect">
            <a:avLst/>
          </a:prstGeom>
          <a:noFill/>
          <a:ln/>
        </p:spPr>
        <p:txBody>
          <a:bodyPr wrap="square" lIns="0" tIns="0" rIns="0" bIns="0" rtlCol="0" anchor="ctr"/>
          <a:lstStyle/>
          <a:p>
            <a:pPr marL="0" indent="0">
              <a:buNone/>
            </a:pPr>
            <a:r>
              <a:rPr lang="en-US" sz="1300" i="1" dirty="0">
                <a:solidFill>
                  <a:srgbClr val="9FB2E8"/>
                </a:solidFill>
                <a:latin typeface="Calibri" pitchFamily="34" charset="0"/>
                <a:ea typeface="Calibri" pitchFamily="34" charset="-122"/>
                <a:cs typeface="Calibri" pitchFamily="34" charset="-120"/>
              </a:rPr>
              <a:t>177 nodos  ·  209 enlaces  ·  6 campus + 2 sedes  ·  11 problemas, 5 fases</a:t>
            </a:r>
            <a:endParaRPr lang="en-US" sz="1300" dirty="0"/>
          </a:p>
        </p:txBody>
      </p:sp>
      <p:sp>
        <p:nvSpPr>
          <p:cNvPr id="8" name="Text 6"/>
          <p:cNvSpPr/>
          <p:nvPr/>
        </p:nvSpPr>
        <p:spPr>
          <a:xfrm>
            <a:off x="548640" y="4892040"/>
            <a:ext cx="8412480" cy="10972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Efrain Adolfo Alvarado Plasencia</a:t>
            </a:r>
            <a:endParaRPr lang="en-US" sz="1500" dirty="0"/>
          </a:p>
          <a:p>
            <a:pPr marL="0" indent="0">
              <a:buNone/>
            </a:pPr>
            <a:r>
              <a:rPr lang="en-US" sz="1200" dirty="0">
                <a:solidFill>
                  <a:srgbClr val="CADCFC"/>
                </a:solidFill>
                <a:latin typeface="Calibri" pitchFamily="34" charset="0"/>
                <a:ea typeface="Calibri" pitchFamily="34" charset="-122"/>
                <a:cs typeface="Calibri" pitchFamily="34" charset="-120"/>
              </a:rPr>
              <a:t>efrain.alvarado@ucuenca.edu.ec</a:t>
            </a:r>
            <a:endParaRPr lang="en-US" sz="1500" dirty="0"/>
          </a:p>
          <a:p>
            <a:pPr marL="0" indent="0">
              <a:buNone/>
            </a:pPr>
            <a:r>
              <a:rPr lang="en-US" sz="1200" dirty="0">
                <a:solidFill>
                  <a:srgbClr val="9FB2E8"/>
                </a:solidFill>
                <a:latin typeface="Calibri" pitchFamily="34" charset="0"/>
                <a:ea typeface="Calibri" pitchFamily="34" charset="-122"/>
                <a:cs typeface="Calibri" pitchFamily="34" charset="-120"/>
              </a:rPr>
              <a:t>Docente: Dr. Fabián Astudillo-Salinas   |   Agosto de 2026</a:t>
            </a:r>
            <a:endParaRPr lang="en-US" sz="1500" dirty="0"/>
          </a:p>
        </p:txBody>
      </p:sp>
      <p:sp>
        <p:nvSpPr>
          <p:cNvPr id="10" name="Text 7"/>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1" name="Text 8"/>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PUNTO DE PARTIDA</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La pregunta que amarra todo el trabajo</a:t>
            </a:r>
            <a:endParaRPr lang="en-US" sz="2900" dirty="0"/>
          </a:p>
        </p:txBody>
      </p:sp>
      <p:sp>
        <p:nvSpPr>
          <p:cNvPr id="4" name="Shape 2"/>
          <p:cNvSpPr/>
          <p:nvPr/>
        </p:nvSpPr>
        <p:spPr>
          <a:xfrm>
            <a:off x="548640" y="1481328"/>
            <a:ext cx="11064240" cy="960120"/>
          </a:xfrm>
          <a:prstGeom prst="roundRect">
            <a:avLst>
              <a:gd name="adj" fmla="val 7619"/>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5" name="Text 3"/>
          <p:cNvSpPr/>
          <p:nvPr/>
        </p:nvSpPr>
        <p:spPr>
          <a:xfrm>
            <a:off x="822960" y="1600200"/>
            <a:ext cx="10515600" cy="731520"/>
          </a:xfrm>
          <a:prstGeom prst="rect">
            <a:avLst/>
          </a:prstGeom>
          <a:noFill/>
          <a:ln/>
        </p:spPr>
        <p:txBody>
          <a:bodyPr wrap="square" lIns="0" tIns="0" rIns="0" bIns="0" rtlCol="0" anchor="ctr"/>
          <a:lstStyle/>
          <a:p>
            <a:pPr marL="0" indent="0">
              <a:buNone/>
            </a:pPr>
            <a:r>
              <a:rPr lang="en-US" sz="1550" i="1" dirty="0">
                <a:solidFill>
                  <a:srgbClr val="1E2761"/>
                </a:solidFill>
                <a:latin typeface="Cambria" pitchFamily="34" charset="0"/>
                <a:ea typeface="Cambria" pitchFamily="34" charset="-122"/>
                <a:cs typeface="Cambria" pitchFamily="34" charset="-120"/>
              </a:rPr>
              <a:t>«¿Cuáles son los puntos críticos de la red, qué tan grave sería su falla, y qué intervenciones concretas — acotadas en número y justificadas con métricas — mejorarían más su robustez y su desempeño?»</a:t>
            </a:r>
            <a:endParaRPr lang="en-US" sz="1550" dirty="0"/>
          </a:p>
        </p:txBody>
      </p:sp>
      <p:sp>
        <p:nvSpPr>
          <p:cNvPr id="6" name="Shape 4"/>
          <p:cNvSpPr/>
          <p:nvPr/>
        </p:nvSpPr>
        <p:spPr>
          <a:xfrm>
            <a:off x="548640" y="2743200"/>
            <a:ext cx="2081174" cy="2148840"/>
          </a:xfrm>
          <a:prstGeom prst="roundRect">
            <a:avLst>
              <a:gd name="adj" fmla="val 3515"/>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7" name="Text 5"/>
          <p:cNvSpPr/>
          <p:nvPr/>
        </p:nvSpPr>
        <p:spPr>
          <a:xfrm>
            <a:off x="685800" y="2880360"/>
            <a:ext cx="1806854" cy="256032"/>
          </a:xfrm>
          <a:prstGeom prst="rect">
            <a:avLst/>
          </a:prstGeom>
          <a:noFill/>
          <a:ln/>
        </p:spPr>
        <p:txBody>
          <a:bodyPr wrap="square" lIns="0" tIns="0" rIns="0" bIns="0" rtlCol="0" anchor="ctr"/>
          <a:lstStyle/>
          <a:p>
            <a:pPr marL="0" indent="0">
              <a:buNone/>
            </a:pPr>
            <a:r>
              <a:rPr lang="en-US" sz="1050" b="1" dirty="0">
                <a:solidFill>
                  <a:srgbClr val="A01A24"/>
                </a:solidFill>
                <a:latin typeface="Calibri" pitchFamily="34" charset="0"/>
                <a:ea typeface="Calibri" pitchFamily="34" charset="-122"/>
                <a:cs typeface="Calibri" pitchFamily="34" charset="-120"/>
              </a:rPr>
              <a:t>Fase 1  ·  P1–P2</a:t>
            </a:r>
            <a:endParaRPr lang="en-US" sz="1050" dirty="0"/>
          </a:p>
        </p:txBody>
      </p:sp>
      <p:sp>
        <p:nvSpPr>
          <p:cNvPr id="8" name="Text 6"/>
          <p:cNvSpPr/>
          <p:nvPr/>
        </p:nvSpPr>
        <p:spPr>
          <a:xfrm>
            <a:off x="685800" y="3154680"/>
            <a:ext cx="1806854" cy="384048"/>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Caracterizar</a:t>
            </a:r>
            <a:endParaRPr lang="en-US" sz="1600" dirty="0"/>
          </a:p>
        </p:txBody>
      </p:sp>
      <p:sp>
        <p:nvSpPr>
          <p:cNvPr id="9" name="Text 7"/>
          <p:cNvSpPr/>
          <p:nvPr/>
        </p:nvSpPr>
        <p:spPr>
          <a:xfrm>
            <a:off x="685800" y="3611880"/>
            <a:ext cx="1806854" cy="1143000"/>
          </a:xfrm>
          <a:prstGeom prst="rect">
            <a:avLst/>
          </a:prstGeom>
          <a:noFill/>
          <a:ln/>
        </p:spPr>
        <p:txBody>
          <a:bodyPr wrap="square" lIns="0" tIns="0" rIns="0" bIns="0" rtlCol="0" anchor="ctr"/>
          <a:lstStyle/>
          <a:p>
            <a:pPr marL="0" indent="0">
              <a:buNone/>
            </a:pPr>
            <a:r>
              <a:rPr lang="en-US" sz="1100" dirty="0">
                <a:solidFill>
                  <a:srgbClr val="5B6472"/>
                </a:solidFill>
                <a:latin typeface="Calibri" pitchFamily="34" charset="0"/>
                <a:ea typeface="Calibri" pitchFamily="34" charset="-122"/>
                <a:cs typeface="Calibri" pitchFamily="34" charset="-120"/>
              </a:rPr>
              <a:t>¿Qué forma tiene la red?</a:t>
            </a:r>
            <a:endParaRPr lang="en-US" sz="1100" dirty="0"/>
          </a:p>
          <a:p>
            <a:pPr marL="0" indent="0">
              <a:buNone/>
            </a:pPr>
            <a:r>
              <a:rPr lang="en-US" sz="1100" dirty="0">
                <a:solidFill>
                  <a:srgbClr val="5B6472"/>
                </a:solidFill>
                <a:latin typeface="Calibri" pitchFamily="34" charset="0"/>
                <a:ea typeface="Calibri" pitchFamily="34" charset="-122"/>
                <a:cs typeface="Calibri" pitchFamily="34" charset="-120"/>
              </a:rPr>
              <a:t>Medidas, centralidades,</a:t>
            </a:r>
            <a:endParaRPr lang="en-US" sz="1100" dirty="0"/>
          </a:p>
          <a:p>
            <a:pPr marL="0" indent="0">
              <a:buNone/>
            </a:pPr>
            <a:r>
              <a:rPr lang="en-US" sz="1100" dirty="0">
                <a:solidFill>
                  <a:srgbClr val="5B6472"/>
                </a:solidFill>
                <a:latin typeface="Calibri" pitchFamily="34" charset="0"/>
                <a:ea typeface="Calibri" pitchFamily="34" charset="-122"/>
                <a:cs typeface="Calibri" pitchFamily="34" charset="-120"/>
              </a:rPr>
              <a:t>puentes, modelos nulos</a:t>
            </a:r>
            <a:endParaRPr lang="en-US" sz="1100" dirty="0"/>
          </a:p>
        </p:txBody>
      </p:sp>
      <p:sp>
        <p:nvSpPr>
          <p:cNvPr id="10" name="Shape 8"/>
          <p:cNvSpPr/>
          <p:nvPr/>
        </p:nvSpPr>
        <p:spPr>
          <a:xfrm>
            <a:off x="2794406" y="2743200"/>
            <a:ext cx="2081174" cy="2148840"/>
          </a:xfrm>
          <a:prstGeom prst="roundRect">
            <a:avLst>
              <a:gd name="adj" fmla="val 3515"/>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1" name="Text 9"/>
          <p:cNvSpPr/>
          <p:nvPr/>
        </p:nvSpPr>
        <p:spPr>
          <a:xfrm>
            <a:off x="2931566" y="2880360"/>
            <a:ext cx="1806854" cy="256032"/>
          </a:xfrm>
          <a:prstGeom prst="rect">
            <a:avLst/>
          </a:prstGeom>
          <a:noFill/>
          <a:ln/>
        </p:spPr>
        <p:txBody>
          <a:bodyPr wrap="square" lIns="0" tIns="0" rIns="0" bIns="0" rtlCol="0" anchor="ctr"/>
          <a:lstStyle/>
          <a:p>
            <a:pPr marL="0" indent="0">
              <a:buNone/>
            </a:pPr>
            <a:r>
              <a:rPr lang="en-US" sz="1050" b="1" dirty="0">
                <a:solidFill>
                  <a:srgbClr val="A01A24"/>
                </a:solidFill>
                <a:latin typeface="Calibri" pitchFamily="34" charset="0"/>
                <a:ea typeface="Calibri" pitchFamily="34" charset="-122"/>
                <a:cs typeface="Calibri" pitchFamily="34" charset="-120"/>
              </a:rPr>
              <a:t>Fase 2  ·  P3–P4</a:t>
            </a:r>
            <a:endParaRPr lang="en-US" sz="1050" dirty="0"/>
          </a:p>
        </p:txBody>
      </p:sp>
      <p:sp>
        <p:nvSpPr>
          <p:cNvPr id="12" name="Text 10"/>
          <p:cNvSpPr/>
          <p:nvPr/>
        </p:nvSpPr>
        <p:spPr>
          <a:xfrm>
            <a:off x="2931566" y="3154680"/>
            <a:ext cx="1806854" cy="384048"/>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Recorrer y partir</a:t>
            </a:r>
            <a:endParaRPr lang="en-US" sz="1600" dirty="0"/>
          </a:p>
        </p:txBody>
      </p:sp>
      <p:sp>
        <p:nvSpPr>
          <p:cNvPr id="13" name="Text 11"/>
          <p:cNvSpPr/>
          <p:nvPr/>
        </p:nvSpPr>
        <p:spPr>
          <a:xfrm>
            <a:off x="2931566" y="3611880"/>
            <a:ext cx="1806854" cy="1143000"/>
          </a:xfrm>
          <a:prstGeom prst="rect">
            <a:avLst/>
          </a:prstGeom>
          <a:noFill/>
          <a:ln/>
        </p:spPr>
        <p:txBody>
          <a:bodyPr wrap="square" lIns="0" tIns="0" rIns="0" bIns="0" rtlCol="0" anchor="ctr"/>
          <a:lstStyle/>
          <a:p>
            <a:pPr marL="0" indent="0">
              <a:buNone/>
            </a:pPr>
            <a:r>
              <a:rPr lang="en-US" sz="1100" dirty="0">
                <a:solidFill>
                  <a:srgbClr val="5B6472"/>
                </a:solidFill>
                <a:latin typeface="Calibri" pitchFamily="34" charset="0"/>
                <a:ea typeface="Calibri" pitchFamily="34" charset="-122"/>
                <a:cs typeface="Calibri" pitchFamily="34" charset="-120"/>
              </a:rPr>
              <a:t>¿Se cumple la jerarquía?</a:t>
            </a:r>
            <a:endParaRPr lang="en-US" sz="1100" dirty="0"/>
          </a:p>
          <a:p>
            <a:pPr marL="0" indent="0">
              <a:buNone/>
            </a:pPr>
            <a:r>
              <a:rPr lang="en-US" sz="1100" dirty="0">
                <a:solidFill>
                  <a:srgbClr val="5B6472"/>
                </a:solidFill>
                <a:latin typeface="Calibri" pitchFamily="34" charset="0"/>
                <a:ea typeface="Calibri" pitchFamily="34" charset="-122"/>
                <a:cs typeface="Calibri" pitchFamily="34" charset="-120"/>
              </a:rPr>
              <a:t>¿Qué bloques hay?</a:t>
            </a:r>
            <a:endParaRPr lang="en-US" sz="1100" dirty="0"/>
          </a:p>
          <a:p>
            <a:pPr marL="0" indent="0">
              <a:buNone/>
            </a:pPr>
            <a:r>
              <a:rPr lang="en-US" sz="1100" dirty="0">
                <a:solidFill>
                  <a:srgbClr val="5B6472"/>
                </a:solidFill>
                <a:latin typeface="Calibri" pitchFamily="34" charset="0"/>
                <a:ea typeface="Calibri" pitchFamily="34" charset="-122"/>
                <a:cs typeface="Calibri" pitchFamily="34" charset="-120"/>
              </a:rPr>
              <a:t>BFS/DFS, Louvain</a:t>
            </a:r>
            <a:endParaRPr lang="en-US" sz="1100" dirty="0"/>
          </a:p>
        </p:txBody>
      </p:sp>
      <p:sp>
        <p:nvSpPr>
          <p:cNvPr id="14" name="Shape 12"/>
          <p:cNvSpPr/>
          <p:nvPr/>
        </p:nvSpPr>
        <p:spPr>
          <a:xfrm>
            <a:off x="5040173" y="2743200"/>
            <a:ext cx="2081174" cy="2148840"/>
          </a:xfrm>
          <a:prstGeom prst="roundRect">
            <a:avLst>
              <a:gd name="adj" fmla="val 3515"/>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5" name="Text 13"/>
          <p:cNvSpPr/>
          <p:nvPr/>
        </p:nvSpPr>
        <p:spPr>
          <a:xfrm>
            <a:off x="5177333" y="2880360"/>
            <a:ext cx="1806854" cy="256032"/>
          </a:xfrm>
          <a:prstGeom prst="rect">
            <a:avLst/>
          </a:prstGeom>
          <a:noFill/>
          <a:ln/>
        </p:spPr>
        <p:txBody>
          <a:bodyPr wrap="square" lIns="0" tIns="0" rIns="0" bIns="0" rtlCol="0" anchor="ctr"/>
          <a:lstStyle/>
          <a:p>
            <a:pPr marL="0" indent="0">
              <a:buNone/>
            </a:pPr>
            <a:r>
              <a:rPr lang="en-US" sz="1050" b="1" dirty="0">
                <a:solidFill>
                  <a:srgbClr val="A01A24"/>
                </a:solidFill>
                <a:latin typeface="Calibri" pitchFamily="34" charset="0"/>
                <a:ea typeface="Calibri" pitchFamily="34" charset="-122"/>
                <a:cs typeface="Calibri" pitchFamily="34" charset="-120"/>
              </a:rPr>
              <a:t>Fase 3  ·  P5–P7</a:t>
            </a:r>
            <a:endParaRPr lang="en-US" sz="1050" dirty="0"/>
          </a:p>
        </p:txBody>
      </p:sp>
      <p:sp>
        <p:nvSpPr>
          <p:cNvPr id="16" name="Text 14"/>
          <p:cNvSpPr/>
          <p:nvPr/>
        </p:nvSpPr>
        <p:spPr>
          <a:xfrm>
            <a:off x="5177333" y="3154680"/>
            <a:ext cx="1806854" cy="384048"/>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Optimizar</a:t>
            </a:r>
            <a:endParaRPr lang="en-US" sz="1600" dirty="0"/>
          </a:p>
        </p:txBody>
      </p:sp>
      <p:sp>
        <p:nvSpPr>
          <p:cNvPr id="17" name="Text 15"/>
          <p:cNvSpPr/>
          <p:nvPr/>
        </p:nvSpPr>
        <p:spPr>
          <a:xfrm>
            <a:off x="5177333" y="3611880"/>
            <a:ext cx="1806854" cy="1143000"/>
          </a:xfrm>
          <a:prstGeom prst="rect">
            <a:avLst/>
          </a:prstGeom>
          <a:noFill/>
          <a:ln/>
        </p:spPr>
        <p:txBody>
          <a:bodyPr wrap="square" lIns="0" tIns="0" rIns="0" bIns="0" rtlCol="0" anchor="ctr"/>
          <a:lstStyle/>
          <a:p>
            <a:pPr marL="0" indent="0">
              <a:buNone/>
            </a:pPr>
            <a:r>
              <a:rPr lang="en-US" sz="1100" dirty="0">
                <a:solidFill>
                  <a:srgbClr val="5B6472"/>
                </a:solidFill>
                <a:latin typeface="Calibri" pitchFamily="34" charset="0"/>
                <a:ea typeface="Calibri" pitchFamily="34" charset="-122"/>
                <a:cs typeface="Calibri" pitchFamily="34" charset="-120"/>
              </a:rPr>
              <a:t>¿Por dónde va el tráfico</a:t>
            </a:r>
            <a:endParaRPr lang="en-US" sz="1100" dirty="0"/>
          </a:p>
          <a:p>
            <a:pPr marL="0" indent="0">
              <a:buNone/>
            </a:pPr>
            <a:r>
              <a:rPr lang="en-US" sz="1100" dirty="0">
                <a:solidFill>
                  <a:srgbClr val="5B6472"/>
                </a:solidFill>
                <a:latin typeface="Calibri" pitchFamily="34" charset="0"/>
                <a:ea typeface="Calibri" pitchFamily="34" charset="-122"/>
                <a:cs typeface="Calibri" pitchFamily="34" charset="-120"/>
              </a:rPr>
              <a:t>y cuánto cabe?</a:t>
            </a:r>
            <a:endParaRPr lang="en-US" sz="1100" dirty="0"/>
          </a:p>
          <a:p>
            <a:pPr marL="0" indent="0">
              <a:buNone/>
            </a:pPr>
            <a:r>
              <a:rPr lang="en-US" sz="1100" dirty="0">
                <a:solidFill>
                  <a:srgbClr val="5B6472"/>
                </a:solidFill>
                <a:latin typeface="Calibri" pitchFamily="34" charset="0"/>
                <a:ea typeface="Calibri" pitchFamily="34" charset="-122"/>
                <a:cs typeface="Calibri" pitchFamily="34" charset="-120"/>
              </a:rPr>
              <a:t>Dijkstra, flujo máximo</a:t>
            </a:r>
            <a:endParaRPr lang="en-US" sz="1100" dirty="0"/>
          </a:p>
        </p:txBody>
      </p:sp>
      <p:sp>
        <p:nvSpPr>
          <p:cNvPr id="18" name="Shape 16"/>
          <p:cNvSpPr/>
          <p:nvPr/>
        </p:nvSpPr>
        <p:spPr>
          <a:xfrm>
            <a:off x="7285939" y="2743200"/>
            <a:ext cx="2081174" cy="2148840"/>
          </a:xfrm>
          <a:prstGeom prst="roundRect">
            <a:avLst>
              <a:gd name="adj" fmla="val 3515"/>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9" name="Text 17"/>
          <p:cNvSpPr/>
          <p:nvPr/>
        </p:nvSpPr>
        <p:spPr>
          <a:xfrm>
            <a:off x="7423099" y="2880360"/>
            <a:ext cx="1806854" cy="256032"/>
          </a:xfrm>
          <a:prstGeom prst="rect">
            <a:avLst/>
          </a:prstGeom>
          <a:noFill/>
          <a:ln/>
        </p:spPr>
        <p:txBody>
          <a:bodyPr wrap="square" lIns="0" tIns="0" rIns="0" bIns="0" rtlCol="0" anchor="ctr"/>
          <a:lstStyle/>
          <a:p>
            <a:pPr marL="0" indent="0">
              <a:buNone/>
            </a:pPr>
            <a:r>
              <a:rPr lang="en-US" sz="1050" b="1" dirty="0">
                <a:solidFill>
                  <a:srgbClr val="A01A24"/>
                </a:solidFill>
                <a:latin typeface="Calibri" pitchFamily="34" charset="0"/>
                <a:ea typeface="Calibri" pitchFamily="34" charset="-122"/>
                <a:cs typeface="Calibri" pitchFamily="34" charset="-120"/>
              </a:rPr>
              <a:t>Fase 4  ·  P8–P10</a:t>
            </a:r>
            <a:endParaRPr lang="en-US" sz="1050" dirty="0"/>
          </a:p>
        </p:txBody>
      </p:sp>
      <p:sp>
        <p:nvSpPr>
          <p:cNvPr id="20" name="Text 18"/>
          <p:cNvSpPr/>
          <p:nvPr/>
        </p:nvSpPr>
        <p:spPr>
          <a:xfrm>
            <a:off x="7423099" y="3154680"/>
            <a:ext cx="1806854" cy="384048"/>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Medir la robustez</a:t>
            </a:r>
            <a:endParaRPr lang="en-US" sz="1600" dirty="0"/>
          </a:p>
        </p:txBody>
      </p:sp>
      <p:sp>
        <p:nvSpPr>
          <p:cNvPr id="21" name="Text 19"/>
          <p:cNvSpPr/>
          <p:nvPr/>
        </p:nvSpPr>
        <p:spPr>
          <a:xfrm>
            <a:off x="7423099" y="3611880"/>
            <a:ext cx="1806854" cy="1143000"/>
          </a:xfrm>
          <a:prstGeom prst="rect">
            <a:avLst/>
          </a:prstGeom>
          <a:noFill/>
          <a:ln/>
        </p:spPr>
        <p:txBody>
          <a:bodyPr wrap="square" lIns="0" tIns="0" rIns="0" bIns="0" rtlCol="0" anchor="ctr"/>
          <a:lstStyle/>
          <a:p>
            <a:pPr marL="0" indent="0">
              <a:buNone/>
            </a:pPr>
            <a:r>
              <a:rPr lang="en-US" sz="1100" dirty="0">
                <a:solidFill>
                  <a:srgbClr val="5B6472"/>
                </a:solidFill>
                <a:latin typeface="Calibri" pitchFamily="34" charset="0"/>
                <a:ea typeface="Calibri" pitchFamily="34" charset="-122"/>
                <a:cs typeface="Calibri" pitchFamily="34" charset="-120"/>
              </a:rPr>
              <a:t>¿Qué pasa si falla algo?</a:t>
            </a:r>
            <a:endParaRPr lang="en-US" sz="1100" dirty="0"/>
          </a:p>
          <a:p>
            <a:pPr marL="0" indent="0">
              <a:buNone/>
            </a:pPr>
            <a:r>
              <a:rPr lang="en-US" sz="1100" dirty="0">
                <a:solidFill>
                  <a:srgbClr val="5B6472"/>
                </a:solidFill>
                <a:latin typeface="Calibri" pitchFamily="34" charset="0"/>
                <a:ea typeface="Calibri" pitchFamily="34" charset="-122"/>
                <a:cs typeface="Calibri" pitchFamily="34" charset="-120"/>
              </a:rPr>
              <a:t>Percolación, cascadas,</a:t>
            </a:r>
            <a:endParaRPr lang="en-US" sz="1100" dirty="0"/>
          </a:p>
          <a:p>
            <a:pPr marL="0" indent="0">
              <a:buNone/>
            </a:pPr>
            <a:r>
              <a:rPr lang="en-US" sz="1100" dirty="0">
                <a:solidFill>
                  <a:srgbClr val="5B6472"/>
                </a:solidFill>
                <a:latin typeface="Calibri" pitchFamily="34" charset="0"/>
                <a:ea typeface="Calibri" pitchFamily="34" charset="-122"/>
                <a:cs typeface="Calibri" pitchFamily="34" charset="-120"/>
              </a:rPr>
              <a:t>epidemias</a:t>
            </a:r>
            <a:endParaRPr lang="en-US" sz="1100" dirty="0"/>
          </a:p>
        </p:txBody>
      </p:sp>
      <p:sp>
        <p:nvSpPr>
          <p:cNvPr id="22" name="Shape 20"/>
          <p:cNvSpPr/>
          <p:nvPr/>
        </p:nvSpPr>
        <p:spPr>
          <a:xfrm>
            <a:off x="9531706" y="2743200"/>
            <a:ext cx="2081174" cy="2148840"/>
          </a:xfrm>
          <a:prstGeom prst="roundRect">
            <a:avLst>
              <a:gd name="adj" fmla="val 3515"/>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23" name="Text 21"/>
          <p:cNvSpPr/>
          <p:nvPr/>
        </p:nvSpPr>
        <p:spPr>
          <a:xfrm>
            <a:off x="9668866" y="2880360"/>
            <a:ext cx="1806854" cy="256032"/>
          </a:xfrm>
          <a:prstGeom prst="rect">
            <a:avLst/>
          </a:prstGeom>
          <a:noFill/>
          <a:ln/>
        </p:spPr>
        <p:txBody>
          <a:bodyPr wrap="square" lIns="0" tIns="0" rIns="0" bIns="0" rtlCol="0" anchor="ctr"/>
          <a:lstStyle/>
          <a:p>
            <a:pPr marL="0" indent="0">
              <a:buNone/>
            </a:pPr>
            <a:r>
              <a:rPr lang="en-US" sz="1050" b="1" dirty="0">
                <a:solidFill>
                  <a:srgbClr val="A01A24"/>
                </a:solidFill>
                <a:latin typeface="Calibri" pitchFamily="34" charset="0"/>
                <a:ea typeface="Calibri" pitchFamily="34" charset="-122"/>
                <a:cs typeface="Calibri" pitchFamily="34" charset="-120"/>
              </a:rPr>
              <a:t>Fase 5  ·  P11</a:t>
            </a:r>
            <a:endParaRPr lang="en-US" sz="1050" dirty="0"/>
          </a:p>
        </p:txBody>
      </p:sp>
      <p:sp>
        <p:nvSpPr>
          <p:cNvPr id="24" name="Text 22"/>
          <p:cNvSpPr/>
          <p:nvPr/>
        </p:nvSpPr>
        <p:spPr>
          <a:xfrm>
            <a:off x="9668866" y="3154680"/>
            <a:ext cx="1806854" cy="384048"/>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Rediseñar</a:t>
            </a:r>
            <a:endParaRPr lang="en-US" sz="1600" dirty="0"/>
          </a:p>
        </p:txBody>
      </p:sp>
      <p:sp>
        <p:nvSpPr>
          <p:cNvPr id="25" name="Text 23"/>
          <p:cNvSpPr/>
          <p:nvPr/>
        </p:nvSpPr>
        <p:spPr>
          <a:xfrm>
            <a:off x="9668866" y="3611880"/>
            <a:ext cx="1806854" cy="1143000"/>
          </a:xfrm>
          <a:prstGeom prst="rect">
            <a:avLst/>
          </a:prstGeom>
          <a:noFill/>
          <a:ln/>
        </p:spPr>
        <p:txBody>
          <a:bodyPr wrap="square" lIns="0" tIns="0" rIns="0" bIns="0" rtlCol="0" anchor="ctr"/>
          <a:lstStyle/>
          <a:p>
            <a:pPr marL="0" indent="0">
              <a:buNone/>
            </a:pPr>
            <a:r>
              <a:rPr lang="en-US" sz="1100" dirty="0">
                <a:solidFill>
                  <a:srgbClr val="5B6472"/>
                </a:solidFill>
                <a:latin typeface="Calibri" pitchFamily="34" charset="0"/>
                <a:ea typeface="Calibri" pitchFamily="34" charset="-122"/>
                <a:cs typeface="Calibri" pitchFamily="34" charset="-120"/>
              </a:rPr>
              <a:t>¿Qué cinco enlaces</a:t>
            </a:r>
            <a:endParaRPr lang="en-US" sz="1100" dirty="0"/>
          </a:p>
          <a:p>
            <a:pPr marL="0" indent="0">
              <a:buNone/>
            </a:pPr>
            <a:r>
              <a:rPr lang="en-US" sz="1100" dirty="0">
                <a:solidFill>
                  <a:srgbClr val="5B6472"/>
                </a:solidFill>
                <a:latin typeface="Calibri" pitchFamily="34" charset="0"/>
                <a:ea typeface="Calibri" pitchFamily="34" charset="-122"/>
                <a:cs typeface="Calibri" pitchFamily="34" charset="-120"/>
              </a:rPr>
              <a:t>construir y por qué?</a:t>
            </a:r>
            <a:endParaRPr lang="en-US" sz="1100" dirty="0"/>
          </a:p>
        </p:txBody>
      </p:sp>
      <p:sp>
        <p:nvSpPr>
          <p:cNvPr id="26" name="Text 24"/>
          <p:cNvSpPr/>
          <p:nvPr/>
        </p:nvSpPr>
        <p:spPr>
          <a:xfrm>
            <a:off x="548640" y="5120640"/>
            <a:ext cx="11064240" cy="457200"/>
          </a:xfrm>
          <a:prstGeom prst="rect">
            <a:avLst/>
          </a:prstGeom>
          <a:noFill/>
          <a:ln/>
        </p:spPr>
        <p:txBody>
          <a:bodyPr wrap="square" lIns="0" tIns="0" rIns="0" bIns="0" rtlCol="0" anchor="ctr"/>
          <a:lstStyle/>
          <a:p>
            <a:pPr marL="0" indent="0">
              <a:buNone/>
            </a:pPr>
            <a:r>
              <a:rPr lang="en-US" sz="1300" dirty="0">
                <a:solidFill>
                  <a:srgbClr val="1B1F2A"/>
                </a:solidFill>
                <a:latin typeface="Calibri" pitchFamily="34" charset="0"/>
                <a:ea typeface="Calibri" pitchFamily="34" charset="-122"/>
                <a:cs typeface="Calibri" pitchFamily="34" charset="-120"/>
              </a:rPr>
              <a:t>Las cinco fases están encadenadas: el ranking de criticidad de la Fase 4 usa los cortes mínimos calculados en la Fase 3, y las cinco intervenciones de la Fase 5 salen de ese ranking. No es una colección de ejercicios sueltos.</a:t>
            </a:r>
            <a:endParaRPr lang="en-US" sz="1300" dirty="0"/>
          </a:p>
        </p:txBody>
      </p:sp>
      <p:sp>
        <p:nvSpPr>
          <p:cNvPr id="27" name="Text 25"/>
          <p:cNvSpPr/>
          <p:nvPr/>
        </p:nvSpPr>
        <p:spPr>
          <a:xfrm>
            <a:off x="548640" y="5623560"/>
            <a:ext cx="11064240" cy="411480"/>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Todos los algoritmos centrales se programaron desde cero en Julia; las bibliotecas solo se usan para verificar que mis resultados coinciden con los suyos.</a:t>
            </a:r>
            <a:endParaRPr lang="en-US" sz="1250" dirty="0"/>
          </a:p>
        </p:txBody>
      </p:sp>
      <p:sp>
        <p:nvSpPr>
          <p:cNvPr id="29" name="Text 26"/>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30" name="Text 27"/>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EL CASO DE ESTUDIO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Una red de infraestructura real, no un grafo de juguete</a:t>
            </a:r>
            <a:endParaRPr lang="en-US" sz="2900" dirty="0"/>
          </a:p>
        </p:txBody>
      </p:sp>
      <p:sp>
        <p:nvSpPr>
          <p:cNvPr id="4" name="Shape 2"/>
          <p:cNvSpPr/>
          <p:nvPr/>
        </p:nvSpPr>
        <p:spPr>
          <a:xfrm>
            <a:off x="548640" y="1554480"/>
            <a:ext cx="11064240" cy="1325880"/>
          </a:xfrm>
          <a:prstGeom prst="roundRect">
            <a:avLst>
              <a:gd name="adj" fmla="val 551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640080" y="1664208"/>
            <a:ext cx="219456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177</a:t>
            </a:r>
            <a:endParaRPr lang="en-US" sz="4000" dirty="0"/>
          </a:p>
        </p:txBody>
      </p:sp>
      <p:sp>
        <p:nvSpPr>
          <p:cNvPr id="6" name="Text 4"/>
          <p:cNvSpPr/>
          <p:nvPr/>
        </p:nvSpPr>
        <p:spPr>
          <a:xfrm>
            <a:off x="640080" y="2395728"/>
            <a:ext cx="219456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nodos (equipos)</a:t>
            </a:r>
            <a:endParaRPr lang="en-US" sz="1050" dirty="0"/>
          </a:p>
        </p:txBody>
      </p:sp>
      <p:sp>
        <p:nvSpPr>
          <p:cNvPr id="7" name="Text 5"/>
          <p:cNvSpPr/>
          <p:nvPr/>
        </p:nvSpPr>
        <p:spPr>
          <a:xfrm>
            <a:off x="2926080" y="1664208"/>
            <a:ext cx="219456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209</a:t>
            </a:r>
            <a:endParaRPr lang="en-US" sz="4000" dirty="0"/>
          </a:p>
        </p:txBody>
      </p:sp>
      <p:sp>
        <p:nvSpPr>
          <p:cNvPr id="8" name="Text 6"/>
          <p:cNvSpPr/>
          <p:nvPr/>
        </p:nvSpPr>
        <p:spPr>
          <a:xfrm>
            <a:off x="2926080" y="2395728"/>
            <a:ext cx="219456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enlaces</a:t>
            </a:r>
            <a:endParaRPr lang="en-US" sz="1050" dirty="0"/>
          </a:p>
        </p:txBody>
      </p:sp>
      <p:sp>
        <p:nvSpPr>
          <p:cNvPr id="9" name="Text 7"/>
          <p:cNvSpPr/>
          <p:nvPr/>
        </p:nvSpPr>
        <p:spPr>
          <a:xfrm>
            <a:off x="5212080" y="1664208"/>
            <a:ext cx="219456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0,0134</a:t>
            </a:r>
            <a:endParaRPr lang="en-US" sz="4000" dirty="0"/>
          </a:p>
        </p:txBody>
      </p:sp>
      <p:sp>
        <p:nvSpPr>
          <p:cNvPr id="10" name="Text 8"/>
          <p:cNvSpPr/>
          <p:nvPr/>
        </p:nvSpPr>
        <p:spPr>
          <a:xfrm>
            <a:off x="5212080" y="2395728"/>
            <a:ext cx="219456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densidad</a:t>
            </a:r>
            <a:endParaRPr lang="en-US" sz="1050" dirty="0"/>
          </a:p>
        </p:txBody>
      </p:sp>
      <p:sp>
        <p:nvSpPr>
          <p:cNvPr id="11" name="Text 9"/>
          <p:cNvSpPr/>
          <p:nvPr/>
        </p:nvSpPr>
        <p:spPr>
          <a:xfrm>
            <a:off x="7498080" y="1664208"/>
            <a:ext cx="219456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1</a:t>
            </a:r>
            <a:endParaRPr lang="en-US" sz="4000" dirty="0"/>
          </a:p>
        </p:txBody>
      </p:sp>
      <p:sp>
        <p:nvSpPr>
          <p:cNvPr id="12" name="Text 10"/>
          <p:cNvSpPr/>
          <p:nvPr/>
        </p:nvSpPr>
        <p:spPr>
          <a:xfrm>
            <a:off x="7498080" y="2395728"/>
            <a:ext cx="219456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componente conexa</a:t>
            </a:r>
            <a:endParaRPr lang="en-US" sz="1050" dirty="0"/>
          </a:p>
        </p:txBody>
      </p:sp>
      <p:sp>
        <p:nvSpPr>
          <p:cNvPr id="13" name="Text 11"/>
          <p:cNvSpPr/>
          <p:nvPr/>
        </p:nvSpPr>
        <p:spPr>
          <a:xfrm>
            <a:off x="9784080" y="1664208"/>
            <a:ext cx="1737360" cy="731520"/>
          </a:xfrm>
          <a:prstGeom prst="rect">
            <a:avLst/>
          </a:prstGeom>
          <a:noFill/>
          <a:ln/>
        </p:spPr>
        <p:txBody>
          <a:bodyPr wrap="square" lIns="0" tIns="0" rIns="0" bIns="0" rtlCol="0" anchor="ctr"/>
          <a:lstStyle/>
          <a:p>
            <a:pPr marL="0" indent="0" algn="ctr">
              <a:buNone/>
            </a:pPr>
            <a:r>
              <a:rPr lang="en-US" sz="4000" b="1" dirty="0">
                <a:solidFill>
                  <a:srgbClr val="A01A24"/>
                </a:solidFill>
                <a:latin typeface="Cambria" pitchFamily="34" charset="0"/>
                <a:ea typeface="Cambria" pitchFamily="34" charset="-122"/>
                <a:cs typeface="Cambria" pitchFamily="34" charset="-120"/>
              </a:rPr>
              <a:t>17</a:t>
            </a:r>
            <a:endParaRPr lang="en-US" sz="4000" dirty="0"/>
          </a:p>
        </p:txBody>
      </p:sp>
      <p:sp>
        <p:nvSpPr>
          <p:cNvPr id="14" name="Text 12"/>
          <p:cNvSpPr/>
          <p:nvPr/>
        </p:nvSpPr>
        <p:spPr>
          <a:xfrm>
            <a:off x="9784080" y="2395728"/>
            <a:ext cx="173736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enlaces inter-campus</a:t>
            </a:r>
            <a:endParaRPr lang="en-US" sz="1050" dirty="0"/>
          </a:p>
        </p:txBody>
      </p:sp>
      <p:sp>
        <p:nvSpPr>
          <p:cNvPr id="15" name="Text 13"/>
          <p:cNvSpPr/>
          <p:nvPr/>
        </p:nvSpPr>
        <p:spPr>
          <a:xfrm>
            <a:off x="548640" y="3035808"/>
            <a:ext cx="534924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Tres capas jerárquicas que declara el informe técnico</a:t>
            </a:r>
            <a:endParaRPr lang="en-US" sz="1450" dirty="0"/>
          </a:p>
        </p:txBody>
      </p:sp>
      <p:sp>
        <p:nvSpPr>
          <p:cNvPr id="16" name="Text 14"/>
          <p:cNvSpPr/>
          <p:nvPr/>
        </p:nvSpPr>
        <p:spPr>
          <a:xfrm>
            <a:off x="640080" y="3383280"/>
            <a:ext cx="5257800" cy="1371600"/>
          </a:xfrm>
          <a:prstGeom prst="rect">
            <a:avLst/>
          </a:prstGeom>
          <a:noFill/>
          <a:ln/>
        </p:spPr>
        <p:txBody>
          <a:bodyPr wrap="square" lIns="0" tIns="0" rIns="0" bIns="0" rtlCol="0" anchor="ctr"/>
          <a:lstStyle/>
          <a:p>
            <a:pPr marL="342900" indent="-342900">
              <a:spcAft>
                <a:spcPts val="500"/>
              </a:spcAft>
              <a:buSzPct val="100000"/>
              <a:buChar char="•"/>
            </a:pPr>
            <a:r>
              <a:rPr lang="en-US" sz="1250" dirty="0">
                <a:solidFill>
                  <a:srgbClr val="1B1F2A"/>
                </a:solidFill>
                <a:latin typeface="Calibri" pitchFamily="34" charset="0"/>
                <a:ea typeface="Calibri" pitchFamily="34" charset="-122"/>
                <a:cs typeface="Calibri" pitchFamily="34" charset="-120"/>
              </a:rPr>
              <a:t>core (5 nodos) — el «cerebro»: enrutamiento de alta velocidad</a:t>
            </a:r>
            <a:endParaRPr lang="en-US" sz="1250" dirty="0"/>
          </a:p>
          <a:p>
            <a:pPr marL="342900" indent="-342900">
              <a:spcAft>
                <a:spcPts val="500"/>
              </a:spcAft>
              <a:buSzPct val="100000"/>
              <a:buChar char="•"/>
            </a:pPr>
            <a:r>
              <a:rPr lang="en-US" sz="1250" dirty="0">
                <a:solidFill>
                  <a:srgbClr val="1B1F2A"/>
                </a:solidFill>
                <a:latin typeface="Calibri" pitchFamily="34" charset="0"/>
                <a:ea typeface="Calibri" pitchFamily="34" charset="-122"/>
                <a:cs typeface="Calibri" pitchFamily="34" charset="-120"/>
              </a:rPr>
              <a:t>agregación (27) — consolida facultades y bloques</a:t>
            </a:r>
            <a:endParaRPr lang="en-US" sz="1250" dirty="0"/>
          </a:p>
          <a:p>
            <a:pPr marL="342900" indent="-342900">
              <a:spcAft>
                <a:spcPts val="500"/>
              </a:spcAft>
              <a:buSzPct val="100000"/>
              <a:buChar char="•"/>
            </a:pPr>
            <a:r>
              <a:rPr lang="en-US" sz="1250" dirty="0">
                <a:solidFill>
                  <a:srgbClr val="1B1F2A"/>
                </a:solidFill>
                <a:latin typeface="Calibri" pitchFamily="34" charset="0"/>
                <a:ea typeface="Calibri" pitchFamily="34" charset="-122"/>
                <a:cs typeface="Calibri" pitchFamily="34" charset="-120"/>
              </a:rPr>
              <a:t>acceso (132) — donde se enchufa el usuario final</a:t>
            </a:r>
            <a:endParaRPr lang="en-US" sz="1250" dirty="0"/>
          </a:p>
          <a:p>
            <a:pPr marL="342900" indent="-342900">
              <a:spcAft>
                <a:spcPts val="500"/>
              </a:spcAft>
              <a:buSzPct val="100000"/>
              <a:buChar char="•"/>
            </a:pPr>
            <a:r>
              <a:rPr lang="en-US" sz="1250" dirty="0">
                <a:solidFill>
                  <a:srgbClr val="1B1F2A"/>
                </a:solidFill>
                <a:latin typeface="Calibri" pitchFamily="34" charset="0"/>
                <a:ea typeface="Calibri" pitchFamily="34" charset="-122"/>
                <a:cs typeface="Calibri" pitchFamily="34" charset="-120"/>
              </a:rPr>
              <a:t>wan (11) e interconexión (2) — routers y firewalls de salida</a:t>
            </a:r>
            <a:endParaRPr lang="en-US" sz="1250" dirty="0"/>
          </a:p>
        </p:txBody>
      </p:sp>
      <p:sp>
        <p:nvSpPr>
          <p:cNvPr id="17" name="Text 15"/>
          <p:cNvSpPr/>
          <p:nvPr/>
        </p:nvSpPr>
        <p:spPr>
          <a:xfrm>
            <a:off x="6263640" y="3035808"/>
            <a:ext cx="534924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Lo que traen los datos</a:t>
            </a:r>
            <a:endParaRPr lang="en-US" sz="1450" dirty="0"/>
          </a:p>
        </p:txBody>
      </p:sp>
      <p:sp>
        <p:nvSpPr>
          <p:cNvPr id="18" name="Text 16"/>
          <p:cNvSpPr/>
          <p:nvPr/>
        </p:nvSpPr>
        <p:spPr>
          <a:xfrm>
            <a:off x="6355080" y="3383280"/>
            <a:ext cx="5166360" cy="1371600"/>
          </a:xfrm>
          <a:prstGeom prst="rect">
            <a:avLst/>
          </a:prstGeom>
          <a:noFill/>
          <a:ln/>
        </p:spPr>
        <p:txBody>
          <a:bodyPr wrap="square" lIns="0" tIns="0" rIns="0" bIns="0" rtlCol="0" anchor="ctr"/>
          <a:lstStyle/>
          <a:p>
            <a:pPr marL="342900" indent="-342900">
              <a:spcAft>
                <a:spcPts val="500"/>
              </a:spcAft>
              <a:buSzPct val="100000"/>
              <a:buChar char="•"/>
            </a:pPr>
            <a:r>
              <a:rPr lang="en-US" sz="1250" dirty="0">
                <a:solidFill>
                  <a:srgbClr val="1B1F2A"/>
                </a:solidFill>
                <a:latin typeface="Calibri" pitchFamily="34" charset="0"/>
                <a:ea typeface="Calibri" pitchFamily="34" charset="-122"/>
                <a:cs typeface="Calibri" pitchFamily="34" charset="-120"/>
              </a:rPr>
              <a:t>tráfico medido en 170 de 209 aristas (una foto instantánea)</a:t>
            </a:r>
            <a:endParaRPr lang="en-US" sz="1250" dirty="0"/>
          </a:p>
          <a:p>
            <a:pPr marL="342900" indent="-342900">
              <a:spcAft>
                <a:spcPts val="500"/>
              </a:spcAft>
              <a:buSzPct val="100000"/>
              <a:buChar char="•"/>
            </a:pPr>
            <a:r>
              <a:rPr lang="en-US" sz="1250" dirty="0">
                <a:solidFill>
                  <a:srgbClr val="1B1F2A"/>
                </a:solidFill>
                <a:latin typeface="Calibri" pitchFamily="34" charset="0"/>
                <a:ea typeface="Calibri" pitchFamily="34" charset="-122"/>
                <a:cs typeface="Calibri" pitchFamily="34" charset="-120"/>
              </a:rPr>
              <a:t>capacidad nominal solo en 28 aristas → hay que estimar 181</a:t>
            </a:r>
            <a:endParaRPr lang="en-US" sz="1250" dirty="0"/>
          </a:p>
          <a:p>
            <a:pPr marL="342900" indent="-342900">
              <a:spcAft>
                <a:spcPts val="500"/>
              </a:spcAft>
              <a:buSzPct val="100000"/>
              <a:buChar char="•"/>
            </a:pPr>
            <a:r>
              <a:rPr lang="en-US" sz="1250" dirty="0">
                <a:solidFill>
                  <a:srgbClr val="1B1F2A"/>
                </a:solidFill>
                <a:latin typeface="Calibri" pitchFamily="34" charset="0"/>
                <a:ea typeface="Calibri" pitchFamily="34" charset="-122"/>
                <a:cs typeface="Calibri" pitchFamily="34" charset="-120"/>
              </a:rPr>
              <a:t>rol del enlace: principal (157), wan (32), respaldo (12), secundario (5), inferido (3)</a:t>
            </a:r>
            <a:endParaRPr lang="en-US" sz="1250" dirty="0"/>
          </a:p>
          <a:p>
            <a:pPr marL="342900" indent="-342900">
              <a:spcAft>
                <a:spcPts val="500"/>
              </a:spcAft>
              <a:buSzPct val="100000"/>
              <a:buChar char="•"/>
            </a:pPr>
            <a:r>
              <a:rPr lang="en-US" sz="1250" dirty="0">
                <a:solidFill>
                  <a:srgbClr val="1B1F2A"/>
                </a:solidFill>
                <a:latin typeface="Calibri" pitchFamily="34" charset="0"/>
                <a:ea typeface="Calibri" pitchFamily="34" charset="-122"/>
                <a:cs typeface="Calibri" pitchFamily="34" charset="-120"/>
              </a:rPr>
              <a:t>conjunto ya saneado de 61 inconsistencias de transcripción</a:t>
            </a:r>
            <a:endParaRPr lang="en-US" sz="1250" dirty="0"/>
          </a:p>
        </p:txBody>
      </p:sp>
      <p:sp>
        <p:nvSpPr>
          <p:cNvPr id="19" name="Shape 17"/>
          <p:cNvSpPr/>
          <p:nvPr/>
        </p:nvSpPr>
        <p:spPr>
          <a:xfrm>
            <a:off x="548640" y="5120640"/>
            <a:ext cx="11064240" cy="822960"/>
          </a:xfrm>
          <a:prstGeom prst="roundRect">
            <a:avLst>
              <a:gd name="adj" fmla="val 8889"/>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20" name="Text 18"/>
          <p:cNvSpPr/>
          <p:nvPr/>
        </p:nvSpPr>
        <p:spPr>
          <a:xfrm>
            <a:off x="777240" y="5257800"/>
            <a:ext cx="10607040" cy="548640"/>
          </a:xfrm>
          <a:prstGeom prst="rect">
            <a:avLst/>
          </a:prstGeom>
          <a:noFill/>
          <a:ln/>
        </p:spPr>
        <p:txBody>
          <a:bodyPr wrap="square" lIns="0" tIns="0" rIns="0" bIns="0" rtlCol="0" anchor="ctr"/>
          <a:lstStyle/>
          <a:p>
            <a:pPr marL="0" indent="0">
              <a:buNone/>
            </a:pPr>
            <a:r>
              <a:rPr lang="en-US" sz="1350" b="1" dirty="0">
                <a:solidFill>
                  <a:srgbClr val="A01A24"/>
                </a:solidFill>
                <a:latin typeface="Calibri" pitchFamily="34" charset="0"/>
                <a:ea typeface="Calibri" pitchFamily="34" charset="-122"/>
                <a:cs typeface="Calibri" pitchFamily="34" charset="-120"/>
              </a:rPr>
              <a:t>Solo 17 de 209 enlaces cruzan la frontera entre dos campus: la institución es, topológicamente, siete islas cosidas por un puñado de enlaces WAN.</a:t>
            </a:r>
            <a:endParaRPr lang="en-US" sz="1350" dirty="0"/>
          </a:p>
        </p:txBody>
      </p:sp>
      <p:sp>
        <p:nvSpPr>
          <p:cNvPr id="22" name="Text 19"/>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3" name="Text 20"/>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1  ·  P1 — MEDIDAS FUNDAMENTALES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Una jerarquía dispersa, con muy poca redundancia</a:t>
            </a:r>
            <a:endParaRPr lang="en-US" sz="2900" dirty="0"/>
          </a:p>
        </p:txBody>
      </p:sp>
      <p:sp>
        <p:nvSpPr>
          <p:cNvPr id="4" name="Shape 2"/>
          <p:cNvSpPr/>
          <p:nvPr/>
        </p:nvSpPr>
        <p:spPr>
          <a:xfrm>
            <a:off x="548640" y="1508760"/>
            <a:ext cx="11064240" cy="1325880"/>
          </a:xfrm>
          <a:prstGeom prst="roundRect">
            <a:avLst>
              <a:gd name="adj" fmla="val 551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640080" y="1627632"/>
            <a:ext cx="210312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2,36</a:t>
            </a:r>
            <a:endParaRPr lang="en-US" sz="4000" dirty="0"/>
          </a:p>
        </p:txBody>
      </p:sp>
      <p:sp>
        <p:nvSpPr>
          <p:cNvPr id="6" name="Text 4"/>
          <p:cNvSpPr/>
          <p:nvPr/>
        </p:nvSpPr>
        <p:spPr>
          <a:xfrm>
            <a:off x="640080" y="2359152"/>
            <a:ext cx="210312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grado medio</a:t>
            </a:r>
            <a:endParaRPr lang="en-US" sz="1050" dirty="0"/>
          </a:p>
        </p:txBody>
      </p:sp>
      <p:sp>
        <p:nvSpPr>
          <p:cNvPr id="7" name="Text 5"/>
          <p:cNvSpPr/>
          <p:nvPr/>
        </p:nvSpPr>
        <p:spPr>
          <a:xfrm>
            <a:off x="2834640" y="1627632"/>
            <a:ext cx="210312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0,0952</a:t>
            </a:r>
            <a:endParaRPr lang="en-US" sz="4000" dirty="0"/>
          </a:p>
        </p:txBody>
      </p:sp>
      <p:sp>
        <p:nvSpPr>
          <p:cNvPr id="8" name="Text 6"/>
          <p:cNvSpPr/>
          <p:nvPr/>
        </p:nvSpPr>
        <p:spPr>
          <a:xfrm>
            <a:off x="2834640" y="2359152"/>
            <a:ext cx="210312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clustering medio</a:t>
            </a:r>
            <a:endParaRPr lang="en-US" sz="1050" dirty="0"/>
          </a:p>
        </p:txBody>
      </p:sp>
      <p:sp>
        <p:nvSpPr>
          <p:cNvPr id="9" name="Text 7"/>
          <p:cNvSpPr/>
          <p:nvPr/>
        </p:nvSpPr>
        <p:spPr>
          <a:xfrm>
            <a:off x="5029200" y="1627632"/>
            <a:ext cx="210312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−0,1468</a:t>
            </a:r>
            <a:endParaRPr lang="en-US" sz="4000" dirty="0"/>
          </a:p>
        </p:txBody>
      </p:sp>
      <p:sp>
        <p:nvSpPr>
          <p:cNvPr id="10" name="Text 8"/>
          <p:cNvSpPr/>
          <p:nvPr/>
        </p:nvSpPr>
        <p:spPr>
          <a:xfrm>
            <a:off x="5029200" y="2359152"/>
            <a:ext cx="210312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asortatividad</a:t>
            </a:r>
            <a:endParaRPr lang="en-US" sz="1050" dirty="0"/>
          </a:p>
        </p:txBody>
      </p:sp>
      <p:sp>
        <p:nvSpPr>
          <p:cNvPr id="11" name="Text 9"/>
          <p:cNvSpPr/>
          <p:nvPr/>
        </p:nvSpPr>
        <p:spPr>
          <a:xfrm>
            <a:off x="7223760" y="1627632"/>
            <a:ext cx="210312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5,83</a:t>
            </a:r>
            <a:endParaRPr lang="en-US" sz="4000" dirty="0"/>
          </a:p>
        </p:txBody>
      </p:sp>
      <p:sp>
        <p:nvSpPr>
          <p:cNvPr id="12" name="Text 10"/>
          <p:cNvSpPr/>
          <p:nvPr/>
        </p:nvSpPr>
        <p:spPr>
          <a:xfrm>
            <a:off x="7223760" y="2359152"/>
            <a:ext cx="210312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distancia media</a:t>
            </a:r>
            <a:endParaRPr lang="en-US" sz="1050" dirty="0"/>
          </a:p>
        </p:txBody>
      </p:sp>
      <p:sp>
        <p:nvSpPr>
          <p:cNvPr id="13" name="Text 11"/>
          <p:cNvSpPr/>
          <p:nvPr/>
        </p:nvSpPr>
        <p:spPr>
          <a:xfrm>
            <a:off x="9418320" y="1627632"/>
            <a:ext cx="210312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11</a:t>
            </a:r>
            <a:endParaRPr lang="en-US" sz="4000" dirty="0"/>
          </a:p>
        </p:txBody>
      </p:sp>
      <p:sp>
        <p:nvSpPr>
          <p:cNvPr id="14" name="Text 12"/>
          <p:cNvSpPr/>
          <p:nvPr/>
        </p:nvSpPr>
        <p:spPr>
          <a:xfrm>
            <a:off x="9418320" y="2359152"/>
            <a:ext cx="210312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diámetro</a:t>
            </a:r>
            <a:endParaRPr lang="en-US" sz="1050" dirty="0"/>
          </a:p>
        </p:txBody>
      </p:sp>
      <p:sp>
        <p:nvSpPr>
          <p:cNvPr id="15" name="Shape 13"/>
          <p:cNvSpPr/>
          <p:nvPr/>
        </p:nvSpPr>
        <p:spPr>
          <a:xfrm>
            <a:off x="548640" y="2999232"/>
            <a:ext cx="5394960" cy="1325880"/>
          </a:xfrm>
          <a:prstGeom prst="roundRect">
            <a:avLst>
              <a:gd name="adj" fmla="val 5517"/>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16" name="Text 14"/>
          <p:cNvSpPr/>
          <p:nvPr/>
        </p:nvSpPr>
        <p:spPr>
          <a:xfrm>
            <a:off x="731520" y="3108960"/>
            <a:ext cx="2194560" cy="731520"/>
          </a:xfrm>
          <a:prstGeom prst="rect">
            <a:avLst/>
          </a:prstGeom>
          <a:noFill/>
          <a:ln/>
        </p:spPr>
        <p:txBody>
          <a:bodyPr wrap="square" lIns="0" tIns="0" rIns="0" bIns="0" rtlCol="0" anchor="ctr"/>
          <a:lstStyle/>
          <a:p>
            <a:pPr marL="0" indent="0" algn="ctr">
              <a:buNone/>
            </a:pPr>
            <a:r>
              <a:rPr lang="en-US" sz="4000" b="1" dirty="0">
                <a:solidFill>
                  <a:srgbClr val="A01A24"/>
                </a:solidFill>
                <a:latin typeface="Cambria" pitchFamily="34" charset="0"/>
                <a:ea typeface="Cambria" pitchFamily="34" charset="-122"/>
                <a:cs typeface="Cambria" pitchFamily="34" charset="-120"/>
              </a:rPr>
              <a:t>141</a:t>
            </a:r>
            <a:endParaRPr lang="en-US" sz="4000" dirty="0"/>
          </a:p>
        </p:txBody>
      </p:sp>
      <p:sp>
        <p:nvSpPr>
          <p:cNvPr id="17" name="Text 15"/>
          <p:cNvSpPr/>
          <p:nvPr/>
        </p:nvSpPr>
        <p:spPr>
          <a:xfrm>
            <a:off x="731520" y="3840480"/>
            <a:ext cx="219456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puentes (67,5 % de las aristas)</a:t>
            </a:r>
            <a:endParaRPr lang="en-US" sz="1050" dirty="0"/>
          </a:p>
        </p:txBody>
      </p:sp>
      <p:sp>
        <p:nvSpPr>
          <p:cNvPr id="18" name="Text 16"/>
          <p:cNvSpPr/>
          <p:nvPr/>
        </p:nvSpPr>
        <p:spPr>
          <a:xfrm>
            <a:off x="3108960" y="3291840"/>
            <a:ext cx="2606040" cy="868680"/>
          </a:xfrm>
          <a:prstGeom prst="rect">
            <a:avLst/>
          </a:prstGeom>
          <a:noFill/>
          <a:ln/>
        </p:spPr>
        <p:txBody>
          <a:bodyPr wrap="square" lIns="0" tIns="0" rIns="0" bIns="0" rtlCol="0" anchor="ctr"/>
          <a:lstStyle/>
          <a:p>
            <a:pPr marL="0" indent="0">
              <a:buNone/>
            </a:pPr>
            <a:r>
              <a:rPr lang="en-US" sz="1250" dirty="0">
                <a:solidFill>
                  <a:srgbClr val="1B1F2A"/>
                </a:solidFill>
                <a:latin typeface="Calibri" pitchFamily="34" charset="0"/>
                <a:ea typeface="Calibri" pitchFamily="34" charset="-122"/>
                <a:cs typeface="Calibri" pitchFamily="34" charset="-120"/>
              </a:rPr>
              <a:t>Un «puente» es un enlace que, al caer, parte la red en dos. Dos de cada tres enlaces lo son.</a:t>
            </a:r>
            <a:endParaRPr lang="en-US" sz="1250" dirty="0"/>
          </a:p>
        </p:txBody>
      </p:sp>
      <p:sp>
        <p:nvSpPr>
          <p:cNvPr id="19" name="Shape 17"/>
          <p:cNvSpPr/>
          <p:nvPr/>
        </p:nvSpPr>
        <p:spPr>
          <a:xfrm>
            <a:off x="6217920" y="2999232"/>
            <a:ext cx="5394960" cy="1325880"/>
          </a:xfrm>
          <a:prstGeom prst="roundRect">
            <a:avLst>
              <a:gd name="adj" fmla="val 5517"/>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20" name="Text 18"/>
          <p:cNvSpPr/>
          <p:nvPr/>
        </p:nvSpPr>
        <p:spPr>
          <a:xfrm>
            <a:off x="6400800" y="3108960"/>
            <a:ext cx="2194560" cy="731520"/>
          </a:xfrm>
          <a:prstGeom prst="rect">
            <a:avLst/>
          </a:prstGeom>
          <a:noFill/>
          <a:ln/>
        </p:spPr>
        <p:txBody>
          <a:bodyPr wrap="square" lIns="0" tIns="0" rIns="0" bIns="0" rtlCol="0" anchor="ctr"/>
          <a:lstStyle/>
          <a:p>
            <a:pPr marL="0" indent="0" algn="ctr">
              <a:buNone/>
            </a:pPr>
            <a:r>
              <a:rPr lang="en-US" sz="4000" b="1" dirty="0">
                <a:solidFill>
                  <a:srgbClr val="A01A24"/>
                </a:solidFill>
                <a:latin typeface="Cambria" pitchFamily="34" charset="0"/>
                <a:ea typeface="Cambria" pitchFamily="34" charset="-122"/>
                <a:cs typeface="Cambria" pitchFamily="34" charset="-120"/>
              </a:rPr>
              <a:t>47</a:t>
            </a:r>
            <a:endParaRPr lang="en-US" sz="4000" dirty="0"/>
          </a:p>
        </p:txBody>
      </p:sp>
      <p:sp>
        <p:nvSpPr>
          <p:cNvPr id="21" name="Text 19"/>
          <p:cNvSpPr/>
          <p:nvPr/>
        </p:nvSpPr>
        <p:spPr>
          <a:xfrm>
            <a:off x="6400800" y="3840480"/>
            <a:ext cx="219456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puntos de articulación</a:t>
            </a:r>
            <a:endParaRPr lang="en-US" sz="1050" dirty="0"/>
          </a:p>
        </p:txBody>
      </p:sp>
      <p:sp>
        <p:nvSpPr>
          <p:cNvPr id="22" name="Text 20"/>
          <p:cNvSpPr/>
          <p:nvPr/>
        </p:nvSpPr>
        <p:spPr>
          <a:xfrm>
            <a:off x="8778240" y="3291840"/>
            <a:ext cx="2606040" cy="868680"/>
          </a:xfrm>
          <a:prstGeom prst="rect">
            <a:avLst/>
          </a:prstGeom>
          <a:noFill/>
          <a:ln/>
        </p:spPr>
        <p:txBody>
          <a:bodyPr wrap="square" lIns="0" tIns="0" rIns="0" bIns="0" rtlCol="0" anchor="ctr"/>
          <a:lstStyle/>
          <a:p>
            <a:pPr marL="0" indent="0">
              <a:buNone/>
            </a:pPr>
            <a:r>
              <a:rPr lang="en-US" sz="1250" dirty="0">
                <a:solidFill>
                  <a:srgbClr val="1B1F2A"/>
                </a:solidFill>
                <a:latin typeface="Calibri" pitchFamily="34" charset="0"/>
                <a:ea typeface="Calibri" pitchFamily="34" charset="-122"/>
                <a:cs typeface="Calibri" pitchFamily="34" charset="-120"/>
              </a:rPr>
              <a:t>Un «punto de articulación» es un equipo cuya caída desconecta a otros. 26 de los 47 están en agregación, no en el core.</a:t>
            </a:r>
            <a:endParaRPr lang="en-US" sz="1250" dirty="0"/>
          </a:p>
        </p:txBody>
      </p:sp>
      <p:sp>
        <p:nvSpPr>
          <p:cNvPr id="23" name="Text 21"/>
          <p:cNvSpPr/>
          <p:nvPr/>
        </p:nvSpPr>
        <p:spPr>
          <a:xfrm>
            <a:off x="548640" y="4526280"/>
            <a:ext cx="11064240" cy="594360"/>
          </a:xfrm>
          <a:prstGeom prst="rect">
            <a:avLst/>
          </a:prstGeom>
          <a:noFill/>
          <a:ln/>
        </p:spPr>
        <p:txBody>
          <a:bodyPr wrap="square" lIns="0" tIns="0" rIns="0" bIns="0" rtlCol="0" anchor="ctr"/>
          <a:lstStyle/>
          <a:p>
            <a:pPr marL="0" indent="0">
              <a:buNone/>
            </a:pPr>
            <a:r>
              <a:rPr lang="en-US" sz="1250" b="1" dirty="0">
                <a:solidFill>
                  <a:srgbClr val="1B1F2A"/>
                </a:solidFill>
                <a:latin typeface="Calibri" pitchFamily="34" charset="0"/>
                <a:ea typeface="Calibri" pitchFamily="34" charset="-122"/>
                <a:cs typeface="Calibri" pitchFamily="34" charset="-120"/>
              </a:rPr>
              <a:t>Por campus: </a:t>
            </a:r>
            <a:r>
              <a:rPr lang="en-US" sz="1250" dirty="0">
                <a:solidFill>
                  <a:srgbClr val="1B1F2A"/>
                </a:solidFill>
                <a:latin typeface="Calibri" pitchFamily="34" charset="0"/>
                <a:ea typeface="Calibri" pitchFamily="34" charset="-122"/>
                <a:cs typeface="Calibri" pitchFamily="34" charset="-120"/>
              </a:rPr>
              <a:t>Central 113 puentes / 23 articulaciones  ·  Paraíso 84 / 14  ·  Balzay 50 / 6  ·  Yanuncay 24 / 2  ·  Hospitalidad 9 / 1. En términos relativos la fracción de puentes es alta en TODOS los campus.</a:t>
            </a:r>
            <a:endParaRPr lang="en-US" sz="1250" dirty="0"/>
          </a:p>
        </p:txBody>
      </p:sp>
      <p:sp>
        <p:nvSpPr>
          <p:cNvPr id="24" name="Shape 22"/>
          <p:cNvSpPr/>
          <p:nvPr/>
        </p:nvSpPr>
        <p:spPr>
          <a:xfrm>
            <a:off x="548640" y="5212080"/>
            <a:ext cx="11064240" cy="777240"/>
          </a:xfrm>
          <a:prstGeom prst="roundRect">
            <a:avLst>
              <a:gd name="adj" fmla="val 9412"/>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25" name="Text 23"/>
          <p:cNvSpPr/>
          <p:nvPr/>
        </p:nvSpPr>
        <p:spPr>
          <a:xfrm>
            <a:off x="777240" y="5330952"/>
            <a:ext cx="10607040" cy="5486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Solo 1 punto de articulación está en la capa core: el núcleo sí está bien construido. La fragilidad se desplazó un nivel hacia abajo, a la capa de agregación — y eso marcará toda la propuesta de rediseño.</a:t>
            </a:r>
            <a:endParaRPr lang="en-US" sz="1300" dirty="0"/>
          </a:p>
        </p:txBody>
      </p:sp>
      <p:sp>
        <p:nvSpPr>
          <p:cNvPr id="27" name="Text 24"/>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8" name="Text 25"/>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1  ·  P1.2–P1.4 — LAS PREGUNTAS, NO SOLO LOS NÚMEROS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Por qué esta red se ve así: grado, triángulos y jerarquía</a:t>
            </a:r>
            <a:endParaRPr lang="en-US" sz="2900" dirty="0"/>
          </a:p>
        </p:txBody>
      </p:sp>
      <p:pic>
        <p:nvPicPr>
          <p:cNvPr id="4" name="Image 0" descr="p1_distribucion_grado.png"/>
          <p:cNvPicPr>
            <a:picLocks noChangeAspect="1"/>
          </p:cNvPicPr>
          <p:nvPr/>
        </p:nvPicPr>
        <p:blipFill>
          <a:blip r:embed="rId3"/>
          <a:stretch>
            <a:fillRect/>
          </a:stretch>
        </p:blipFill>
        <p:spPr>
          <a:xfrm>
            <a:off x="548640" y="1481328"/>
            <a:ext cx="5486400" cy="2240280"/>
          </a:xfrm>
          <a:prstGeom prst="rect">
            <a:avLst/>
          </a:prstGeom>
        </p:spPr>
      </p:pic>
      <p:sp>
        <p:nvSpPr>
          <p:cNvPr id="5" name="Text 2"/>
          <p:cNvSpPr/>
          <p:nvPr/>
        </p:nvSpPr>
        <p:spPr>
          <a:xfrm>
            <a:off x="548640" y="3767328"/>
            <a:ext cx="5486400" cy="502920"/>
          </a:xfrm>
          <a:prstGeom prst="rect">
            <a:avLst/>
          </a:prstGeom>
          <a:noFill/>
          <a:ln/>
        </p:spPr>
        <p:txBody>
          <a:bodyPr wrap="square" lIns="0" tIns="0" rIns="0" bIns="0" rtlCol="0" anchor="ctr"/>
          <a:lstStyle/>
          <a:p>
            <a:pPr marL="0" indent="0">
              <a:buNone/>
            </a:pPr>
            <a:r>
              <a:rPr lang="en-US" sz="1100" i="1" dirty="0">
                <a:solidFill>
                  <a:srgbClr val="5B6472"/>
                </a:solidFill>
                <a:latin typeface="Calibri" pitchFamily="34" charset="0"/>
                <a:ea typeface="Calibri" pitchFamily="34" charset="-122"/>
                <a:cs typeface="Calibri" pitchFamily="34" charset="-120"/>
              </a:rPr>
              <a:t>113 de 177 nodos tienen grado 1 (hojas). Grado máximo 17 (DATCC-2A-C3) y 16 (DATCC-2A-C2): los dos core de Campus Central. Solo 4 nodos superan grado 10.</a:t>
            </a:r>
            <a:endParaRPr lang="en-US" sz="1100" dirty="0"/>
          </a:p>
        </p:txBody>
      </p:sp>
      <p:sp>
        <p:nvSpPr>
          <p:cNvPr id="6" name="Shape 3"/>
          <p:cNvSpPr/>
          <p:nvPr/>
        </p:nvSpPr>
        <p:spPr>
          <a:xfrm>
            <a:off x="6309360" y="1481328"/>
            <a:ext cx="5303520" cy="2331720"/>
          </a:xfrm>
          <a:prstGeom prst="roundRect">
            <a:avLst>
              <a:gd name="adj" fmla="val 313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7" name="Text 4"/>
          <p:cNvSpPr/>
          <p:nvPr/>
        </p:nvSpPr>
        <p:spPr>
          <a:xfrm>
            <a:off x="6537960" y="1627632"/>
            <a:ext cx="507492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¿Es una «red libre de escala»?</a:t>
            </a:r>
            <a:endParaRPr lang="en-US" sz="1600" dirty="0"/>
          </a:p>
        </p:txBody>
      </p:sp>
      <p:sp>
        <p:nvSpPr>
          <p:cNvPr id="8" name="Text 5"/>
          <p:cNvSpPr/>
          <p:nvPr/>
        </p:nvSpPr>
        <p:spPr>
          <a:xfrm>
            <a:off x="6537960" y="1965960"/>
            <a:ext cx="4846320" cy="1737360"/>
          </a:xfrm>
          <a:prstGeom prst="rect">
            <a:avLst/>
          </a:prstGeom>
          <a:noFill/>
          <a:ln/>
        </p:spPr>
        <p:txBody>
          <a:bodyPr wrap="square" lIns="0" tIns="0" rIns="0" bIns="0" rtlCol="0" anchor="t"/>
          <a:lstStyle/>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El ajuste sobre la cola da α ≈ 2,04, valor que en la literatura se leería como «libre de escala».</a:t>
            </a:r>
            <a:endParaRPr lang="en-US" sz="1200" dirty="0"/>
          </a:p>
          <a:p>
            <a:pPr marL="0" indent="0">
              <a:spcAft>
                <a:spcPts val="600"/>
              </a:spcAft>
              <a:buNone/>
            </a:pPr>
            <a:r>
              <a:rPr lang="en-US" sz="1200" b="1" dirty="0">
                <a:solidFill>
                  <a:srgbClr val="A01A24"/>
                </a:solidFill>
                <a:latin typeface="Calibri" pitchFamily="34" charset="0"/>
                <a:ea typeface="Calibri" pitchFamily="34" charset="-122"/>
                <a:cs typeface="Calibri" pitchFamily="34" charset="-120"/>
              </a:rPr>
              <a:t>Con n = 177 la muestra NO lo justifica.</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Haría falta el procedimiento de Clauset, Shalizi y Newman (2009): prueba Kolmogorov-Smirnov y comparación contra log-normal y exponencial. Lo indiscutible sí es la heterogeneidad: el grado máximo es 7 veces el grado medio.</a:t>
            </a:r>
            <a:endParaRPr lang="en-US" sz="1200" dirty="0"/>
          </a:p>
        </p:txBody>
      </p:sp>
      <p:sp>
        <p:nvSpPr>
          <p:cNvPr id="9" name="Shape 6"/>
          <p:cNvSpPr/>
          <p:nvPr/>
        </p:nvSpPr>
        <p:spPr>
          <a:xfrm>
            <a:off x="548640" y="4343400"/>
            <a:ext cx="5394960" cy="1691640"/>
          </a:xfrm>
          <a:prstGeom prst="roundRect">
            <a:avLst>
              <a:gd name="adj" fmla="val 4324"/>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0" name="Text 7"/>
          <p:cNvSpPr/>
          <p:nvPr/>
        </p:nvSpPr>
        <p:spPr>
          <a:xfrm>
            <a:off x="777240" y="4462272"/>
            <a:ext cx="4937760" cy="292608"/>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¿Por qué el clustering es tan bajo?   C = 0,0952</a:t>
            </a:r>
            <a:endParaRPr lang="en-US" sz="1500" dirty="0"/>
          </a:p>
        </p:txBody>
      </p:sp>
      <p:sp>
        <p:nvSpPr>
          <p:cNvPr id="11" name="Text 8"/>
          <p:cNvSpPr/>
          <p:nvPr/>
        </p:nvSpPr>
        <p:spPr>
          <a:xfrm>
            <a:off x="777240" y="4773168"/>
            <a:ext cx="4937760" cy="118872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En una red social los amigos de una persona tienden a conocerse (C ≈ 0,3–0,6). En una jerarquía core-agregación-acceso pasa lo contrario: dos equipos colgados del mismo switch NO se conectan entre sí, porque no aporta nada y consume puertos. No es un defecto: es la firma de una topología en estrella de estrellas.</a:t>
            </a:r>
            <a:endParaRPr lang="en-US" sz="1150" dirty="0"/>
          </a:p>
        </p:txBody>
      </p:sp>
      <p:sp>
        <p:nvSpPr>
          <p:cNvPr id="12" name="Shape 9"/>
          <p:cNvSpPr/>
          <p:nvPr/>
        </p:nvSpPr>
        <p:spPr>
          <a:xfrm>
            <a:off x="6217920" y="4343400"/>
            <a:ext cx="5394960" cy="1691640"/>
          </a:xfrm>
          <a:prstGeom prst="roundRect">
            <a:avLst>
              <a:gd name="adj" fmla="val 4324"/>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3" name="Text 10"/>
          <p:cNvSpPr/>
          <p:nvPr/>
        </p:nvSpPr>
        <p:spPr>
          <a:xfrm>
            <a:off x="6446520" y="4462272"/>
            <a:ext cx="4937760" cy="292608"/>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¿Por qué la asortatividad es negativa?   r = −0,1468</a:t>
            </a:r>
            <a:endParaRPr lang="en-US" sz="1500" dirty="0"/>
          </a:p>
        </p:txBody>
      </p:sp>
      <p:sp>
        <p:nvSpPr>
          <p:cNvPr id="14" name="Text 11"/>
          <p:cNvSpPr/>
          <p:nvPr/>
        </p:nvSpPr>
        <p:spPr>
          <a:xfrm>
            <a:off x="6446520" y="4773168"/>
            <a:ext cx="4937760" cy="118872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Negativa significa que los equipos muy conectados se enlazan con equipos poco conectados, no entre sí. Es justo lo que dicta la jerarquía: un switch de agregación con 12 puertos los usa para colgar 12 equipos de acceso de grado 1, no para hablar con otros 12 switches. En una red social el signo sería el contrario.</a:t>
            </a:r>
            <a:endParaRPr lang="en-US" sz="1150" dirty="0"/>
          </a:p>
        </p:txBody>
      </p:sp>
      <p:sp>
        <p:nvSpPr>
          <p:cNvPr id="16" name="Text 12"/>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7" name="Text 13"/>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1  ·  P1.3 — CENTRALIDADES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Grado ≠ intermediación: dos criticidades distintas</a:t>
            </a:r>
            <a:endParaRPr lang="en-US" sz="2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1810512"/>
        </p:xfrm>
        <a:graphic>
          <a:graphicData uri="http://schemas.openxmlformats.org/drawingml/2006/table">
            <a:tbl>
              <a:tblPr/>
              <a:tblGrid>
                <a:gridCol w="457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01752">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Grado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Cercanía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Intermediación</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Vector propio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 (17)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 (1,000)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DATCC-2A-C2 (16)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CPAR-C10 (0,404)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AGRPRI-1A-D10 (12)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PE2-CENTRAL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ROUTER-HUAYNA-CAPAC (0,366)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BAL-AUL2-D1 (12)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 (0,366)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CC-ARQUITECTURA-D107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CC-ARQUITECTURA-D107 (10)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PE1-CENTRAL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PE2-CENTRAL (0,288)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CC-MONJAS-D126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48640" y="3703320"/>
            <a:ext cx="5394960" cy="1965960"/>
          </a:xfrm>
          <a:prstGeom prst="roundRect">
            <a:avLst>
              <a:gd name="adj" fmla="val 372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6" name="Text 3"/>
          <p:cNvSpPr/>
          <p:nvPr/>
        </p:nvSpPr>
        <p:spPr>
          <a:xfrm>
            <a:off x="777240" y="3840480"/>
            <a:ext cx="4937760" cy="502920"/>
          </a:xfrm>
          <a:prstGeom prst="rect">
            <a:avLst/>
          </a:prstGeom>
          <a:noFill/>
          <a:ln/>
        </p:spPr>
        <p:txBody>
          <a:bodyPr wrap="square" lIns="0" tIns="0" rIns="0" bIns="0" rtlCol="0" anchor="ctr"/>
          <a:lstStyle/>
          <a:p>
            <a:pPr marL="0" indent="0">
              <a:buNone/>
            </a:pPr>
            <a:r>
              <a:rPr lang="en-US" sz="1550" b="1" dirty="0">
                <a:solidFill>
                  <a:srgbClr val="1E2761"/>
                </a:solidFill>
                <a:latin typeface="Cambria" pitchFamily="34" charset="0"/>
                <a:ea typeface="Cambria" pitchFamily="34" charset="-122"/>
                <a:cs typeface="Cambria" pitchFamily="34" charset="-120"/>
              </a:rPr>
              <a:t>Solo 4 de los 10 coinciden entre grado e intermediación</a:t>
            </a:r>
            <a:endParaRPr lang="en-US" sz="1550" dirty="0"/>
          </a:p>
        </p:txBody>
      </p:sp>
      <p:sp>
        <p:nvSpPr>
          <p:cNvPr id="4" name="Text 4"/>
          <p:cNvSpPr/>
          <p:nvPr/>
        </p:nvSpPr>
        <p:spPr>
          <a:xfrm>
            <a:off x="777240" y="4343400"/>
            <a:ext cx="4937760" cy="1234440"/>
          </a:xfrm>
          <a:prstGeom prst="rect">
            <a:avLst/>
          </a:prstGeom>
          <a:noFill/>
          <a:ln/>
        </p:spPr>
        <p:txBody>
          <a:bodyPr wrap="square" lIns="0" tIns="0" rIns="0" bIns="0" rtlCol="0" anchor="t"/>
          <a:lstStyle/>
          <a:p>
            <a:pPr marL="0" indent="0">
              <a:spcAft>
                <a:spcPts val="600"/>
              </a:spcAft>
              <a:buNone/>
            </a:pPr>
            <a:r>
              <a:rPr lang="en-US" sz="1150" dirty="0">
                <a:solidFill>
                  <a:srgbClr val="1B1F2A"/>
                </a:solidFill>
                <a:latin typeface="Calibri" pitchFamily="34" charset="0"/>
                <a:ea typeface="Calibri" pitchFamily="34" charset="-122"/>
                <a:cs typeface="Calibri" pitchFamily="34" charset="-120"/>
              </a:rPr>
              <a:t>GRADO: cuántos vecinos DIRECTOS tiene el equipo. Un switch de agregación con muchos puertos ocupados puntúa alto aunque nadie más pase por él.</a:t>
            </a:r>
            <a:endParaRPr lang="en-US" sz="1150" dirty="0"/>
          </a:p>
          <a:p>
            <a:pPr marL="0" indent="0">
              <a:spcAft>
                <a:spcPts val="600"/>
              </a:spcAft>
              <a:buNone/>
            </a:pPr>
            <a:r>
              <a:rPr lang="en-US" sz="1150" dirty="0">
                <a:solidFill>
                  <a:srgbClr val="1B1F2A"/>
                </a:solidFill>
                <a:latin typeface="Calibri" pitchFamily="34" charset="0"/>
                <a:ea typeface="Calibri" pitchFamily="34" charset="-122"/>
                <a:cs typeface="Calibri" pitchFamily="34" charset="-120"/>
              </a:rPr>
              <a:t>INTERMEDIACIÓN: por cuántos caminos más cortos ENTRE TERCEROS pasa el equipo. Aquí puntúan los core y los routers de interconexión, que están en el único camino posible entre campus.</a:t>
            </a:r>
            <a:endParaRPr lang="en-US" sz="1150" dirty="0"/>
          </a:p>
        </p:txBody>
      </p:sp>
      <p:sp>
        <p:nvSpPr>
          <p:cNvPr id="8" name="Shape 5"/>
          <p:cNvSpPr/>
          <p:nvPr/>
        </p:nvSpPr>
        <p:spPr>
          <a:xfrm>
            <a:off x="6217920" y="3703320"/>
            <a:ext cx="5394960" cy="1965960"/>
          </a:xfrm>
          <a:prstGeom prst="roundRect">
            <a:avLst>
              <a:gd name="adj" fmla="val 372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9" name="Text 6"/>
          <p:cNvSpPr/>
          <p:nvPr/>
        </p:nvSpPr>
        <p:spPr>
          <a:xfrm>
            <a:off x="6446520" y="3840480"/>
            <a:ext cx="4937760" cy="320040"/>
          </a:xfrm>
          <a:prstGeom prst="rect">
            <a:avLst/>
          </a:prstGeom>
          <a:noFill/>
          <a:ln/>
        </p:spPr>
        <p:txBody>
          <a:bodyPr wrap="square" lIns="0" tIns="0" rIns="0" bIns="0" rtlCol="0" anchor="ctr"/>
          <a:lstStyle/>
          <a:p>
            <a:pPr marL="0" indent="0">
              <a:buNone/>
            </a:pPr>
            <a:r>
              <a:rPr lang="en-US" sz="1550" b="1" dirty="0">
                <a:solidFill>
                  <a:srgbClr val="A01A24"/>
                </a:solidFill>
                <a:latin typeface="Cambria" pitchFamily="34" charset="0"/>
                <a:ea typeface="Cambria" pitchFamily="34" charset="-122"/>
                <a:cs typeface="Cambria" pitchFamily="34" charset="-120"/>
              </a:rPr>
              <a:t>Papeles distintos, protección distinta</a:t>
            </a:r>
            <a:endParaRPr lang="en-US" sz="1550" dirty="0"/>
          </a:p>
        </p:txBody>
      </p:sp>
      <p:sp>
        <p:nvSpPr>
          <p:cNvPr id="10" name="Text 7"/>
          <p:cNvSpPr/>
          <p:nvPr/>
        </p:nvSpPr>
        <p:spPr>
          <a:xfrm>
            <a:off x="6446520" y="4206240"/>
            <a:ext cx="4937760" cy="1371600"/>
          </a:xfrm>
          <a:prstGeom prst="rect">
            <a:avLst/>
          </a:prstGeom>
          <a:noFill/>
          <a:ln/>
        </p:spPr>
        <p:txBody>
          <a:bodyPr wrap="square" lIns="0" tIns="0" rIns="0" bIns="0" rtlCol="0" anchor="t"/>
          <a:lstStyle/>
          <a:p>
            <a:pPr marL="0" indent="0">
              <a:spcAft>
                <a:spcPts val="600"/>
              </a:spcAft>
              <a:buNone/>
            </a:pPr>
            <a:r>
              <a:rPr lang="en-US" sz="1150" dirty="0">
                <a:solidFill>
                  <a:srgbClr val="1B1F2A"/>
                </a:solidFill>
                <a:latin typeface="Calibri" pitchFamily="34" charset="0"/>
                <a:ea typeface="Calibri" pitchFamily="34" charset="-122"/>
                <a:cs typeface="Calibri" pitchFamily="34" charset="-120"/>
              </a:rPr>
              <a:t>BAL-AUL2-D1 es crítico para SUS diez equipos. Si cae, esos diez pierden servicio y el resto de la institución ni se entera.</a:t>
            </a:r>
            <a:endParaRPr lang="en-US" sz="1150" dirty="0"/>
          </a:p>
          <a:p>
            <a:pPr marL="0" indent="0">
              <a:spcAft>
                <a:spcPts val="600"/>
              </a:spcAft>
              <a:buNone/>
            </a:pPr>
            <a:r>
              <a:rPr lang="en-US" sz="1150" b="1" dirty="0">
                <a:solidFill>
                  <a:srgbClr val="1B1F2A"/>
                </a:solidFill>
                <a:latin typeface="Calibri" pitchFamily="34" charset="0"/>
                <a:ea typeface="Calibri" pitchFamily="34" charset="-122"/>
                <a:cs typeface="Calibri" pitchFamily="34" charset="-120"/>
              </a:rPr>
              <a:t>DATCC-2A-C3 o CPAR-C10 son críticos PARA TODOS LOS DEMÁS. Si caen, se parte la red.</a:t>
            </a:r>
            <a:endParaRPr lang="en-US" sz="1150" dirty="0"/>
          </a:p>
          <a:p>
            <a:pPr marL="0" indent="0">
              <a:spcAft>
                <a:spcPts val="600"/>
              </a:spcAft>
              <a:buNone/>
            </a:pPr>
            <a:r>
              <a:rPr lang="en-US" sz="1150" dirty="0">
                <a:solidFill>
                  <a:srgbClr val="1B1F2A"/>
                </a:solidFill>
                <a:latin typeface="Calibri" pitchFamily="34" charset="0"/>
                <a:ea typeface="Calibri" pitchFamily="34" charset="-122"/>
                <a:cs typeface="Calibri" pitchFamily="34" charset="-120"/>
              </a:rPr>
              <a:t>Un plan de continuidad que priorice solo por número de usuarios afectados protegerá los primeros y descuidará los segundos.</a:t>
            </a:r>
            <a:endParaRPr lang="en-US" sz="115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326880" y="3840480"/>
            <a:ext cx="4572000" cy="4572000"/>
          </a:xfrm>
          <a:prstGeom prst="ellipse">
            <a:avLst/>
          </a:prstGeom>
          <a:solidFill>
            <a:srgbClr val="A01A24">
              <a:alpha val="35000"/>
            </a:srgbClr>
          </a:solidFill>
          <a:ln w="12700">
            <a:solidFill>
              <a:srgbClr val="A01A24">
                <a:alpha val="0"/>
              </a:srgbClr>
            </a:solidFill>
            <a:prstDash val="solid"/>
          </a:ln>
        </p:spPr>
      </p:sp>
      <p:sp>
        <p:nvSpPr>
          <p:cNvPr id="3" name="Text 1"/>
          <p:cNvSpPr/>
          <p:nvPr/>
        </p:nvSpPr>
        <p:spPr>
          <a:xfrm>
            <a:off x="548640" y="640080"/>
            <a:ext cx="11064240" cy="320040"/>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HALLAZGO 1  ·  FASE 1  ·  P1.6 — CONTRASTE CON EL INFORME TÉCNICO</a:t>
            </a:r>
            <a:endParaRPr lang="en-US" sz="1200" dirty="0"/>
          </a:p>
        </p:txBody>
      </p:sp>
      <p:sp>
        <p:nvSpPr>
          <p:cNvPr id="4" name="Text 2"/>
          <p:cNvSpPr/>
          <p:nvPr/>
        </p:nvSpPr>
        <p:spPr>
          <a:xfrm>
            <a:off x="548640" y="1051560"/>
            <a:ext cx="8686800" cy="118872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El informe institucional sobreestima</a:t>
            </a:r>
            <a:endParaRPr lang="en-US" sz="3400" dirty="0"/>
          </a:p>
          <a:p>
            <a:pPr marL="0" indent="0">
              <a:buNone/>
            </a:pPr>
            <a:r>
              <a:rPr lang="en-US" sz="3400" b="1" dirty="0">
                <a:solidFill>
                  <a:srgbClr val="FFFFFF"/>
                </a:solidFill>
                <a:latin typeface="Cambria" pitchFamily="34" charset="0"/>
                <a:ea typeface="Cambria" pitchFamily="34" charset="-122"/>
                <a:cs typeface="Cambria" pitchFamily="34" charset="-120"/>
              </a:rPr>
              <a:t>la redundancia de Campus Paraíso</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7498080" cy="1865376"/>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Campus</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Con redundancia (≥2 enlaces a core)</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Enlace simple</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extLst>
                  <a:ext uri="{0D108BD9-81ED-4DB2-BD59-A6C34878D82A}">
                    <a16:rowId xmlns:a16="http://schemas.microsoft.com/office/drawing/2014/main" val="10000"/>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Balzay</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1"/>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Central</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Campus Paraíso</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extLst>
                  <a:ext uri="{0D108BD9-81ED-4DB2-BD59-A6C34878D82A}">
                    <a16:rowId xmlns:a16="http://schemas.microsoft.com/office/drawing/2014/main" val="10003"/>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Yanuncay</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4"/>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Hospitalidad</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5"/>
                  </a:ext>
                </a:extLst>
              </a:tr>
            </a:tbl>
          </a:graphicData>
        </a:graphic>
      </p:graphicFrame>
      <p:sp>
        <p:nvSpPr>
          <p:cNvPr id="6" name="Text 3"/>
          <p:cNvSpPr/>
          <p:nvPr/>
        </p:nvSpPr>
        <p:spPr>
          <a:xfrm>
            <a:off x="8229600" y="2560320"/>
            <a:ext cx="3383280" cy="2103120"/>
          </a:xfrm>
          <a:prstGeom prst="rect">
            <a:avLst/>
          </a:prstGeom>
          <a:noFill/>
          <a:ln/>
        </p:spPr>
        <p:txBody>
          <a:bodyPr wrap="square" lIns="0" tIns="0" rIns="0" bIns="0" rtlCol="0" anchor="t"/>
          <a:lstStyle/>
          <a:p>
            <a:pPr marL="0" indent="0">
              <a:buNone/>
            </a:pPr>
            <a:r>
              <a:rPr lang="en-US" sz="1300" b="1" dirty="0">
                <a:solidFill>
                  <a:srgbClr val="8FE3B0"/>
                </a:solidFill>
                <a:latin typeface="Calibri" pitchFamily="34" charset="0"/>
                <a:ea typeface="Calibri" pitchFamily="34" charset="-122"/>
                <a:cs typeface="Calibri" pitchFamily="34" charset="-120"/>
              </a:rPr>
              <a:t>CONFIRMA  </a:t>
            </a:r>
            <a:r>
              <a:rPr lang="en-US" sz="1300" dirty="0">
                <a:solidFill>
                  <a:srgbClr val="FFFFFF"/>
                </a:solidFill>
                <a:latin typeface="Calibri" pitchFamily="34" charset="0"/>
                <a:ea typeface="Calibri" pitchFamily="34" charset="-122"/>
                <a:cs typeface="Calibri" pitchFamily="34" charset="-120"/>
              </a:rPr>
              <a:t>la redundancia de Balzay: doble enlace a DT-0A-C12/C13.</a:t>
            </a:r>
            <a:endParaRPr lang="en-US" sz="1300" dirty="0"/>
          </a:p>
          <a:p>
            <a:pPr marL="0" indent="0">
              <a:buNone/>
            </a:pPr>
            <a:r>
              <a:rPr lang="en-US" sz="1300" b="1" dirty="0">
                <a:solidFill>
                  <a:srgbClr val="FF9AA2"/>
                </a:solidFill>
                <a:latin typeface="Calibri" pitchFamily="34" charset="0"/>
                <a:ea typeface="Calibri" pitchFamily="34" charset="-122"/>
                <a:cs typeface="Calibri" pitchFamily="34" charset="-120"/>
              </a:rPr>
              <a:t>REFUTA  </a:t>
            </a:r>
            <a:r>
              <a:rPr lang="en-US" sz="1300" dirty="0">
                <a:solidFill>
                  <a:srgbClr val="FFFFFF"/>
                </a:solidFill>
                <a:latin typeface="Calibri" pitchFamily="34" charset="0"/>
                <a:ea typeface="Calibri" pitchFamily="34" charset="-122"/>
                <a:cs typeface="Calibri" pitchFamily="34" charset="-120"/>
              </a:rPr>
              <a:t>la de Paraíso: sus 6 nodos de agregación tienen un único enlace, todos al MISMO core CPAR-C10. Es agregación de puertos, no redundancia de núcleo.</a:t>
            </a:r>
            <a:endParaRPr lang="en-US" sz="1300" dirty="0"/>
          </a:p>
        </p:txBody>
      </p:sp>
      <p:sp>
        <p:nvSpPr>
          <p:cNvPr id="7" name="Shape 4"/>
          <p:cNvSpPr/>
          <p:nvPr/>
        </p:nvSpPr>
        <p:spPr>
          <a:xfrm>
            <a:off x="548640" y="5074920"/>
            <a:ext cx="11064240" cy="1005840"/>
          </a:xfrm>
          <a:prstGeom prst="roundRect">
            <a:avLst>
              <a:gd name="adj" fmla="val 7273"/>
            </a:avLst>
          </a:prstGeom>
          <a:solidFill>
            <a:srgbClr val="2A3A7A"/>
          </a:solidFill>
          <a:ln w="12700">
            <a:solidFill>
              <a:srgbClr val="2A3A7A"/>
            </a:solidFill>
            <a:prstDash val="solid"/>
          </a:ln>
          <a:effectLst>
            <a:outerShdw blurRad="76200" dist="508" dir="5400000" algn="bl" rotWithShape="0">
              <a:srgbClr val="9AA3B0">
                <a:alpha val="25000"/>
              </a:srgbClr>
            </a:outerShdw>
          </a:effectLst>
        </p:spPr>
      </p:sp>
      <p:sp>
        <p:nvSpPr>
          <p:cNvPr id="5" name="Text 5"/>
          <p:cNvSpPr/>
          <p:nvPr/>
        </p:nvSpPr>
        <p:spPr>
          <a:xfrm>
            <a:off x="822960" y="5212080"/>
            <a:ext cx="10515600" cy="731520"/>
          </a:xfrm>
          <a:prstGeom prst="rect">
            <a:avLst/>
          </a:prstGeom>
          <a:noFill/>
          <a:ln/>
        </p:spPr>
        <p:txBody>
          <a:bodyPr wrap="square" lIns="0" tIns="0" rIns="0" bIns="0" rtlCol="0" anchor="ctr"/>
          <a:lstStyle/>
          <a:p>
            <a:pPr marL="0" indent="0">
              <a:buNone/>
            </a:pPr>
            <a:r>
              <a:rPr lang="en-US" sz="1450" b="1" dirty="0">
                <a:solidFill>
                  <a:srgbClr val="CADCFC"/>
                </a:solidFill>
                <a:latin typeface="Calibri" pitchFamily="34" charset="0"/>
                <a:ea typeface="Calibri" pitchFamily="34" charset="-122"/>
                <a:cs typeface="Calibri" pitchFamily="34" charset="-120"/>
              </a:rPr>
              <a:t>Si CPAR-C10 falla, cae Campus Paraíso entero: 44 equipos, el 25 % de la institución. La Fase 3 lo confirmará por una vía completamente independiente — el flujo máximo.</a:t>
            </a:r>
            <a:endParaRPr lang="en-US" sz="1450" dirty="0"/>
          </a:p>
        </p:txBody>
      </p:sp>
      <p:sp>
        <p:nvSpPr>
          <p:cNvPr id="10" name="Text 6"/>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1" name="Text 7"/>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1  ·  P2 — COMPARACIÓN Y VISUALIZACIÓN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Modelos nulos: qué se explica por la secuencia de grados</a:t>
            </a:r>
            <a:endParaRPr lang="en-US" sz="2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1600200"/>
        </p:xfrm>
        <a:graphic>
          <a:graphicData uri="http://schemas.openxmlformats.org/drawingml/2006/table">
            <a:tbl>
              <a:tblPr/>
              <a:tblGrid>
                <a:gridCol w="356616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32004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Modelo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Clustering</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Dist. media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Diámetro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Asortatividad</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0040">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UCuenca (real)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0,0952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−0,1468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0040">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Erdős–Rényi G(n,m) — 100 realiz.</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0,0147 ± 0,0089</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5,584 ± 0,247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13,2 ± 1,4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−0,0112 ± 0,069</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0040">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Configuración (grados exactos) — 100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0,0472 ± 0,0151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4,168 ± 0,139</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9,2 ± 1,0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−0,0290 ± 0,065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0040">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Barabási–Albert (k = 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0,0000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5,040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−0,2335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Image 0" descr="p2_red_por_campus.png"/>
          <p:cNvPicPr>
            <a:picLocks noChangeAspect="1"/>
          </p:cNvPicPr>
          <p:nvPr/>
        </p:nvPicPr>
        <p:blipFill>
          <a:blip r:embed="rId3"/>
          <a:stretch>
            <a:fillRect/>
          </a:stretch>
        </p:blipFill>
        <p:spPr>
          <a:xfrm>
            <a:off x="548640" y="3291840"/>
            <a:ext cx="4023360" cy="2350008"/>
          </a:xfrm>
          <a:prstGeom prst="rect">
            <a:avLst/>
          </a:prstGeom>
        </p:spPr>
      </p:pic>
      <p:sp>
        <p:nvSpPr>
          <p:cNvPr id="6" name="Text 2"/>
          <p:cNvSpPr/>
          <p:nvPr/>
        </p:nvSpPr>
        <p:spPr>
          <a:xfrm>
            <a:off x="548640" y="5669280"/>
            <a:ext cx="4023360" cy="32004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Color = campus. Siete islas y los pocos enlaces WAN que las cosen.</a:t>
            </a:r>
            <a:endParaRPr lang="en-US" sz="1050" dirty="0"/>
          </a:p>
        </p:txBody>
      </p:sp>
      <p:pic>
        <p:nvPicPr>
          <p:cNvPr id="7" name="Image 1" descr="p2_red_por_intermediacion.png"/>
          <p:cNvPicPr>
            <a:picLocks noChangeAspect="1"/>
          </p:cNvPicPr>
          <p:nvPr/>
        </p:nvPicPr>
        <p:blipFill>
          <a:blip r:embed="rId4"/>
          <a:stretch>
            <a:fillRect/>
          </a:stretch>
        </p:blipFill>
        <p:spPr>
          <a:xfrm>
            <a:off x="4754880" y="3291840"/>
            <a:ext cx="3355848" cy="2350008"/>
          </a:xfrm>
          <a:prstGeom prst="rect">
            <a:avLst/>
          </a:prstGeom>
        </p:spPr>
      </p:pic>
      <p:sp>
        <p:nvSpPr>
          <p:cNvPr id="8" name="Text 3"/>
          <p:cNvSpPr/>
          <p:nvPr/>
        </p:nvSpPr>
        <p:spPr>
          <a:xfrm>
            <a:off x="4754880" y="5669280"/>
            <a:ext cx="3355848" cy="32004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Tamaño ∝ intermediación: los pocos nodos grandes están en las costuras.</a:t>
            </a:r>
            <a:endParaRPr lang="en-US" sz="1050" dirty="0"/>
          </a:p>
        </p:txBody>
      </p:sp>
      <p:sp>
        <p:nvSpPr>
          <p:cNvPr id="4" name="Shape 4"/>
          <p:cNvSpPr/>
          <p:nvPr/>
        </p:nvSpPr>
        <p:spPr>
          <a:xfrm>
            <a:off x="8321040" y="3291840"/>
            <a:ext cx="3291840" cy="2377440"/>
          </a:xfrm>
          <a:prstGeom prst="roundRect">
            <a:avLst>
              <a:gd name="adj" fmla="val 307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0" name="Text 5"/>
          <p:cNvSpPr/>
          <p:nvPr/>
        </p:nvSpPr>
        <p:spPr>
          <a:xfrm>
            <a:off x="8549640" y="3401568"/>
            <a:ext cx="306324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Qué dice la comparación</a:t>
            </a:r>
            <a:endParaRPr lang="en-US" sz="1500" dirty="0"/>
          </a:p>
        </p:txBody>
      </p:sp>
      <p:sp>
        <p:nvSpPr>
          <p:cNvPr id="11" name="Text 6"/>
          <p:cNvSpPr/>
          <p:nvPr/>
        </p:nvSpPr>
        <p:spPr>
          <a:xfrm>
            <a:off x="8549640" y="3703320"/>
            <a:ext cx="2834640" cy="1874520"/>
          </a:xfrm>
          <a:prstGeom prst="rect">
            <a:avLst/>
          </a:prstGeom>
          <a:noFill/>
          <a:ln/>
        </p:spPr>
        <p:txBody>
          <a:bodyPr wrap="square" lIns="0" tIns="0" rIns="0" bIns="0" rtlCol="0" anchor="t"/>
          <a:lstStyle/>
          <a:p>
            <a:pPr marL="0" indent="0">
              <a:spcAft>
                <a:spcPts val="500"/>
              </a:spcAft>
              <a:buNone/>
            </a:pPr>
            <a:r>
              <a:rPr lang="en-US" sz="1100" dirty="0">
                <a:solidFill>
                  <a:srgbClr val="1B1F2A"/>
                </a:solidFill>
                <a:latin typeface="Calibri" pitchFamily="34" charset="0"/>
                <a:ea typeface="Calibri" pitchFamily="34" charset="-122"/>
                <a:cs typeface="Calibri" pitchFamily="34" charset="-120"/>
              </a:rPr>
              <a:t>El clustering real está a más de 5σ por encima de Erdős–Rényi y también por encima del modelo de configuración: la heterogeneidad de grados explica ~2/3 de la diferencia, y el tercio restante viene del diseño (pares redundantes que crean triángulos a propósito).</a:t>
            </a:r>
            <a:endParaRPr lang="en-US" sz="1100" dirty="0"/>
          </a:p>
          <a:p>
            <a:pPr marL="0" indent="0">
              <a:spcAft>
                <a:spcPts val="500"/>
              </a:spcAft>
              <a:buNone/>
            </a:pPr>
            <a:r>
              <a:rPr lang="en-US" sz="1100" dirty="0">
                <a:solidFill>
                  <a:srgbClr val="1B1F2A"/>
                </a:solidFill>
                <a:latin typeface="Calibri" pitchFamily="34" charset="0"/>
                <a:ea typeface="Calibri" pitchFamily="34" charset="-122"/>
                <a:cs typeface="Calibri" pitchFamily="34" charset="-120"/>
              </a:rPr>
              <a:t>La distancia media real es MÁS alta que la de ambos nulos: la jerarquía obliga a dar más saltos.</a:t>
            </a:r>
            <a:endParaRPr lang="en-US" sz="1100" dirty="0"/>
          </a:p>
          <a:p>
            <a:pPr marL="0" indent="0">
              <a:spcAft>
                <a:spcPts val="500"/>
              </a:spcAft>
              <a:buNone/>
            </a:pPr>
            <a:r>
              <a:rPr lang="en-US" sz="1100" b="1" dirty="0">
                <a:solidFill>
                  <a:srgbClr val="1B1F2A"/>
                </a:solidFill>
                <a:latin typeface="Calibri" pitchFamily="34" charset="0"/>
                <a:ea typeface="Calibri" pitchFamily="34" charset="-122"/>
                <a:cs typeface="Calibri" pitchFamily="34" charset="-120"/>
              </a:rPr>
              <a:t>Barabási–Albert da clustering cero: una red física no crece por conexión preferencial.</a:t>
            </a:r>
            <a:endParaRPr lang="en-US" sz="1100" dirty="0"/>
          </a:p>
        </p:txBody>
      </p:sp>
      <p:sp>
        <p:nvSpPr>
          <p:cNvPr id="13" name="Text 7"/>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4" name="Text 8"/>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2  ·  P3 — BFS, DFS Y CICLOS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La jerarquía de tres capas solo describe un campus</a:t>
            </a:r>
            <a:endParaRPr lang="en-US" sz="2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82528" cy="987552"/>
        </p:xfrm>
        <a:graphic>
          <a:graphicData uri="http://schemas.openxmlformats.org/drawingml/2006/table">
            <a:tbl>
              <a:tblPr/>
              <a:tblGrid>
                <a:gridCol w="3017520">
                  <a:extLst>
                    <a:ext uri="{9D8B030D-6E8A-4147-A177-3AD203B41FA5}">
                      <a16:colId xmlns:a16="http://schemas.microsoft.com/office/drawing/2014/main" val="20000"/>
                    </a:ext>
                  </a:extLst>
                </a:gridCol>
                <a:gridCol w="896112">
                  <a:extLst>
                    <a:ext uri="{9D8B030D-6E8A-4147-A177-3AD203B41FA5}">
                      <a16:colId xmlns:a16="http://schemas.microsoft.com/office/drawing/2014/main" val="20001"/>
                    </a:ext>
                  </a:extLst>
                </a:gridCol>
                <a:gridCol w="896112">
                  <a:extLst>
                    <a:ext uri="{9D8B030D-6E8A-4147-A177-3AD203B41FA5}">
                      <a16:colId xmlns:a16="http://schemas.microsoft.com/office/drawing/2014/main" val="20002"/>
                    </a:ext>
                  </a:extLst>
                </a:gridCol>
                <a:gridCol w="896112">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gridCol w="896112">
                  <a:extLst>
                    <a:ext uri="{9D8B030D-6E8A-4147-A177-3AD203B41FA5}">
                      <a16:colId xmlns:a16="http://schemas.microsoft.com/office/drawing/2014/main" val="20005"/>
                    </a:ext>
                  </a:extLst>
                </a:gridCol>
                <a:gridCol w="896112">
                  <a:extLst>
                    <a:ext uri="{9D8B030D-6E8A-4147-A177-3AD203B41FA5}">
                      <a16:colId xmlns:a16="http://schemas.microsoft.com/office/drawing/2014/main" val="20006"/>
                    </a:ext>
                  </a:extLst>
                </a:gridCol>
                <a:gridCol w="896112">
                  <a:extLst>
                    <a:ext uri="{9D8B030D-6E8A-4147-A177-3AD203B41FA5}">
                      <a16:colId xmlns:a16="http://schemas.microsoft.com/office/drawing/2014/main" val="20007"/>
                    </a:ext>
                  </a:extLst>
                </a:gridCol>
                <a:gridCol w="896112">
                  <a:extLst>
                    <a:ext uri="{9D8B030D-6E8A-4147-A177-3AD203B41FA5}">
                      <a16:colId xmlns:a16="http://schemas.microsoft.com/office/drawing/2014/main" val="20008"/>
                    </a:ext>
                  </a:extLst>
                </a:gridCol>
                <a:gridCol w="896112">
                  <a:extLst>
                    <a:ext uri="{9D8B030D-6E8A-4147-A177-3AD203B41FA5}">
                      <a16:colId xmlns:a16="http://schemas.microsoft.com/office/drawing/2014/main" val="20009"/>
                    </a:ext>
                  </a:extLst>
                </a:gridCol>
              </a:tblGrid>
              <a:tr h="329184">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Distancia (saltos)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ctr">
                        <a:buNone/>
                      </a:pPr>
                      <a:r>
                        <a:rPr lang="en-US" sz="1150" b="1" dirty="0">
                          <a:solidFill>
                            <a:srgbClr val="1B1F2A"/>
                          </a:solidFill>
                          <a:latin typeface="Calibri" pitchFamily="34" charset="0"/>
                          <a:ea typeface="Calibri" pitchFamily="34" charset="-122"/>
                          <a:cs typeface="Calibri" pitchFamily="34" charset="-120"/>
                        </a:rPr>
                        <a:t>Desde el core de Central</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41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ctr">
                        <a:buNone/>
                      </a:pPr>
                      <a:r>
                        <a:rPr lang="en-US" sz="1150" b="1" dirty="0">
                          <a:solidFill>
                            <a:srgbClr val="1B1F2A"/>
                          </a:solidFill>
                          <a:latin typeface="Calibri" pitchFamily="34" charset="0"/>
                          <a:ea typeface="Calibri" pitchFamily="34" charset="-122"/>
                          <a:cs typeface="Calibri" pitchFamily="34" charset="-120"/>
                        </a:rPr>
                        <a:t>Desde INTERNET-MPLS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97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Shape 2"/>
          <p:cNvSpPr/>
          <p:nvPr/>
        </p:nvSpPr>
        <p:spPr>
          <a:xfrm>
            <a:off x="548640" y="2788920"/>
            <a:ext cx="5394960" cy="1600200"/>
          </a:xfrm>
          <a:prstGeom prst="roundRect">
            <a:avLst>
              <a:gd name="adj" fmla="val 457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6" name="Text 3"/>
          <p:cNvSpPr/>
          <p:nvPr/>
        </p:nvSpPr>
        <p:spPr>
          <a:xfrm>
            <a:off x="777240" y="2907792"/>
            <a:ext cx="4937760" cy="502920"/>
          </a:xfrm>
          <a:prstGeom prst="rect">
            <a:avLst/>
          </a:prstGeom>
          <a:noFill/>
          <a:ln/>
        </p:spPr>
        <p:txBody>
          <a:bodyPr wrap="square" lIns="0" tIns="0" rIns="0" bIns="0" rtlCol="0" anchor="ctr"/>
          <a:lstStyle/>
          <a:p>
            <a:pPr marL="0" indent="0">
              <a:buNone/>
            </a:pPr>
            <a:r>
              <a:rPr lang="en-US" sz="1500" b="1" dirty="0">
                <a:solidFill>
                  <a:srgbClr val="A01A24"/>
                </a:solidFill>
                <a:latin typeface="Cambria" pitchFamily="34" charset="0"/>
                <a:ea typeface="Cambria" pitchFamily="34" charset="-122"/>
                <a:cs typeface="Cambria" pitchFamily="34" charset="-120"/>
              </a:rPr>
              <a:t>Solo 65 de 177 nodos (37 %) están a distancia ≤ 2 del core</a:t>
            </a:r>
            <a:endParaRPr lang="en-US" sz="1500" dirty="0"/>
          </a:p>
        </p:txBody>
      </p:sp>
      <p:sp>
        <p:nvSpPr>
          <p:cNvPr id="7" name="Text 4"/>
          <p:cNvSpPr/>
          <p:nvPr/>
        </p:nvSpPr>
        <p:spPr>
          <a:xfrm>
            <a:off x="777240" y="3410712"/>
            <a:ext cx="4937760" cy="86868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Si la jerarquía core(0)–agregación(1)–acceso(2) se cumpliera al pie de la letra, casi todo debería estar a distancia 2 o menos. La cola llega hasta 8 por dos causas: campus remotos que solo alcanzan Central cruzando la nube MPLS, y equipos de acceso colgados de otros equipos de acceso.</a:t>
            </a:r>
            <a:endParaRPr lang="en-US" sz="1150" dirty="0"/>
          </a:p>
        </p:txBody>
      </p:sp>
      <p:sp>
        <p:nvSpPr>
          <p:cNvPr id="8" name="Shape 5"/>
          <p:cNvSpPr/>
          <p:nvPr/>
        </p:nvSpPr>
        <p:spPr>
          <a:xfrm>
            <a:off x="6217920" y="2788920"/>
            <a:ext cx="5394960" cy="1600200"/>
          </a:xfrm>
          <a:prstGeom prst="roundRect">
            <a:avLst>
              <a:gd name="adj" fmla="val 457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9" name="Text 6"/>
          <p:cNvSpPr/>
          <p:nvPr/>
        </p:nvSpPr>
        <p:spPr>
          <a:xfrm>
            <a:off x="6446520" y="2907792"/>
            <a:ext cx="4937760" cy="36576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Desde la nube MPLS el perfil es mucho más compacto</a:t>
            </a:r>
            <a:endParaRPr lang="en-US" sz="1500" dirty="0"/>
          </a:p>
        </p:txBody>
      </p:sp>
      <p:sp>
        <p:nvSpPr>
          <p:cNvPr id="4" name="Text 7"/>
          <p:cNvSpPr/>
          <p:nvPr/>
        </p:nvSpPr>
        <p:spPr>
          <a:xfrm>
            <a:off x="6446520" y="3310128"/>
            <a:ext cx="4937760" cy="96012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Máximo a distancia 6, con el 88,7 % de la red a distancia ≤ 4. La nube MPLS es, por diseño, el punto más central de la topología entre campus — lo que ya anticipaba su primer puesto en cercanía.</a:t>
            </a:r>
            <a:endParaRPr lang="en-US" sz="1150" dirty="0"/>
          </a:p>
        </p:txBody>
      </p:sp>
      <p:sp>
        <p:nvSpPr>
          <p:cNvPr id="11" name="Shape 8"/>
          <p:cNvSpPr/>
          <p:nvPr/>
        </p:nvSpPr>
        <p:spPr>
          <a:xfrm>
            <a:off x="548640" y="4526280"/>
            <a:ext cx="11064240" cy="1463040"/>
          </a:xfrm>
          <a:prstGeom prst="roundRect">
            <a:avLst>
              <a:gd name="adj" fmla="val 5000"/>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2" name="Text 9"/>
          <p:cNvSpPr/>
          <p:nvPr/>
        </p:nvSpPr>
        <p:spPr>
          <a:xfrm>
            <a:off x="777240" y="4636008"/>
            <a:ext cx="106070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Ciclos y la tarea del técnico</a:t>
            </a:r>
            <a:endParaRPr lang="en-US" sz="1400" dirty="0"/>
          </a:p>
        </p:txBody>
      </p:sp>
      <p:sp>
        <p:nvSpPr>
          <p:cNvPr id="13" name="Text 10"/>
          <p:cNvSpPr/>
          <p:nvPr/>
        </p:nvSpPr>
        <p:spPr>
          <a:xfrm>
            <a:off x="777240" y="4937760"/>
            <a:ext cx="10607040" cy="1005840"/>
          </a:xfrm>
          <a:prstGeom prst="rect">
            <a:avLst/>
          </a:prstGeom>
          <a:noFill/>
          <a:ln/>
        </p:spPr>
        <p:txBody>
          <a:bodyPr wrap="square" lIns="0" tIns="0" rIns="0" bIns="0" rtlCol="0" anchor="t"/>
          <a:lstStyle/>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Número ciclomático m − n + c = 209 − 177 + 1 = 33: hay exactamente 33 enlaces que cierran un ciclo. Están casi todos en core y agregación de Central y Balzay (12 terminan en DATCC-2A-C2). Paraíso y Yanuncay aportan un extremo cada uno: no tienen redundancia interna. Ausencia de ciclos = ausencia de camino alternativo = exactamente donde P1 encontró los puentes.</a:t>
            </a:r>
            <a:endParaRPr lang="en-US" sz="1150" dirty="0"/>
          </a:p>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¿BFS o DFS para la visita física del técnico? DFS. Un técnico no puede teletransportarse entre ramas como sí hace BFS; DFS avanza por una rama hasta el final antes de retroceder — igual que recorrer un pasillo completo antes de pasar al siguiente.</a:t>
            </a:r>
            <a:endParaRPr lang="en-US" sz="1150" dirty="0"/>
          </a:p>
        </p:txBody>
      </p:sp>
      <p:sp>
        <p:nvSpPr>
          <p:cNvPr id="15" name="Text 1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2  ·  P4 — COMUNIDADES Y MODULARIDAD</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Louvain descubre un «núcleo WAN» propio</a:t>
            </a:r>
            <a:endParaRPr lang="en-US" sz="2900" dirty="0"/>
          </a:p>
        </p:txBody>
      </p:sp>
      <p:sp>
        <p:nvSpPr>
          <p:cNvPr id="4" name="Shape 2"/>
          <p:cNvSpPr/>
          <p:nvPr/>
        </p:nvSpPr>
        <p:spPr>
          <a:xfrm>
            <a:off x="548640" y="1481328"/>
            <a:ext cx="11064240" cy="914400"/>
          </a:xfrm>
          <a:prstGeom prst="roundRect">
            <a:avLst>
              <a:gd name="adj" fmla="val 8000"/>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685800" y="1554480"/>
            <a:ext cx="201168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22</a:t>
            </a:r>
            <a:endParaRPr lang="en-US" sz="4000" dirty="0"/>
          </a:p>
        </p:txBody>
      </p:sp>
      <p:sp>
        <p:nvSpPr>
          <p:cNvPr id="6" name="Text 4"/>
          <p:cNvSpPr/>
          <p:nvPr/>
        </p:nvSpPr>
        <p:spPr>
          <a:xfrm>
            <a:off x="685800" y="2286000"/>
            <a:ext cx="201168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comunidades</a:t>
            </a:r>
            <a:endParaRPr lang="en-US" sz="1050" dirty="0"/>
          </a:p>
        </p:txBody>
      </p:sp>
      <p:sp>
        <p:nvSpPr>
          <p:cNvPr id="7" name="Text 5"/>
          <p:cNvSpPr/>
          <p:nvPr/>
        </p:nvSpPr>
        <p:spPr>
          <a:xfrm>
            <a:off x="2834640" y="1554480"/>
            <a:ext cx="201168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0,7504</a:t>
            </a:r>
            <a:endParaRPr lang="en-US" sz="4000" dirty="0"/>
          </a:p>
        </p:txBody>
      </p:sp>
      <p:sp>
        <p:nvSpPr>
          <p:cNvPr id="8" name="Text 6"/>
          <p:cNvSpPr/>
          <p:nvPr/>
        </p:nvSpPr>
        <p:spPr>
          <a:xfrm>
            <a:off x="2834640" y="2286000"/>
            <a:ext cx="201168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modularidad Q</a:t>
            </a:r>
            <a:endParaRPr lang="en-US" sz="1050" dirty="0"/>
          </a:p>
        </p:txBody>
      </p:sp>
      <p:sp>
        <p:nvSpPr>
          <p:cNvPr id="9" name="Text 7"/>
          <p:cNvSpPr/>
          <p:nvPr/>
        </p:nvSpPr>
        <p:spPr>
          <a:xfrm>
            <a:off x="4983480" y="1554480"/>
            <a:ext cx="201168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0,584</a:t>
            </a:r>
            <a:endParaRPr lang="en-US" sz="4000" dirty="0"/>
          </a:p>
        </p:txBody>
      </p:sp>
      <p:sp>
        <p:nvSpPr>
          <p:cNvPr id="10" name="Text 8"/>
          <p:cNvSpPr/>
          <p:nvPr/>
        </p:nvSpPr>
        <p:spPr>
          <a:xfrm>
            <a:off x="4983480" y="2286000"/>
            <a:ext cx="201168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NMI vs. campus</a:t>
            </a:r>
            <a:endParaRPr lang="en-US" sz="1050" dirty="0"/>
          </a:p>
        </p:txBody>
      </p:sp>
      <p:sp>
        <p:nvSpPr>
          <p:cNvPr id="11" name="Text 9"/>
          <p:cNvSpPr/>
          <p:nvPr/>
        </p:nvSpPr>
        <p:spPr>
          <a:xfrm>
            <a:off x="7132320" y="1554480"/>
            <a:ext cx="2011680" cy="731520"/>
          </a:xfrm>
          <a:prstGeom prst="rect">
            <a:avLst/>
          </a:prstGeom>
          <a:noFill/>
          <a:ln/>
        </p:spPr>
        <p:txBody>
          <a:bodyPr wrap="square" lIns="0" tIns="0" rIns="0" bIns="0" rtlCol="0" anchor="ctr"/>
          <a:lstStyle/>
          <a:p>
            <a:pPr marL="0" indent="0" algn="ctr">
              <a:buNone/>
            </a:pPr>
            <a:r>
              <a:rPr lang="en-US" sz="4000" b="1" dirty="0">
                <a:solidFill>
                  <a:srgbClr val="1E2761"/>
                </a:solidFill>
                <a:latin typeface="Cambria" pitchFamily="34" charset="0"/>
                <a:ea typeface="Cambria" pitchFamily="34" charset="-122"/>
                <a:cs typeface="Cambria" pitchFamily="34" charset="-120"/>
              </a:rPr>
              <a:t>0,190</a:t>
            </a:r>
            <a:endParaRPr lang="en-US" sz="4000" dirty="0"/>
          </a:p>
        </p:txBody>
      </p:sp>
      <p:sp>
        <p:nvSpPr>
          <p:cNvPr id="12" name="Text 10"/>
          <p:cNvSpPr/>
          <p:nvPr/>
        </p:nvSpPr>
        <p:spPr>
          <a:xfrm>
            <a:off x="7132320" y="2286000"/>
            <a:ext cx="201168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ARI vs. campus</a:t>
            </a:r>
            <a:endParaRPr lang="en-US" sz="1050" dirty="0"/>
          </a:p>
        </p:txBody>
      </p:sp>
      <p:sp>
        <p:nvSpPr>
          <p:cNvPr id="13" name="Text 11"/>
          <p:cNvSpPr/>
          <p:nvPr/>
        </p:nvSpPr>
        <p:spPr>
          <a:xfrm>
            <a:off x="9281160" y="1554480"/>
            <a:ext cx="2194560" cy="731520"/>
          </a:xfrm>
          <a:prstGeom prst="rect">
            <a:avLst/>
          </a:prstGeom>
          <a:noFill/>
          <a:ln/>
        </p:spPr>
        <p:txBody>
          <a:bodyPr wrap="square" lIns="0" tIns="0" rIns="0" bIns="0" rtlCol="0" anchor="ctr"/>
          <a:lstStyle/>
          <a:p>
            <a:pPr marL="0" indent="0" algn="ctr">
              <a:buNone/>
            </a:pPr>
            <a:r>
              <a:rPr lang="en-US" sz="4000" b="1" dirty="0">
                <a:solidFill>
                  <a:srgbClr val="A01A24"/>
                </a:solidFill>
                <a:latin typeface="Cambria" pitchFamily="34" charset="0"/>
                <a:ea typeface="Cambria" pitchFamily="34" charset="-122"/>
                <a:cs typeface="Cambria" pitchFamily="34" charset="-120"/>
              </a:rPr>
              <a:t>11 / 177</a:t>
            </a:r>
            <a:endParaRPr lang="en-US" sz="4000" dirty="0"/>
          </a:p>
        </p:txBody>
      </p:sp>
      <p:sp>
        <p:nvSpPr>
          <p:cNvPr id="14" name="Text 12"/>
          <p:cNvSpPr/>
          <p:nvPr/>
        </p:nvSpPr>
        <p:spPr>
          <a:xfrm>
            <a:off x="9281160" y="2286000"/>
            <a:ext cx="2194560" cy="45720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nodos discrepantes</a:t>
            </a:r>
            <a:endParaRPr lang="en-US" sz="1050" dirty="0"/>
          </a:p>
        </p:txBody>
      </p:sp>
      <p:sp>
        <p:nvSpPr>
          <p:cNvPr id="15" name="Text 13"/>
          <p:cNvSpPr/>
          <p:nvPr/>
        </p:nvSpPr>
        <p:spPr>
          <a:xfrm>
            <a:off x="548640" y="2606040"/>
            <a:ext cx="5349240" cy="320040"/>
          </a:xfrm>
          <a:prstGeom prst="rect">
            <a:avLst/>
          </a:prstGeom>
          <a:noFill/>
          <a:ln/>
        </p:spPr>
        <p:txBody>
          <a:bodyPr wrap="square" lIns="0" tIns="0" rIns="0" bIns="0" rtlCol="0" anchor="ctr"/>
          <a:lstStyle/>
          <a:p>
            <a:pPr marL="0" indent="0">
              <a:buNone/>
            </a:pPr>
            <a:r>
              <a:rPr lang="en-US" sz="1550" b="1" dirty="0">
                <a:solidFill>
                  <a:srgbClr val="1E2761"/>
                </a:solidFill>
                <a:latin typeface="Cambria" pitchFamily="34" charset="0"/>
                <a:ea typeface="Cambria" pitchFamily="34" charset="-122"/>
                <a:cs typeface="Cambria" pitchFamily="34" charset="-120"/>
              </a:rPr>
              <a:t>¿NMI moderado y ARI bajo se contradicen? No.</a:t>
            </a:r>
            <a:endParaRPr lang="en-US" sz="1550" dirty="0"/>
          </a:p>
        </p:txBody>
      </p:sp>
      <p:sp>
        <p:nvSpPr>
          <p:cNvPr id="16" name="Text 14"/>
          <p:cNvSpPr/>
          <p:nvPr/>
        </p:nvSpPr>
        <p:spPr>
          <a:xfrm>
            <a:off x="548640" y="2971800"/>
            <a:ext cx="5349240" cy="2194560"/>
          </a:xfrm>
          <a:prstGeom prst="rect">
            <a:avLst/>
          </a:prstGeom>
          <a:noFill/>
          <a:ln/>
        </p:spPr>
        <p:txBody>
          <a:bodyPr wrap="square" lIns="0" tIns="0" rIns="0" bIns="0" rtlCol="0" anchor="t"/>
          <a:lstStyle/>
          <a:p>
            <a:pPr marL="0" indent="0">
              <a:spcAft>
                <a:spcPts val="700"/>
              </a:spcAft>
              <a:buNone/>
            </a:pPr>
            <a:r>
              <a:rPr lang="en-US" sz="1200" dirty="0">
                <a:solidFill>
                  <a:srgbClr val="1B1F2A"/>
                </a:solidFill>
                <a:latin typeface="Calibri" pitchFamily="34" charset="0"/>
                <a:ea typeface="Calibri" pitchFamily="34" charset="-122"/>
                <a:cs typeface="Calibri" pitchFamily="34" charset="-120"/>
              </a:rPr>
              <a:t>La matriz de confusión es casi bloque-diagonal: Louvain NO mezcla campus entre sí, pero SÍ subdivide cada campus grande (Central en 11 comunidades, Balzay en 4, Paraíso en 5).</a:t>
            </a:r>
            <a:endParaRPr lang="en-US" sz="1200" dirty="0"/>
          </a:p>
          <a:p>
            <a:pPr marL="0" indent="0">
              <a:spcAft>
                <a:spcPts val="700"/>
              </a:spcAft>
              <a:buNone/>
            </a:pPr>
            <a:r>
              <a:rPr lang="en-US" sz="1200" dirty="0">
                <a:solidFill>
                  <a:srgbClr val="1B1F2A"/>
                </a:solidFill>
                <a:latin typeface="Calibri" pitchFamily="34" charset="0"/>
                <a:ea typeface="Calibri" pitchFamily="34" charset="-122"/>
                <a:cs typeface="Calibri" pitchFamily="34" charset="-120"/>
              </a:rPr>
              <a:t>El NMI es moderado porque la partición refina la de campus y comparte mucha información; el ARI es bajo porque penaliza específicamente la sobre-partición. Miden cosas distintas y ambos son correctos.</a:t>
            </a:r>
            <a:endParaRPr lang="en-US" sz="1200" dirty="0"/>
          </a:p>
          <a:p>
            <a:pPr marL="0" indent="0">
              <a:spcAft>
                <a:spcPts val="700"/>
              </a:spcAft>
              <a:buNone/>
            </a:pPr>
            <a:r>
              <a:rPr lang="en-US" sz="1200" b="1" dirty="0">
                <a:solidFill>
                  <a:srgbClr val="1B1F2A"/>
                </a:solidFill>
                <a:latin typeface="Calibri" pitchFamily="34" charset="0"/>
                <a:ea typeface="Calibri" pitchFamily="34" charset="-122"/>
                <a:cs typeface="Calibri" pitchFamily="34" charset="-120"/>
              </a:rPr>
              <a:t>Estabilidad: 21–22 comunidades y Q entre 0,736 y 0,751 en cinco semillas distintas; NMI ≥ 0,928 contra la corrida de referencia.</a:t>
            </a:r>
            <a:endParaRPr lang="en-US" sz="1200" dirty="0"/>
          </a:p>
        </p:txBody>
      </p:sp>
      <p:sp>
        <p:nvSpPr>
          <p:cNvPr id="17" name="Shape 15"/>
          <p:cNvSpPr/>
          <p:nvPr/>
        </p:nvSpPr>
        <p:spPr>
          <a:xfrm>
            <a:off x="6172200" y="2606040"/>
            <a:ext cx="5440680" cy="1600200"/>
          </a:xfrm>
          <a:prstGeom prst="roundRect">
            <a:avLst>
              <a:gd name="adj" fmla="val 457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18" name="Text 16"/>
          <p:cNvSpPr/>
          <p:nvPr/>
        </p:nvSpPr>
        <p:spPr>
          <a:xfrm>
            <a:off x="6400800" y="2724912"/>
            <a:ext cx="4983480" cy="320040"/>
          </a:xfrm>
          <a:prstGeom prst="rect">
            <a:avLst/>
          </a:prstGeom>
          <a:noFill/>
          <a:ln/>
        </p:spPr>
        <p:txBody>
          <a:bodyPr wrap="square" lIns="0" tIns="0" rIns="0" bIns="0" rtlCol="0" anchor="ctr"/>
          <a:lstStyle/>
          <a:p>
            <a:pPr marL="0" indent="0">
              <a:buNone/>
            </a:pPr>
            <a:r>
              <a:rPr lang="en-US" sz="1550" b="1" dirty="0">
                <a:solidFill>
                  <a:srgbClr val="A01A24"/>
                </a:solidFill>
                <a:latin typeface="Cambria" pitchFamily="34" charset="0"/>
                <a:ea typeface="Cambria" pitchFamily="34" charset="-122"/>
                <a:cs typeface="Cambria" pitchFamily="34" charset="-120"/>
              </a:rPr>
              <a:t>Los 11 discrepantes son el núcleo WAN</a:t>
            </a:r>
            <a:endParaRPr lang="en-US" sz="1550" dirty="0"/>
          </a:p>
        </p:txBody>
      </p:sp>
      <p:sp>
        <p:nvSpPr>
          <p:cNvPr id="19" name="Text 17"/>
          <p:cNvSpPr/>
          <p:nvPr/>
        </p:nvSpPr>
        <p:spPr>
          <a:xfrm>
            <a:off x="6400800" y="3063240"/>
            <a:ext cx="4983480" cy="105156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INTERNET-MPLS, los dos routers PE de Central, el firewall perimetral y los routers de campus de Paraíso, Yanuncay, Museo y Centro Histórico. Su conectividad real los liga más al bloque WAN que a su campus geográfico. No es un error del algoritmo: es una segunda partición legítima, ortogonal a la geográfica, que un administrador de red reconocería al instante.</a:t>
            </a:r>
            <a:endParaRPr lang="en-US" sz="1150" dirty="0"/>
          </a:p>
        </p:txBody>
      </p:sp>
      <p:sp>
        <p:nvSpPr>
          <p:cNvPr id="20" name="Shape 18"/>
          <p:cNvSpPr/>
          <p:nvPr/>
        </p:nvSpPr>
        <p:spPr>
          <a:xfrm>
            <a:off x="6172200" y="4343400"/>
            <a:ext cx="5440680" cy="1600200"/>
          </a:xfrm>
          <a:prstGeom prst="roundRect">
            <a:avLst>
              <a:gd name="adj" fmla="val 457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21" name="Text 19"/>
          <p:cNvSpPr/>
          <p:nvPr/>
        </p:nvSpPr>
        <p:spPr>
          <a:xfrm>
            <a:off x="6400800" y="4462272"/>
            <a:ext cx="4983480" cy="320040"/>
          </a:xfrm>
          <a:prstGeom prst="rect">
            <a:avLst/>
          </a:prstGeom>
          <a:noFill/>
          <a:ln/>
        </p:spPr>
        <p:txBody>
          <a:bodyPr wrap="square" lIns="0" tIns="0" rIns="0" bIns="0" rtlCol="0" anchor="ctr"/>
          <a:lstStyle/>
          <a:p>
            <a:pPr marL="0" indent="0">
              <a:buNone/>
            </a:pPr>
            <a:r>
              <a:rPr lang="en-US" sz="1550" b="1" dirty="0">
                <a:solidFill>
                  <a:srgbClr val="1E2761"/>
                </a:solidFill>
                <a:latin typeface="Cambria" pitchFamily="34" charset="0"/>
                <a:ea typeface="Cambria" pitchFamily="34" charset="-122"/>
                <a:cs typeface="Cambria" pitchFamily="34" charset="-120"/>
              </a:rPr>
              <a:t>Límite de resolución: sí hay evidencia</a:t>
            </a:r>
            <a:endParaRPr lang="en-US" sz="1550" dirty="0"/>
          </a:p>
        </p:txBody>
      </p:sp>
      <p:sp>
        <p:nvSpPr>
          <p:cNvPr id="22" name="Text 20"/>
          <p:cNvSpPr/>
          <p:nvPr/>
        </p:nvSpPr>
        <p:spPr>
          <a:xfrm>
            <a:off x="6400800" y="4800600"/>
            <a:ext cx="4983480" cy="105156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Con m = 209, dos comunidades solo se separan si sus grados internos superan √(2m) ≈ 20,4. Museo y Centro Histórico (2 equipos cada una) NO aparecen como comunidades propias pese a ser dominios administrativos separados con su propia VLAN. k-means sobre el espectro del laplaciano (K = 22) da NMI 0,834 y ARI 0,372 frente a Louvain.</a:t>
            </a:r>
            <a:endParaRPr lang="en-US" sz="1150" dirty="0"/>
          </a:p>
        </p:txBody>
      </p:sp>
      <p:sp>
        <p:nvSpPr>
          <p:cNvPr id="24" name="Text 2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5" name="Text 2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3  ·  P5 — CAMINOS MÁS CORTOS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El modelo de peso decide la respuesta</a:t>
            </a:r>
            <a:endParaRPr lang="en-US" sz="2900" dirty="0"/>
          </a:p>
        </p:txBody>
      </p:sp>
      <p:sp>
        <p:nvSpPr>
          <p:cNvPr id="4" name="Shape 2"/>
          <p:cNvSpPr/>
          <p:nvPr/>
        </p:nvSpPr>
        <p:spPr>
          <a:xfrm>
            <a:off x="548640" y="1481328"/>
            <a:ext cx="5394960" cy="1783080"/>
          </a:xfrm>
          <a:prstGeom prst="roundRect">
            <a:avLst>
              <a:gd name="adj" fmla="val 4103"/>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777240" y="1600200"/>
            <a:ext cx="4937760" cy="292608"/>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Tres modelos de peso, justificados físicamente</a:t>
            </a:r>
            <a:endParaRPr lang="en-US" sz="1500" dirty="0"/>
          </a:p>
        </p:txBody>
      </p:sp>
      <p:sp>
        <p:nvSpPr>
          <p:cNvPr id="6" name="Text 4"/>
          <p:cNvSpPr/>
          <p:nvPr/>
        </p:nvSpPr>
        <p:spPr>
          <a:xfrm>
            <a:off x="777240" y="1920240"/>
            <a:ext cx="4937760" cy="1280160"/>
          </a:xfrm>
          <a:prstGeom prst="rect">
            <a:avLst/>
          </a:prstGeom>
          <a:noFill/>
          <a:ln/>
        </p:spPr>
        <p:txBody>
          <a:bodyPr wrap="square" lIns="0" tIns="0" rIns="0" bIns="0" rtlCol="0" anchor="t"/>
          <a:lstStyle/>
          <a:p>
            <a:pPr marL="0" indent="0">
              <a:spcAft>
                <a:spcPts val="500"/>
              </a:spcAft>
              <a:buNone/>
            </a:pPr>
            <a:r>
              <a:rPr lang="en-US" sz="1150" b="1" dirty="0">
                <a:solidFill>
                  <a:srgbClr val="1B1F2A"/>
                </a:solidFill>
                <a:latin typeface="Calibri" pitchFamily="34" charset="0"/>
                <a:ea typeface="Calibri" pitchFamily="34" charset="-122"/>
                <a:cs typeface="Calibri" pitchFamily="34" charset="-120"/>
              </a:rPr>
              <a:t>w_saltos = 1  —  todos los enlaces cuestan igual</a:t>
            </a:r>
            <a:endParaRPr lang="en-US" sz="1150" dirty="0"/>
          </a:p>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w_latencia = α + β/c   con α = 0,05 ms (propagación + conmutación por salto) y β = 12 Mbit (trama Ethernet de 1500 B, de modo que β/c es el tiempo de serialización en ms)</a:t>
            </a:r>
            <a:endParaRPr lang="en-US" sz="1150" dirty="0"/>
          </a:p>
          <a:p>
            <a:pPr marL="0" indent="0">
              <a:spcAft>
                <a:spcPts val="500"/>
              </a:spcAft>
              <a:buNone/>
            </a:pPr>
            <a:r>
              <a:rPr lang="en-US" sz="1150" b="1" dirty="0">
                <a:solidFill>
                  <a:srgbClr val="1B1F2A"/>
                </a:solidFill>
                <a:latin typeface="Calibri" pitchFamily="34" charset="0"/>
                <a:ea typeface="Calibri" pitchFamily="34" charset="-122"/>
                <a:cs typeface="Calibri" pitchFamily="34" charset="-120"/>
              </a:rPr>
              <a:t>w_carga = b/c  —  qué fracción de la capacidad ya está en uso</a:t>
            </a:r>
            <a:endParaRPr lang="en-US" sz="1150" dirty="0"/>
          </a:p>
        </p:txBody>
      </p:sp>
      <p:sp>
        <p:nvSpPr>
          <p:cNvPr id="7" name="Shape 5"/>
          <p:cNvSpPr/>
          <p:nvPr/>
        </p:nvSpPr>
        <p:spPr>
          <a:xfrm>
            <a:off x="6217920" y="1481328"/>
            <a:ext cx="5394960" cy="1783080"/>
          </a:xfrm>
          <a:prstGeom prst="roundRect">
            <a:avLst>
              <a:gd name="adj" fmla="val 4103"/>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8" name="Text 6"/>
          <p:cNvSpPr/>
          <p:nvPr/>
        </p:nvSpPr>
        <p:spPr>
          <a:xfrm>
            <a:off x="6446520" y="1600200"/>
            <a:ext cx="4937760" cy="292608"/>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Dijkstra frente a Floyd-Warshall</a:t>
            </a:r>
            <a:endParaRPr lang="en-US" sz="1500" dirty="0"/>
          </a:p>
        </p:txBody>
      </p:sp>
      <p:sp>
        <p:nvSpPr>
          <p:cNvPr id="9" name="Text 7"/>
          <p:cNvSpPr/>
          <p:nvPr/>
        </p:nvSpPr>
        <p:spPr>
          <a:xfrm>
            <a:off x="6446520" y="1920240"/>
            <a:ext cx="4937760" cy="1280160"/>
          </a:xfrm>
          <a:prstGeom prst="rect">
            <a:avLst/>
          </a:prstGeom>
          <a:noFill/>
          <a:ln/>
        </p:spPr>
        <p:txBody>
          <a:bodyPr wrap="square" lIns="0" tIns="0" rIns="0" bIns="0" rtlCol="0" anchor="t"/>
          <a:lstStyle/>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Dijkstra con montículo binario propio, O((V+E)·log V), da las distancias desde UN origen. Floyd-Warshall, O(V³), las da para TODOS los pares. Coinciden en 20 pares al azar × 3 modelos = 60 verificaciones.</a:t>
            </a:r>
            <a:endParaRPr lang="en-US" sz="1150" dirty="0"/>
          </a:p>
          <a:p>
            <a:pPr marL="0" indent="0">
              <a:spcAft>
                <a:spcPts val="500"/>
              </a:spcAft>
              <a:buNone/>
            </a:pPr>
            <a:r>
              <a:rPr lang="en-US" sz="1150" b="1" dirty="0">
                <a:solidFill>
                  <a:srgbClr val="1B1F2A"/>
                </a:solidFill>
                <a:latin typeface="Calibri" pitchFamily="34" charset="0"/>
                <a:ea typeface="Calibri" pitchFamily="34" charset="-122"/>
                <a:cs typeface="Calibri" pitchFamily="34" charset="-120"/>
              </a:rPr>
              <a:t>Aquí conviene Floyd-Warshall: el análisis necesita la matriz completa (cercanía, p-mediana, p-centro). En n = 177 tarda 4 ms.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64240" cy="1316736"/>
        </p:xfrm>
        <a:graphic>
          <a:graphicData uri="http://schemas.openxmlformats.org/drawingml/2006/table">
            <a:tbl>
              <a:tblPr/>
              <a:tblGrid>
                <a:gridCol w="21945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29184">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Modelo de peso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Coincidencia top-10 de cercanía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Par de acceso más distante</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Distancia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w_saltos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 (referencia)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ENF-2B-A122 ↔ POST-2A-A66</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11 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w_latencia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10 / 10 con 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POST-2A-A66 ↔ QUIN-1A-A128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0,639 ms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150" b="1" dirty="0">
                          <a:solidFill>
                            <a:srgbClr val="A01A24"/>
                          </a:solidFill>
                          <a:latin typeface="Calibri" pitchFamily="34" charset="0"/>
                          <a:ea typeface="Calibri" pitchFamily="34" charset="-122"/>
                          <a:cs typeface="Calibri" pitchFamily="34" charset="-120"/>
                        </a:rPr>
                        <a:t>w_carga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A01A24"/>
                          </a:solidFill>
                          <a:latin typeface="Calibri" pitchFamily="34" charset="0"/>
                          <a:ea typeface="Calibri" pitchFamily="34" charset="-122"/>
                          <a:cs typeface="Calibri" pitchFamily="34" charset="-120"/>
                        </a:rPr>
                        <a:t>0 / 10 — cambia por completo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ECOK1-1A-A102 ↔ INV-1B-A162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0,710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8"/>
          <p:cNvSpPr/>
          <p:nvPr/>
        </p:nvSpPr>
        <p:spPr>
          <a:xfrm>
            <a:off x="548640" y="4983480"/>
            <a:ext cx="11064240" cy="1051560"/>
          </a:xfrm>
          <a:prstGeom prst="roundRect">
            <a:avLst>
              <a:gd name="adj" fmla="val 6957"/>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9"/>
          <p:cNvSpPr/>
          <p:nvPr/>
        </p:nvSpPr>
        <p:spPr>
          <a:xfrm>
            <a:off x="777240" y="5102352"/>
            <a:ext cx="10607040" cy="82296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51 de 209 aristas tienen tráfico medido 0 → peso EXACTAMENTE 0 bajo w_carga, y 51 nodos empatan en cercanía. No es un error de cálculo: es una propiedad real del modelo, que mide congestión y no topología.   ·   Ningún modelo puede dar peso negativo (α, β, c &gt; 0; b ≥ 0), así que Dijkstra es siempre válido: no hace falta Bellman-Ford.</a:t>
            </a:r>
            <a:endParaRPr lang="en-US" sz="1200" dirty="0"/>
          </a:p>
        </p:txBody>
      </p:sp>
      <p:sp>
        <p:nvSpPr>
          <p:cNvPr id="14" name="Text 10"/>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1"/>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3  ·  P6 — FLUJO MÁXIMO Y CORTE MÍNIMO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Paraíso: el segundo campus más grande, el peor flujo</a:t>
            </a:r>
            <a:endParaRPr lang="en-US" sz="2900" dirty="0"/>
          </a:p>
        </p:txBody>
      </p:sp>
      <p:graphicFrame>
        <p:nvGraphicFramePr>
          <p:cNvPr id="4" name="Chart 0"/>
          <p:cNvGraphicFramePr/>
          <p:nvPr/>
        </p:nvGraphicFramePr>
        <p:xfrm>
          <a:off x="548640" y="1508760"/>
          <a:ext cx="6675120"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48640" y="4498848"/>
            <a:ext cx="6675120" cy="32004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Flujo máximo de cada campus hacia INTERNET-MPLS. Ford-Fulkerson y Edmonds-Karp coinciden en los 7 casos.</a:t>
            </a:r>
            <a:endParaRPr lang="en-US" sz="1050" dirty="0"/>
          </a:p>
        </p:txBody>
      </p:sp>
      <p:sp>
        <p:nvSpPr>
          <p:cNvPr id="6" name="Shape 3"/>
          <p:cNvSpPr/>
          <p:nvPr/>
        </p:nvSpPr>
        <p:spPr>
          <a:xfrm>
            <a:off x="7498080" y="1508760"/>
            <a:ext cx="4114800" cy="2971800"/>
          </a:xfrm>
          <a:prstGeom prst="roundRect">
            <a:avLst>
              <a:gd name="adj" fmla="val 2462"/>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7" name="Text 4"/>
          <p:cNvSpPr/>
          <p:nvPr/>
        </p:nvSpPr>
        <p:spPr>
          <a:xfrm>
            <a:off x="7726680" y="1645920"/>
            <a:ext cx="3886200" cy="320040"/>
          </a:xfrm>
          <a:prstGeom prst="rect">
            <a:avLst/>
          </a:prstGeom>
          <a:noFill/>
          <a:ln/>
        </p:spPr>
        <p:txBody>
          <a:bodyPr wrap="square" lIns="0" tIns="0" rIns="0" bIns="0" rtlCol="0" anchor="ctr"/>
          <a:lstStyle/>
          <a:p>
            <a:pPr marL="0" indent="0">
              <a:buNone/>
            </a:pPr>
            <a:r>
              <a:rPr lang="en-US" sz="1550" b="1" dirty="0">
                <a:solidFill>
                  <a:srgbClr val="A01A24"/>
                </a:solidFill>
                <a:latin typeface="Cambria" pitchFamily="34" charset="0"/>
                <a:ea typeface="Cambria" pitchFamily="34" charset="-122"/>
                <a:cs typeface="Cambria" pitchFamily="34" charset="-120"/>
              </a:rPr>
              <a:t>Corte mínimo de Paraíso = 1 arista</a:t>
            </a:r>
            <a:endParaRPr lang="en-US" sz="1550" dirty="0"/>
          </a:p>
        </p:txBody>
      </p:sp>
      <p:sp>
        <p:nvSpPr>
          <p:cNvPr id="8" name="Text 5"/>
          <p:cNvSpPr/>
          <p:nvPr/>
        </p:nvSpPr>
        <p:spPr>
          <a:xfrm>
            <a:off x="7726680" y="2011680"/>
            <a:ext cx="3657600" cy="2377440"/>
          </a:xfrm>
          <a:prstGeom prst="rect">
            <a:avLst/>
          </a:prstGeom>
          <a:noFill/>
          <a:ln/>
        </p:spPr>
        <p:txBody>
          <a:bodyPr wrap="square" lIns="0" tIns="0" rIns="0" bIns="0" rtlCol="0" anchor="t"/>
          <a:lstStyle/>
          <a:p>
            <a:pPr marL="0" indent="0">
              <a:spcAft>
                <a:spcPts val="500"/>
              </a:spcAft>
              <a:buNone/>
            </a:pPr>
            <a:r>
              <a:rPr lang="en-US" sz="1150" b="1" dirty="0">
                <a:solidFill>
                  <a:srgbClr val="1B1F2A"/>
                </a:solidFill>
                <a:latin typeface="Calibri" pitchFamily="34" charset="0"/>
                <a:ea typeface="Calibri" pitchFamily="34" charset="-122"/>
                <a:cs typeface="Calibri" pitchFamily="34" charset="-120"/>
              </a:rPr>
              <a:t>CPAR-C10 — ROUTER-CAMPUS-HUAYNA-CAPAC, 1 000 Mbps.</a:t>
            </a:r>
            <a:endParaRPr lang="en-US" sz="1150" dirty="0"/>
          </a:p>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Verificación manual del teorema: la suma de capacidades del corte = el flujo máximo, en los 7 campus.</a:t>
            </a:r>
            <a:endParaRPr lang="en-US" sz="1150" dirty="0"/>
          </a:p>
          <a:p>
            <a:pPr marL="0" indent="0">
              <a:spcAft>
                <a:spcPts val="500"/>
              </a:spcAft>
              <a:buNone/>
            </a:pPr>
            <a:r>
              <a:rPr lang="en-US" sz="1150" b="1" dirty="0">
                <a:solidFill>
                  <a:srgbClr val="1B1F2A"/>
                </a:solidFill>
                <a:latin typeface="Calibri" pitchFamily="34" charset="0"/>
                <a:ea typeface="Calibri" pitchFamily="34" charset="-122"/>
                <a:cs typeface="Calibri" pitchFamily="34" charset="-120"/>
              </a:rPr>
              <a:t>Esa arista TAMBIÉN está en la lista de puentes de P1: el cuello de botella físico y el punto de fragilidad topológica coinciden exactamente.</a:t>
            </a:r>
            <a:endParaRPr lang="en-US" sz="1150" dirty="0"/>
          </a:p>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En Central el corte son 7 aristas de alta capacidad, ninguna puente: perder una degrada el caudal, no desconecta nada.</a:t>
            </a:r>
            <a:endParaRPr lang="en-US" sz="1150" dirty="0"/>
          </a:p>
        </p:txBody>
      </p:sp>
      <p:sp>
        <p:nvSpPr>
          <p:cNvPr id="9" name="Shape 6"/>
          <p:cNvSpPr/>
          <p:nvPr/>
        </p:nvSpPr>
        <p:spPr>
          <a:xfrm>
            <a:off x="548640" y="4892040"/>
            <a:ext cx="11064240" cy="1143000"/>
          </a:xfrm>
          <a:prstGeom prst="roundRect">
            <a:avLst>
              <a:gd name="adj" fmla="val 6400"/>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7"/>
          <p:cNvSpPr/>
          <p:nvPr/>
        </p:nvSpPr>
        <p:spPr>
          <a:xfrm>
            <a:off x="822960" y="4992624"/>
            <a:ext cx="10515600" cy="256032"/>
          </a:xfrm>
          <a:prstGeom prst="rect">
            <a:avLst/>
          </a:prstGeom>
          <a:noFill/>
          <a:ln/>
        </p:spPr>
        <p:txBody>
          <a:bodyPr wrap="square" lIns="0" tIns="0" rIns="0" bIns="0" rtlCol="0" anchor="ctr"/>
          <a:lstStyle/>
          <a:p>
            <a:pPr marL="0" indent="0">
              <a:buNone/>
            </a:pPr>
            <a:r>
              <a:rPr lang="en-US" sz="1050" b="1" kern="0" spc="120" dirty="0">
                <a:solidFill>
                  <a:srgbClr val="A01A24"/>
                </a:solidFill>
                <a:latin typeface="Calibri" pitchFamily="34" charset="0"/>
                <a:ea typeface="Calibri" pitchFamily="34" charset="-122"/>
                <a:cs typeface="Calibri" pitchFamily="34" charset="-120"/>
              </a:rPr>
              <a:t>HALLAZGO ADICIONAL  ·  inconsistencia detectada en los datos</a:t>
            </a:r>
            <a:endParaRPr lang="en-US" sz="1050" dirty="0"/>
          </a:p>
        </p:txBody>
      </p:sp>
      <p:sp>
        <p:nvSpPr>
          <p:cNvPr id="11" name="Text 8"/>
          <p:cNvSpPr/>
          <p:nvPr/>
        </p:nvSpPr>
        <p:spPr>
          <a:xfrm>
            <a:off x="822960" y="5266944"/>
            <a:ext cx="10515600" cy="685800"/>
          </a:xfrm>
          <a:prstGeom prst="rect">
            <a:avLst/>
          </a:prstGeom>
          <a:noFill/>
          <a:ln/>
        </p:spPr>
        <p:txBody>
          <a:bodyPr wrap="square" lIns="0" tIns="0" rIns="0" bIns="0" rtlCol="0" anchor="t"/>
          <a:lstStyle/>
          <a:p>
            <a:pPr marL="0" indent="0">
              <a:buNone/>
            </a:pPr>
            <a:r>
              <a:rPr lang="en-US" sz="1200" dirty="0">
                <a:solidFill>
                  <a:srgbClr val="1E2761"/>
                </a:solidFill>
                <a:latin typeface="Calibri" pitchFamily="34" charset="0"/>
                <a:ea typeface="Calibri" pitchFamily="34" charset="-122"/>
                <a:cs typeface="Calibri" pitchFamily="34" charset="-120"/>
              </a:rPr>
              <a:t>El enlace DATCC-2A-C2 – DATCC-2A-C3 registra 1 890 Mbps de tráfico medido sobre una capacidad estimada de 1 000 Mbps: b/c = 1,89 &gt; 1, físicamente imposible. Es el único de las 209 aristas con b/c &gt; 1 — la medición valida el resto de las reglas de estimación y aísla el único punto donde fallan.</a:t>
            </a:r>
            <a:endParaRPr lang="en-US" sz="1200" dirty="0"/>
          </a:p>
        </p:txBody>
      </p:sp>
      <p:sp>
        <p:nvSpPr>
          <p:cNvPr id="13" name="Text 9"/>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4" name="Text 10"/>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3  ·  P7 — LOCALIZACIÓN DE INSTALACIONES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Dónde poner un colector ≠ el nodo más central</a:t>
            </a:r>
            <a:endParaRPr lang="en-US" sz="2900" dirty="0"/>
          </a:p>
        </p:txBody>
      </p:sp>
      <p:sp>
        <p:nvSpPr>
          <p:cNvPr id="4" name="Shape 2"/>
          <p:cNvSpPr/>
          <p:nvPr/>
        </p:nvSpPr>
        <p:spPr>
          <a:xfrm>
            <a:off x="548640" y="1481328"/>
            <a:ext cx="5394960" cy="1371600"/>
          </a:xfrm>
          <a:prstGeom prst="roundRect">
            <a:avLst>
              <a:gd name="adj" fmla="val 5333"/>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777240" y="1591056"/>
            <a:ext cx="18288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p-mediana</a:t>
            </a:r>
            <a:endParaRPr lang="en-US" sz="1500" dirty="0"/>
          </a:p>
        </p:txBody>
      </p:sp>
      <p:sp>
        <p:nvSpPr>
          <p:cNvPr id="6" name="Text 4"/>
          <p:cNvSpPr/>
          <p:nvPr/>
        </p:nvSpPr>
        <p:spPr>
          <a:xfrm>
            <a:off x="777240" y="1865376"/>
            <a:ext cx="4937760" cy="320040"/>
          </a:xfrm>
          <a:prstGeom prst="rect">
            <a:avLst/>
          </a:prstGeom>
          <a:noFill/>
          <a:ln/>
        </p:spPr>
        <p:txBody>
          <a:bodyPr wrap="square" lIns="0" tIns="0" rIns="0" bIns="0" rtlCol="0" anchor="ctr"/>
          <a:lstStyle/>
          <a:p>
            <a:pPr marL="0" indent="0">
              <a:buNone/>
            </a:pPr>
            <a:r>
              <a:rPr lang="en-US" sz="1150" dirty="0">
                <a:solidFill>
                  <a:srgbClr val="1B1F2A"/>
                </a:solidFill>
                <a:latin typeface="Calibri" pitchFamily="34" charset="0"/>
                <a:ea typeface="Calibri" pitchFamily="34" charset="-122"/>
                <a:cs typeface="Calibri" pitchFamily="34" charset="-120"/>
              </a:rPr>
              <a:t>mín Σᵢ Σⱼ d(i,j)·xᵢⱼ    s.a.  Σⱼ yⱼ = p,  Σⱼ xᵢⱼ = 1 ∀i,  xᵢⱼ ≤ yⱼ,  x,y ∈ {0,1}</a:t>
            </a:r>
            <a:endParaRPr lang="en-US" sz="1150" dirty="0"/>
          </a:p>
        </p:txBody>
      </p:sp>
      <p:sp>
        <p:nvSpPr>
          <p:cNvPr id="7" name="Text 5"/>
          <p:cNvSpPr/>
          <p:nvPr/>
        </p:nvSpPr>
        <p:spPr>
          <a:xfrm>
            <a:off x="777240" y="2231136"/>
            <a:ext cx="4937760" cy="548640"/>
          </a:xfrm>
          <a:prstGeom prst="rect">
            <a:avLst/>
          </a:prstGeom>
          <a:noFill/>
          <a:ln/>
        </p:spPr>
        <p:txBody>
          <a:bodyPr wrap="square" lIns="0" tIns="0" rIns="0" bIns="0" rtlCol="0" anchor="ctr"/>
          <a:lstStyle/>
          <a:p>
            <a:pPr marL="0" indent="0">
              <a:buNone/>
            </a:pPr>
            <a:r>
              <a:rPr lang="en-US" sz="1150" i="1" dirty="0">
                <a:solidFill>
                  <a:srgbClr val="5B6472"/>
                </a:solidFill>
                <a:latin typeface="Calibri" pitchFamily="34" charset="0"/>
                <a:ea typeface="Calibri" pitchFamily="34" charset="-122"/>
                <a:cs typeface="Calibri" pitchFamily="34" charset="-120"/>
              </a:rPr>
              <a:t>Minimiza la distancia PROMEDIO — buena para telemetría agregada; tolera que algún equipo quede algo lejos.</a:t>
            </a:r>
            <a:endParaRPr lang="en-US" sz="1150" dirty="0"/>
          </a:p>
        </p:txBody>
      </p:sp>
      <p:sp>
        <p:nvSpPr>
          <p:cNvPr id="8" name="Shape 6"/>
          <p:cNvSpPr/>
          <p:nvPr/>
        </p:nvSpPr>
        <p:spPr>
          <a:xfrm>
            <a:off x="6217920" y="1481328"/>
            <a:ext cx="5394960" cy="1371600"/>
          </a:xfrm>
          <a:prstGeom prst="roundRect">
            <a:avLst>
              <a:gd name="adj" fmla="val 5333"/>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9" name="Text 7"/>
          <p:cNvSpPr/>
          <p:nvPr/>
        </p:nvSpPr>
        <p:spPr>
          <a:xfrm>
            <a:off x="6446520" y="1591056"/>
            <a:ext cx="18288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p-centro</a:t>
            </a:r>
            <a:endParaRPr lang="en-US" sz="1500" dirty="0"/>
          </a:p>
        </p:txBody>
      </p:sp>
      <p:sp>
        <p:nvSpPr>
          <p:cNvPr id="10" name="Text 8"/>
          <p:cNvSpPr/>
          <p:nvPr/>
        </p:nvSpPr>
        <p:spPr>
          <a:xfrm>
            <a:off x="6446520" y="1865376"/>
            <a:ext cx="4937760" cy="320040"/>
          </a:xfrm>
          <a:prstGeom prst="rect">
            <a:avLst/>
          </a:prstGeom>
          <a:noFill/>
          <a:ln/>
        </p:spPr>
        <p:txBody>
          <a:bodyPr wrap="square" lIns="0" tIns="0" rIns="0" bIns="0" rtlCol="0" anchor="ctr"/>
          <a:lstStyle/>
          <a:p>
            <a:pPr marL="0" indent="0">
              <a:buNone/>
            </a:pPr>
            <a:r>
              <a:rPr lang="en-US" sz="1150" dirty="0">
                <a:solidFill>
                  <a:srgbClr val="1B1F2A"/>
                </a:solidFill>
                <a:latin typeface="Calibri" pitchFamily="34" charset="0"/>
                <a:ea typeface="Calibri" pitchFamily="34" charset="-122"/>
                <a:cs typeface="Calibri" pitchFamily="34" charset="-120"/>
              </a:rPr>
              <a:t>mín z    s.a.  Σⱼ d(i,j)·xᵢⱼ ≤ z ∀i,  (mismas restricciones)</a:t>
            </a:r>
            <a:endParaRPr lang="en-US" sz="1150" dirty="0"/>
          </a:p>
        </p:txBody>
      </p:sp>
      <p:sp>
        <p:nvSpPr>
          <p:cNvPr id="11" name="Text 9"/>
          <p:cNvSpPr/>
          <p:nvPr/>
        </p:nvSpPr>
        <p:spPr>
          <a:xfrm>
            <a:off x="6446520" y="2231136"/>
            <a:ext cx="4937760" cy="548640"/>
          </a:xfrm>
          <a:prstGeom prst="rect">
            <a:avLst/>
          </a:prstGeom>
          <a:noFill/>
          <a:ln/>
        </p:spPr>
        <p:txBody>
          <a:bodyPr wrap="square" lIns="0" tIns="0" rIns="0" bIns="0" rtlCol="0" anchor="ctr"/>
          <a:lstStyle/>
          <a:p>
            <a:pPr marL="0" indent="0">
              <a:buNone/>
            </a:pPr>
            <a:r>
              <a:rPr lang="en-US" sz="1150" i="1" dirty="0">
                <a:solidFill>
                  <a:srgbClr val="5B6472"/>
                </a:solidFill>
                <a:latin typeface="Calibri" pitchFamily="34" charset="0"/>
                <a:ea typeface="Calibri" pitchFamily="34" charset="-122"/>
                <a:cs typeface="Calibri" pitchFamily="34" charset="-120"/>
              </a:rPr>
              <a:t>Minimiza la distancia de PEOR CASO — garantiza un techo de latencia de sondeo para TODOS los equipos.</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11064240" cy="1645920"/>
        </p:xfrm>
        <a:graphic>
          <a:graphicData uri="http://schemas.openxmlformats.org/drawingml/2006/table">
            <a:tbl>
              <a:tblPr/>
              <a:tblGrid>
                <a:gridCol w="5486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493776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329184">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p</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p-mediana (ILP)</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Costo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p-centro (ILP)</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Radio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638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CPAR-C10; DATCC-2A-C3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486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DT-0A-C13; 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CPAR-C10; DATCC-2A-C3; DT-0A-C13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388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CB-EADMI-D6; DATCC-2A-C2; ROUTER-HUAYNA-CAPAC</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 AGRPRI-1A-D10; 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318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 CC-FILOSOFIA-A-D108; CPAR-C10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A01A24"/>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3" name="Shape 10"/>
          <p:cNvSpPr/>
          <p:nvPr/>
        </p:nvSpPr>
        <p:spPr>
          <a:xfrm>
            <a:off x="548640" y="4754880"/>
            <a:ext cx="11064240" cy="1280160"/>
          </a:xfrm>
          <a:prstGeom prst="roundRect">
            <a:avLst>
              <a:gd name="adj" fmla="val 5714"/>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2" name="Text 11"/>
          <p:cNvSpPr/>
          <p:nvPr/>
        </p:nvSpPr>
        <p:spPr>
          <a:xfrm>
            <a:off x="777240" y="4864608"/>
            <a:ext cx="106070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¿Coinciden con los nodos más centrales de P1? Solo parcialmente — y esa es la respuesta.</a:t>
            </a:r>
            <a:endParaRPr lang="en-US" sz="1350" dirty="0"/>
          </a:p>
        </p:txBody>
      </p:sp>
      <p:sp>
        <p:nvSpPr>
          <p:cNvPr id="15" name="Text 12"/>
          <p:cNvSpPr/>
          <p:nvPr/>
        </p:nvSpPr>
        <p:spPr>
          <a:xfrm>
            <a:off x="777240" y="5138928"/>
            <a:ext cx="10607040" cy="82296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Un colector de telemetría no necesita estar en el camino de muchos pares (alta intermediación) ni «en el medio de todo» (alta cercanía): necesita estar donde hay equipos que monitorear sin quedar lejos de ninguno. Los nodos de mayor intermediación son el core, muy cerca de pocos equipos y lejos de la mayoría de las hojas. La heurística voraz alcanza el óptimo en p = 1 y p = 5, y queda 1,2–5,2 % por encima en p = 2 y p = 3 (le falta backtracking).</a:t>
            </a:r>
            <a:endParaRPr lang="en-US" sz="1200" dirty="0"/>
          </a:p>
        </p:txBody>
      </p:sp>
      <p:sp>
        <p:nvSpPr>
          <p:cNvPr id="17" name="Text 13"/>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8" name="Text 14"/>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4  ·  P8 — PERCOLACIÓN Y EFICIENCIA</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Robusta al azar, frágil al ataque: 42 nodos contra 4</a:t>
            </a:r>
            <a:endParaRPr lang="en-US" sz="2900" dirty="0"/>
          </a:p>
        </p:txBody>
      </p:sp>
      <p:pic>
        <p:nvPicPr>
          <p:cNvPr id="4" name="Image 0" descr="p8_percolacion_nodos.png"/>
          <p:cNvPicPr>
            <a:picLocks noChangeAspect="1"/>
          </p:cNvPicPr>
          <p:nvPr/>
        </p:nvPicPr>
        <p:blipFill>
          <a:blip r:embed="rId3"/>
          <a:stretch>
            <a:fillRect/>
          </a:stretch>
        </p:blipFill>
        <p:spPr>
          <a:xfrm>
            <a:off x="548640" y="1481328"/>
            <a:ext cx="5029200" cy="3355848"/>
          </a:xfrm>
          <a:prstGeom prst="rect">
            <a:avLst/>
          </a:prstGeom>
        </p:spPr>
      </p:pic>
      <p:sp>
        <p:nvSpPr>
          <p:cNvPr id="5" name="Text 2"/>
          <p:cNvSpPr/>
          <p:nvPr/>
        </p:nvSpPr>
        <p:spPr>
          <a:xfrm>
            <a:off x="548640" y="4864608"/>
            <a:ext cx="5029200" cy="32004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S(f) = tamaño relativo de la componente gigante tras eliminar una fracción f de nodos.</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852160" y="1508760"/>
          <a:ext cx="5760720" cy="1645920"/>
        </p:xfrm>
        <a:graphic>
          <a:graphicData uri="http://schemas.openxmlformats.org/drawingml/2006/table">
            <a:tbl>
              <a:tblPr/>
              <a:tblGrid>
                <a:gridCol w="23774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29184">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Estrategia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f_c</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Nodos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S(f=0,05)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Fallo aleatorio (100 realiz.)</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0,237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0,879</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Ataque por grado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0,381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Intermediación (estática)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Intermediación (recalculada)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0,053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852160" y="3200400"/>
          <a:ext cx="5779008" cy="1042416"/>
        </p:xfrm>
        <a:graphic>
          <a:graphicData uri="http://schemas.openxmlformats.org/drawingml/2006/table">
            <a:tbl>
              <a:tblPr/>
              <a:tblGrid>
                <a:gridCol w="2194560">
                  <a:extLst>
                    <a:ext uri="{9D8B030D-6E8A-4147-A177-3AD203B41FA5}">
                      <a16:colId xmlns:a16="http://schemas.microsoft.com/office/drawing/2014/main" val="20000"/>
                    </a:ext>
                  </a:extLst>
                </a:gridCol>
                <a:gridCol w="896112">
                  <a:extLst>
                    <a:ext uri="{9D8B030D-6E8A-4147-A177-3AD203B41FA5}">
                      <a16:colId xmlns:a16="http://schemas.microsoft.com/office/drawing/2014/main" val="20001"/>
                    </a:ext>
                  </a:extLst>
                </a:gridCol>
                <a:gridCol w="896112">
                  <a:extLst>
                    <a:ext uri="{9D8B030D-6E8A-4147-A177-3AD203B41FA5}">
                      <a16:colId xmlns:a16="http://schemas.microsoft.com/office/drawing/2014/main" val="20002"/>
                    </a:ext>
                  </a:extLst>
                </a:gridCol>
                <a:gridCol w="896112">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tblGrid>
              <a:tr h="347472">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 (nodos eliminados)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0,02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0,05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0,20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47472">
                <a:tc>
                  <a:txBody>
                    <a:bodyPr/>
                    <a:lstStyle/>
                    <a:p>
                      <a:pPr marL="0" indent="0" algn="ctr">
                        <a:buNone/>
                      </a:pPr>
                      <a:r>
                        <a:rPr lang="en-US" sz="1050" dirty="0">
                          <a:solidFill>
                            <a:srgbClr val="1B1F2A"/>
                          </a:solidFill>
                          <a:latin typeface="Calibri" pitchFamily="34" charset="0"/>
                          <a:ea typeface="Calibri" pitchFamily="34" charset="-122"/>
                          <a:cs typeface="Calibri" pitchFamily="34" charset="-120"/>
                        </a:rPr>
                        <a:t>E(f)/E(0) — fallo aleatorio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050" dirty="0">
                          <a:solidFill>
                            <a:srgbClr val="1B1F2A"/>
                          </a:solidFill>
                          <a:latin typeface="Calibri" pitchFamily="34" charset="0"/>
                          <a:ea typeface="Calibri" pitchFamily="34" charset="-122"/>
                          <a:cs typeface="Calibri" pitchFamily="34" charset="-120"/>
                        </a:rPr>
                        <a:t>0,959</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050" dirty="0">
                          <a:solidFill>
                            <a:srgbClr val="1B1F2A"/>
                          </a:solidFill>
                          <a:latin typeface="Calibri" pitchFamily="34" charset="0"/>
                          <a:ea typeface="Calibri" pitchFamily="34" charset="-122"/>
                          <a:cs typeface="Calibri" pitchFamily="34" charset="-120"/>
                        </a:rPr>
                        <a:t>0,785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050" dirty="0">
                          <a:solidFill>
                            <a:srgbClr val="1B1F2A"/>
                          </a:solidFill>
                          <a:latin typeface="Calibri" pitchFamily="34" charset="0"/>
                          <a:ea typeface="Calibri" pitchFamily="34" charset="-122"/>
                          <a:cs typeface="Calibri" pitchFamily="34" charset="-120"/>
                        </a:rPr>
                        <a:t>0,598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050" dirty="0">
                          <a:solidFill>
                            <a:srgbClr val="1B1F2A"/>
                          </a:solidFill>
                          <a:latin typeface="Calibri" pitchFamily="34" charset="0"/>
                          <a:ea typeface="Calibri" pitchFamily="34" charset="-122"/>
                          <a:cs typeface="Calibri" pitchFamily="34" charset="-120"/>
                        </a:rPr>
                        <a:t>0,388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lgn="ctr">
                        <a:buNone/>
                      </a:pPr>
                      <a:r>
                        <a:rPr lang="en-US" sz="1050" b="1" dirty="0">
                          <a:solidFill>
                            <a:srgbClr val="A01A24"/>
                          </a:solidFill>
                          <a:latin typeface="Calibri" pitchFamily="34" charset="0"/>
                          <a:ea typeface="Calibri" pitchFamily="34" charset="-122"/>
                          <a:cs typeface="Calibri" pitchFamily="34" charset="-120"/>
                        </a:rPr>
                        <a:t>E(f)/E(0) — ataque dirigido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050" b="1" dirty="0">
                          <a:solidFill>
                            <a:srgbClr val="A01A24"/>
                          </a:solidFill>
                          <a:latin typeface="Calibri" pitchFamily="34" charset="0"/>
                          <a:ea typeface="Calibri" pitchFamily="34" charset="-122"/>
                          <a:cs typeface="Calibri" pitchFamily="34" charset="-120"/>
                        </a:rPr>
                        <a:t>0,611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050" b="1" dirty="0">
                          <a:solidFill>
                            <a:srgbClr val="A01A24"/>
                          </a:solidFill>
                          <a:latin typeface="Calibri" pitchFamily="34" charset="0"/>
                          <a:ea typeface="Calibri" pitchFamily="34" charset="-122"/>
                          <a:cs typeface="Calibri" pitchFamily="34" charset="-120"/>
                        </a:rPr>
                        <a:t>0,148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050" b="1" dirty="0">
                          <a:solidFill>
                            <a:srgbClr val="A01A24"/>
                          </a:solidFill>
                          <a:latin typeface="Calibri" pitchFamily="34" charset="0"/>
                          <a:ea typeface="Calibri" pitchFamily="34" charset="-122"/>
                          <a:cs typeface="Calibri" pitchFamily="34" charset="-120"/>
                        </a:rPr>
                        <a:t>0,057</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050" b="1" dirty="0">
                          <a:solidFill>
                            <a:srgbClr val="A01A24"/>
                          </a:solidFill>
                          <a:latin typeface="Calibri" pitchFamily="34" charset="0"/>
                          <a:ea typeface="Calibri" pitchFamily="34" charset="-122"/>
                          <a:cs typeface="Calibri" pitchFamily="34" charset="-120"/>
                        </a:rPr>
                        <a:t>0,012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8" name="Shape 3"/>
          <p:cNvSpPr/>
          <p:nvPr/>
        </p:nvSpPr>
        <p:spPr>
          <a:xfrm>
            <a:off x="5852160" y="4434840"/>
            <a:ext cx="5760720" cy="1600200"/>
          </a:xfrm>
          <a:prstGeom prst="roundRect">
            <a:avLst>
              <a:gd name="adj" fmla="val 457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9" name="Text 4"/>
          <p:cNvSpPr/>
          <p:nvPr/>
        </p:nvSpPr>
        <p:spPr>
          <a:xfrm>
            <a:off x="6080760" y="4544568"/>
            <a:ext cx="5303520" cy="274320"/>
          </a:xfrm>
          <a:prstGeom prst="rect">
            <a:avLst/>
          </a:prstGeom>
          <a:noFill/>
          <a:ln/>
        </p:spPr>
        <p:txBody>
          <a:bodyPr wrap="square" lIns="0" tIns="0" rIns="0" bIns="0" rtlCol="0" anchor="ctr"/>
          <a:lstStyle/>
          <a:p>
            <a:pPr marL="0" indent="0">
              <a:buNone/>
            </a:pPr>
            <a:r>
              <a:rPr lang="en-US" sz="1500" b="1" dirty="0">
                <a:solidFill>
                  <a:srgbClr val="A01A24"/>
                </a:solidFill>
                <a:latin typeface="Cambria" pitchFamily="34" charset="0"/>
                <a:ea typeface="Cambria" pitchFamily="34" charset="-122"/>
                <a:cs typeface="Cambria" pitchFamily="34" charset="-120"/>
              </a:rPr>
              <a:t>Consecuencia operativa</a:t>
            </a:r>
            <a:endParaRPr lang="en-US" sz="1500" dirty="0"/>
          </a:p>
        </p:txBody>
      </p:sp>
      <p:sp>
        <p:nvSpPr>
          <p:cNvPr id="10" name="Text 5"/>
          <p:cNvSpPr/>
          <p:nvPr/>
        </p:nvSpPr>
        <p:spPr>
          <a:xfrm>
            <a:off x="6080760" y="4846320"/>
            <a:ext cx="5303520" cy="1097280"/>
          </a:xfrm>
          <a:prstGeom prst="rect">
            <a:avLst/>
          </a:prstGeom>
          <a:noFill/>
          <a:ln/>
        </p:spPr>
        <p:txBody>
          <a:bodyPr wrap="square" lIns="0" tIns="0" rIns="0" bIns="0" rtlCol="0" anchor="t"/>
          <a:lstStyle/>
          <a:p>
            <a:pPr marL="0" indent="0">
              <a:spcAft>
                <a:spcPts val="500"/>
              </a:spcAft>
              <a:buNone/>
            </a:pPr>
            <a:r>
              <a:rPr lang="en-US" sz="1100" dirty="0">
                <a:solidFill>
                  <a:srgbClr val="1B1F2A"/>
                </a:solidFill>
                <a:latin typeface="Calibri" pitchFamily="34" charset="0"/>
                <a:ea typeface="Calibri" pitchFamily="34" charset="-122"/>
                <a:cs typeface="Calibri" pitchFamily="34" charset="-120"/>
              </a:rPr>
              <a:t>Un plan de MANTENIMIENTO puede tratar los fallos como aproximadamente aleatorios: la tolerancia es razonable.</a:t>
            </a:r>
            <a:endParaRPr lang="en-US" sz="1100" dirty="0"/>
          </a:p>
          <a:p>
            <a:pPr marL="0" indent="0">
              <a:spcAft>
                <a:spcPts val="500"/>
              </a:spcAft>
              <a:buNone/>
            </a:pPr>
            <a:r>
              <a:rPr lang="en-US" sz="1100" b="1" dirty="0">
                <a:solidFill>
                  <a:srgbClr val="1B1F2A"/>
                </a:solidFill>
                <a:latin typeface="Calibri" pitchFamily="34" charset="0"/>
                <a:ea typeface="Calibri" pitchFamily="34" charset="-122"/>
                <a:cs typeface="Calibri" pitchFamily="34" charset="-120"/>
              </a:rPr>
              <a:t>Un plan de RESPUESTA A INCIDENTES DE SEGURIDAD no puede: un atacante colapsa la red con 4 bajas dirigidas en vez de 42 al azar. Esos 4–8 equipos necesitan protección desproporcionada respecto a su número.</a:t>
            </a:r>
            <a:endParaRPr lang="en-US" sz="1100" dirty="0"/>
          </a:p>
        </p:txBody>
      </p:sp>
      <p:sp>
        <p:nvSpPr>
          <p:cNvPr id="11" name="Shape 6"/>
          <p:cNvSpPr/>
          <p:nvPr/>
        </p:nvSpPr>
        <p:spPr>
          <a:xfrm>
            <a:off x="548640" y="5257800"/>
            <a:ext cx="5029200" cy="777240"/>
          </a:xfrm>
          <a:prstGeom prst="roundRect">
            <a:avLst>
              <a:gd name="adj" fmla="val 9412"/>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2" name="Text 7"/>
          <p:cNvSpPr/>
          <p:nvPr/>
        </p:nvSpPr>
        <p:spPr>
          <a:xfrm>
            <a:off x="731520" y="5367528"/>
            <a:ext cx="4663440" cy="594360"/>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La eficiencia E se degrada mucho ANTES que la conectividad: con solo el 5 % de nodos atacados cae al 14,8 %. La red puede seguir «arriba» cuando el servicio ya se degradó.</a:t>
            </a:r>
            <a:endParaRPr lang="en-US" sz="1100" dirty="0"/>
          </a:p>
        </p:txBody>
      </p:sp>
      <p:sp>
        <p:nvSpPr>
          <p:cNvPr id="14"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6"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4  ·  P9 — CASCADAS, EPIDEMIAS E INMUNIZACIÓN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Se rompe por desconexión, no por efecto dominó</a:t>
            </a:r>
            <a:endParaRPr lang="en-US" sz="2900" dirty="0"/>
          </a:p>
        </p:txBody>
      </p:sp>
      <p:sp>
        <p:nvSpPr>
          <p:cNvPr id="4" name="Shape 2"/>
          <p:cNvSpPr/>
          <p:nvPr/>
        </p:nvSpPr>
        <p:spPr>
          <a:xfrm>
            <a:off x="548640" y="1481328"/>
            <a:ext cx="11064240" cy="1234440"/>
          </a:xfrm>
          <a:prstGeom prst="roundRect">
            <a:avLst>
              <a:gd name="adj" fmla="val 5926"/>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5" name="Text 3"/>
          <p:cNvSpPr/>
          <p:nvPr/>
        </p:nvSpPr>
        <p:spPr>
          <a:xfrm>
            <a:off x="822960" y="1591056"/>
            <a:ext cx="10515600" cy="292608"/>
          </a:xfrm>
          <a:prstGeom prst="rect">
            <a:avLst/>
          </a:prstGeom>
          <a:noFill/>
          <a:ln/>
        </p:spPr>
        <p:txBody>
          <a:bodyPr wrap="square" lIns="0" tIns="0" rIns="0" bIns="0" rtlCol="0" anchor="ctr"/>
          <a:lstStyle/>
          <a:p>
            <a:pPr marL="0" indent="0">
              <a:buNone/>
            </a:pPr>
            <a:r>
              <a:rPr lang="en-US" sz="1550" b="1" dirty="0">
                <a:solidFill>
                  <a:srgbClr val="A01A24"/>
                </a:solidFill>
                <a:latin typeface="Cambria" pitchFamily="34" charset="0"/>
                <a:ea typeface="Cambria" pitchFamily="34" charset="-122"/>
                <a:cs typeface="Cambria" pitchFamily="34" charset="-120"/>
              </a:rPr>
              <a:t>Cascadas de sobrecarga (modelo de Motter-Lai): no hay efecto dominó en esta red</a:t>
            </a:r>
            <a:endParaRPr lang="en-US" sz="1550" dirty="0"/>
          </a:p>
        </p:txBody>
      </p:sp>
      <p:sp>
        <p:nvSpPr>
          <p:cNvPr id="6" name="Text 4"/>
          <p:cNvSpPr/>
          <p:nvPr/>
        </p:nvSpPr>
        <p:spPr>
          <a:xfrm>
            <a:off x="822960" y="1883664"/>
            <a:ext cx="10515600" cy="77724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Carga inicial Lᵢ = intermediación, capacidad fija Cᵢ = (1+τ)·Lᵢ. Al caer un nodo, su carga se redistribuye y quien supere su capacidad también cae. Resultado: ningún nodo desencadena una cascada superior al 8,5 % de la red en toda la malla τ ∈ [0; 1], ni siquiera con margen τ = 0 (peor caso: PE2-BALZAY). No hay un τ_c positivo que reportar, y escribir «τ_c = 0» sería engañoso. Esto NO contradice la Fase 4 anterior: allí la métrica es CONECTIVIDAD, aquí es SOBRECARGA. Consecuencia: hace falta redundancia topológica, no sobredimensionar capacidad de forma preventiva.</a:t>
            </a:r>
            <a:endParaRPr lang="en-US" sz="1150" dirty="0"/>
          </a:p>
        </p:txBody>
      </p:sp>
      <p:pic>
        <p:nvPicPr>
          <p:cNvPr id="7" name="Image 0" descr="p9_sir_umbral.png"/>
          <p:cNvPicPr>
            <a:picLocks noChangeAspect="1"/>
          </p:cNvPicPr>
          <p:nvPr/>
        </p:nvPicPr>
        <p:blipFill>
          <a:blip r:embed="rId3"/>
          <a:stretch>
            <a:fillRect/>
          </a:stretch>
        </p:blipFill>
        <p:spPr>
          <a:xfrm>
            <a:off x="548640" y="2880360"/>
            <a:ext cx="4434840" cy="2953512"/>
          </a:xfrm>
          <a:prstGeom prst="rect">
            <a:avLst/>
          </a:prstGeom>
        </p:spPr>
      </p:pic>
      <p:sp>
        <p:nvSpPr>
          <p:cNvPr id="8" name="Text 5"/>
          <p:cNvSpPr/>
          <p:nvPr/>
        </p:nvSpPr>
        <p:spPr>
          <a:xfrm>
            <a:off x="548640" y="5852160"/>
            <a:ext cx="4434840" cy="274320"/>
          </a:xfrm>
          <a:prstGeom prst="rect">
            <a:avLst/>
          </a:prstGeom>
          <a:noFill/>
          <a:ln/>
        </p:spPr>
        <p:txBody>
          <a:bodyPr wrap="square" lIns="0" tIns="0" rIns="0" bIns="0" rtlCol="0" anchor="ctr"/>
          <a:lstStyle/>
          <a:p>
            <a:pPr marL="0" indent="0">
              <a:buNone/>
            </a:pPr>
            <a:r>
              <a:rPr lang="en-US" sz="1000" i="1" dirty="0">
                <a:solidFill>
                  <a:srgbClr val="5B6472"/>
                </a:solidFill>
                <a:latin typeface="Calibri" pitchFamily="34" charset="0"/>
                <a:ea typeface="Calibri" pitchFamily="34" charset="-122"/>
                <a:cs typeface="Calibri" pitchFamily="34" charset="-120"/>
              </a:rPr>
              <a:t>λ_c = ⟨k⟩/⟨k²⟩ = 2,362/12,689 = 0,1861 (campo medio). SIR discreto, γ = 0,3.</a:t>
            </a:r>
            <a:endParaRPr lang="en-US" sz="1000" dirty="0"/>
          </a:p>
        </p:txBody>
      </p:sp>
      <p:graphicFrame>
        <p:nvGraphicFramePr>
          <p:cNvPr id="9" name="Chart 0"/>
          <p:cNvGraphicFramePr/>
          <p:nvPr/>
        </p:nvGraphicFramePr>
        <p:xfrm>
          <a:off x="5257800" y="2880360"/>
          <a:ext cx="3840480" cy="251460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 6"/>
          <p:cNvSpPr/>
          <p:nvPr/>
        </p:nvSpPr>
        <p:spPr>
          <a:xfrm>
            <a:off x="5257800" y="5413248"/>
            <a:ext cx="3840480" cy="411480"/>
          </a:xfrm>
          <a:prstGeom prst="rect">
            <a:avLst/>
          </a:prstGeom>
          <a:noFill/>
          <a:ln/>
        </p:spPr>
        <p:txBody>
          <a:bodyPr wrap="square" lIns="0" tIns="0" rIns="0" bIns="0" rtlCol="0" anchor="ctr"/>
          <a:lstStyle/>
          <a:p>
            <a:pPr marL="0" indent="0">
              <a:buNone/>
            </a:pPr>
            <a:r>
              <a:rPr lang="en-US" sz="1000" i="1" dirty="0">
                <a:solidFill>
                  <a:srgbClr val="5B6472"/>
                </a:solidFill>
                <a:latin typeface="Calibri" pitchFamily="34" charset="0"/>
                <a:ea typeface="Calibri" pitchFamily="34" charset="-122"/>
                <a:cs typeface="Calibri" pitchFamily="34" charset="-120"/>
              </a:rPr>
              <a:t>Mismo presupuesto: 11 equipos parcheados (≈6 % de la red), λ = 8λ_c, 200 realizaciones.</a:t>
            </a:r>
            <a:endParaRPr lang="en-US" sz="1000" dirty="0"/>
          </a:p>
        </p:txBody>
      </p:sp>
      <p:sp>
        <p:nvSpPr>
          <p:cNvPr id="11" name="Shape 7"/>
          <p:cNvSpPr/>
          <p:nvPr/>
        </p:nvSpPr>
        <p:spPr>
          <a:xfrm>
            <a:off x="9372600" y="2880360"/>
            <a:ext cx="2240280" cy="2926080"/>
          </a:xfrm>
          <a:prstGeom prst="roundRect">
            <a:avLst>
              <a:gd name="adj" fmla="val 3265"/>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2" name="Text 8"/>
          <p:cNvSpPr/>
          <p:nvPr/>
        </p:nvSpPr>
        <p:spPr>
          <a:xfrm>
            <a:off x="9601200" y="2999232"/>
            <a:ext cx="2011680" cy="292608"/>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Inmunizar bien vale 7×</a:t>
            </a:r>
            <a:endParaRPr lang="en-US" sz="1500" dirty="0"/>
          </a:p>
        </p:txBody>
      </p:sp>
      <p:sp>
        <p:nvSpPr>
          <p:cNvPr id="13" name="Text 9"/>
          <p:cNvSpPr/>
          <p:nvPr/>
        </p:nvSpPr>
        <p:spPr>
          <a:xfrm>
            <a:off x="9601200" y="3337560"/>
            <a:ext cx="1783080" cy="2331720"/>
          </a:xfrm>
          <a:prstGeom prst="rect">
            <a:avLst/>
          </a:prstGeom>
          <a:noFill/>
          <a:ln/>
        </p:spPr>
        <p:txBody>
          <a:bodyPr wrap="square" lIns="0" tIns="0" rIns="0" bIns="0" rtlCol="0" anchor="t"/>
          <a:lstStyle/>
          <a:p>
            <a:pPr marL="0" indent="0">
              <a:spcAft>
                <a:spcPts val="600"/>
              </a:spcAft>
              <a:buNone/>
            </a:pPr>
            <a:r>
              <a:rPr lang="en-US" sz="1100" dirty="0">
                <a:solidFill>
                  <a:srgbClr val="1B1F2A"/>
                </a:solidFill>
                <a:latin typeface="Calibri" pitchFamily="34" charset="0"/>
                <a:ea typeface="Calibri" pitchFamily="34" charset="-122"/>
                <a:cs typeface="Calibri" pitchFamily="34" charset="-120"/>
              </a:rPr>
              <a:t>Reducción del brote: 11,0 % si se eligen los 11 equipos al azar; 77,2 % si se eligen los de mayor centralidad. Siete veces más, con el mismo presupuesto.</a:t>
            </a:r>
            <a:endParaRPr lang="en-US" sz="1100" dirty="0"/>
          </a:p>
          <a:p>
            <a:pPr marL="0" indent="0">
              <a:spcAft>
                <a:spcPts val="600"/>
              </a:spcAft>
              <a:buNone/>
            </a:pPr>
            <a:r>
              <a:rPr lang="en-US" sz="1100" b="1" dirty="0">
                <a:solidFill>
                  <a:srgbClr val="1B1F2A"/>
                </a:solidFill>
                <a:latin typeface="Calibri" pitchFamily="34" charset="0"/>
                <a:ea typeface="Calibri" pitchFamily="34" charset="-122"/>
                <a:cs typeface="Calibri" pitchFamily="34" charset="-120"/>
              </a:rPr>
              <a:t>Y un segundo efecto menos citado: la desviación estándar cae de 29,7 % a 3,0 %. La inmunización dirigida no solo reduce el daño esperado — elimina el riesgo de cola.</a:t>
            </a:r>
            <a:endParaRPr lang="en-US" sz="1100" dirty="0"/>
          </a:p>
        </p:txBody>
      </p:sp>
      <p:sp>
        <p:nvSpPr>
          <p:cNvPr id="15" name="Text 10"/>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1"/>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4  ·  P10 — DIAGNÓSTICO DE PUNTOS CRÍTICOS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Cuatro señales independientes, un solo ranking</a:t>
            </a:r>
            <a:endParaRPr lang="en-US" sz="2900" dirty="0"/>
          </a:p>
        </p:txBody>
      </p:sp>
      <p:sp>
        <p:nvSpPr>
          <p:cNvPr id="4" name="Text 2"/>
          <p:cNvSpPr/>
          <p:nvPr/>
        </p:nvSpPr>
        <p:spPr>
          <a:xfrm>
            <a:off x="548640" y="1481328"/>
            <a:ext cx="11064240" cy="548640"/>
          </a:xfrm>
          <a:prstGeom prst="rect">
            <a:avLst/>
          </a:prstGeom>
          <a:noFill/>
          <a:ln/>
        </p:spPr>
        <p:txBody>
          <a:bodyPr wrap="square" lIns="0" tIns="0" rIns="0" bIns="0" rtlCol="0" anchor="ctr"/>
          <a:lstStyle/>
          <a:p>
            <a:pPr marL="0" indent="0">
              <a:buNone/>
            </a:pPr>
            <a:r>
              <a:rPr lang="en-US" sz="1250" dirty="0">
                <a:solidFill>
                  <a:srgbClr val="1B1F2A"/>
                </a:solidFill>
                <a:latin typeface="Calibri" pitchFamily="34" charset="0"/>
                <a:ea typeface="Calibri" pitchFamily="34" charset="-122"/>
                <a:cs typeface="Calibri" pitchFamily="34" charset="-120"/>
              </a:rPr>
              <a:t>Índice compuesto = promedio de 4 componentes normalizados a [0,1]: intermediación (P1) + condición de punto de articulación (P1) + participación en los cortes mínimos (P6) + daño causado en la cascada (P9). Pesos iguales, declarados como punto de partida a falta de una prioridad de negocio de la institución.</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11064240" cy="3017520"/>
        </p:xfrm>
        <a:graphic>
          <a:graphicData uri="http://schemas.openxmlformats.org/drawingml/2006/table">
            <a:tbl>
              <a:tblPr/>
              <a:tblGrid>
                <a:gridCol w="54864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960120">
                  <a:extLst>
                    <a:ext uri="{9D8B030D-6E8A-4147-A177-3AD203B41FA5}">
                      <a16:colId xmlns:a16="http://schemas.microsoft.com/office/drawing/2014/main" val="20007"/>
                    </a:ext>
                  </a:extLst>
                </a:gridCol>
              </a:tblGrid>
              <a:tr h="301752">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Equipo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Campus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Capa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Interm.</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Artic.</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Cortes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Índice</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INTERNET-MPLS</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Nube MPLS</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0,818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0,682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BAL-AUL2-D1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0,248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0,585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DATCC-2A-C3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0,530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CPAR-C10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0,905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0,524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ROUTER-CAMPUS-HUAYNA-CAPAC</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0,820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0,503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BAL-CENTEC-D2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0,126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0,429</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6"/>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7–8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BAL-AUL1-D4 · HOS-0A-D05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 · Hospitalidad</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0,101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0,398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7"/>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CB-EADMI-D6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0,150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0,385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8"/>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FORTIGATE-1800F-CENTRAL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interconexión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0,417</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0,382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6" name="Shape 3"/>
          <p:cNvSpPr/>
          <p:nvPr/>
        </p:nvSpPr>
        <p:spPr>
          <a:xfrm>
            <a:off x="548640" y="5394960"/>
            <a:ext cx="11064240" cy="777240"/>
          </a:xfrm>
          <a:prstGeom prst="roundRect">
            <a:avLst>
              <a:gd name="adj" fmla="val 9412"/>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7" name="Text 4"/>
          <p:cNvSpPr/>
          <p:nvPr/>
        </p:nvSpPr>
        <p:spPr>
          <a:xfrm>
            <a:off x="777240" y="5513832"/>
            <a:ext cx="10607040" cy="548640"/>
          </a:xfrm>
          <a:prstGeom prst="rect">
            <a:avLst/>
          </a:prstGeom>
          <a:noFill/>
          <a:ln/>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Cinco de los diez puestos son switches de agregación — confirma que la fragilidad no está en el núcleo. El segundo puesto, BAL-AUL2-D1, tiene intermediación modesta (0,248) pero participa en 10 cortes mínimos: ninguna centralidad clásica por sí sola lo habría detectado. Ese es el valor de combinar cuatro señales.</a:t>
            </a:r>
            <a:endParaRPr lang="en-US" sz="125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5  ·  P11.1 — QUÉ CONSTRUIR</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Cinco intervenciones, cada una derivada del diagnóstico</a:t>
            </a:r>
            <a:endParaRPr lang="en-US" sz="2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743200"/>
        </p:xfrm>
        <a:graphic>
          <a:graphicData uri="http://schemas.openxmlformats.org/drawingml/2006/table">
            <a:tbl>
              <a:tblPr/>
              <a:tblGrid>
                <a:gridCol w="457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5120640">
                  <a:extLst>
                    <a:ext uri="{9D8B030D-6E8A-4147-A177-3AD203B41FA5}">
                      <a16:colId xmlns:a16="http://schemas.microsoft.com/office/drawing/2014/main" val="20004"/>
                    </a:ext>
                  </a:extLst>
                </a:gridCol>
              </a:tblGrid>
              <a:tr h="4572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Tipo</a:t>
                      </a:r>
                      <a:endParaRPr lang="en-US" sz="110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Enlace</a:t>
                      </a:r>
                      <a:endParaRPr lang="en-US" sz="110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Cap.</a:t>
                      </a:r>
                      <a:endParaRPr lang="en-US" sz="110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Qué problema del diagnóstico resuelve</a:t>
                      </a:r>
                      <a:endParaRPr lang="en-US" sz="110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57200">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Duplicar</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CPAR-C10 — ROUTER-CAMPUS-HUAYNA-CAPAC</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El cuello de botella de flujo más severo de la institución (P6). Se sube al estándar de 10 Gbps del resto de troncales WAN.</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HOS-0A-D05 — FORTIGATE-1800F-CENTRAL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Hospitalidad depende de un único enlace inferido a MPLS y es punto de articulación (P1). Ruta alterna vía el firewall de 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CCJ-CJURIDICO-D4 — DATCC-2A-C2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Mismo patrón para el Consultorio Jurídico. Ruta alterna vía un core de Campus 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ROUTER-CAMPUS-YANUNCAY — DATCC-2A-C3</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Yanuncay (11 equipos de acceso) depende de un único enlace troncal para salir del campus.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AUL2-0A-A121 — BAL-CENTEC-D2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Mitigación del equipo de mayor tráfico (81,71 Mbps) tras BAL-AUL2-D1, segundo puesto de P10.</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48640" y="4617720"/>
            <a:ext cx="11064240" cy="1417320"/>
          </a:xfrm>
          <a:prstGeom prst="roundRect">
            <a:avLst>
              <a:gd name="adj" fmla="val 5161"/>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6" name="Text 3"/>
          <p:cNvSpPr/>
          <p:nvPr/>
        </p:nvSpPr>
        <p:spPr>
          <a:xfrm>
            <a:off x="822960" y="4727448"/>
            <a:ext cx="105156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Nota de modelado, declarada explícitamente</a:t>
            </a:r>
            <a:endParaRPr lang="en-US" sz="1500" dirty="0"/>
          </a:p>
        </p:txBody>
      </p:sp>
      <p:sp>
        <p:nvSpPr>
          <p:cNvPr id="7" name="Text 4"/>
          <p:cNvSpPr/>
          <p:nvPr/>
        </p:nvSpPr>
        <p:spPr>
          <a:xfrm>
            <a:off x="822960" y="5029200"/>
            <a:ext cx="10515600" cy="9144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«Duplicar» un enlace en un grafo simple NO crea una arista nueva: una segunda fibra entre el mismo par de equipos protege contra el corte de una fibra, pero no contra la falla del equipo. Por eso la intervención 1 se modela como aumento de CAPACIDAD — afecta al flujo, no al conteo de puentes ni de puntos de articulación — mientras que las otras cuatro sí son aristas topológicamente nuevas. Ocultar esa distinción habría inflado artificialmente la mejora reportada.</a:t>
            </a:r>
            <a:endParaRPr lang="en-US" sz="120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FASE 5  ·  P11.2–P11.3 — CUANTIFICACIÓN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Antes / después, y por qué gana a las alternativas ingenuas</a:t>
            </a:r>
            <a:endParaRPr lang="en-US" sz="2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577840" cy="2304288"/>
        </p:xfrm>
        <a:graphic>
          <a:graphicData uri="http://schemas.openxmlformats.org/drawingml/2006/table">
            <a:tbl>
              <a:tblPr/>
              <a:tblGrid>
                <a:gridCol w="22860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29184">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Métrica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Antes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Después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Variación</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Puentes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  (−2,1 %)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Puntos de articulación</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  (−2,1 %)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Distancia media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Eficiencia global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+3,5 %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Robustez (AUC percolación)</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0,0477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0,0495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+3,7 %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Flujo máximo Paraíso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+900 %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400800" y="1508760"/>
          <a:ext cx="5212080" cy="1816608"/>
        </p:xfrm>
        <a:graphic>
          <a:graphicData uri="http://schemas.openxmlformats.org/drawingml/2006/table">
            <a:tbl>
              <a:tblPr/>
              <a:tblGrid>
                <a:gridCol w="1572768">
                  <a:extLst>
                    <a:ext uri="{9D8B030D-6E8A-4147-A177-3AD203B41FA5}">
                      <a16:colId xmlns:a16="http://schemas.microsoft.com/office/drawing/2014/main" val="20000"/>
                    </a:ext>
                  </a:extLst>
                </a:gridCol>
                <a:gridCol w="786384">
                  <a:extLst>
                    <a:ext uri="{9D8B030D-6E8A-4147-A177-3AD203B41FA5}">
                      <a16:colId xmlns:a16="http://schemas.microsoft.com/office/drawing/2014/main" val="20001"/>
                    </a:ext>
                  </a:extLst>
                </a:gridCol>
                <a:gridCol w="969264">
                  <a:extLst>
                    <a:ext uri="{9D8B030D-6E8A-4147-A177-3AD203B41FA5}">
                      <a16:colId xmlns:a16="http://schemas.microsoft.com/office/drawing/2014/main" val="20002"/>
                    </a:ext>
                  </a:extLst>
                </a:gridCol>
                <a:gridCol w="969264">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347472">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Propuesta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Puentes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Dist. media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Eficiencia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Flujo Paraíso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Red base</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P11 (justificada)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Alt. A: mayor grado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4,741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0,2440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Alt. B: aleatoria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5,718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0,2120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2"/>
          <p:cNvSpPr/>
          <p:nvPr/>
        </p:nvSpPr>
        <p:spPr>
          <a:xfrm>
            <a:off x="6400800" y="3520440"/>
            <a:ext cx="5212080" cy="2286000"/>
          </a:xfrm>
          <a:prstGeom prst="roundRect">
            <a:avLst>
              <a:gd name="adj" fmla="val 3200"/>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7" name="Text 3"/>
          <p:cNvSpPr/>
          <p:nvPr/>
        </p:nvSpPr>
        <p:spPr>
          <a:xfrm>
            <a:off x="6629400" y="3630168"/>
            <a:ext cx="4754880" cy="320040"/>
          </a:xfrm>
          <a:prstGeom prst="rect">
            <a:avLst/>
          </a:prstGeom>
          <a:noFill/>
          <a:ln/>
        </p:spPr>
        <p:txBody>
          <a:bodyPr wrap="square" lIns="0" tIns="0" rIns="0" bIns="0" rtlCol="0" anchor="ctr"/>
          <a:lstStyle/>
          <a:p>
            <a:pPr marL="0" indent="0">
              <a:buNone/>
            </a:pPr>
            <a:r>
              <a:rPr lang="en-US" sz="1500" b="1" dirty="0">
                <a:solidFill>
                  <a:srgbClr val="A01A24"/>
                </a:solidFill>
                <a:latin typeface="Cambria" pitchFamily="34" charset="0"/>
                <a:ea typeface="Cambria" pitchFamily="34" charset="-122"/>
                <a:cs typeface="Cambria" pitchFamily="34" charset="-120"/>
              </a:rPr>
              <a:t>A primera vista las alternativas ganan… y no</a:t>
            </a:r>
            <a:endParaRPr lang="en-US" sz="1500" dirty="0"/>
          </a:p>
        </p:txBody>
      </p:sp>
      <p:sp>
        <p:nvSpPr>
          <p:cNvPr id="8" name="Text 4"/>
          <p:cNvSpPr/>
          <p:nvPr/>
        </p:nvSpPr>
        <p:spPr>
          <a:xfrm>
            <a:off x="6629400" y="3959352"/>
            <a:ext cx="4754880" cy="1737360"/>
          </a:xfrm>
          <a:prstGeom prst="rect">
            <a:avLst/>
          </a:prstGeom>
          <a:noFill/>
          <a:ln/>
        </p:spPr>
        <p:txBody>
          <a:bodyPr wrap="square" lIns="0" tIns="0" rIns="0" bIns="0" rtlCol="0" anchor="t"/>
          <a:lstStyle/>
          <a:p>
            <a:pPr marL="0" indent="0">
              <a:spcAft>
                <a:spcPts val="500"/>
              </a:spcAft>
              <a:buNone/>
            </a:pPr>
            <a:r>
              <a:rPr lang="en-US" sz="1100" dirty="0">
                <a:solidFill>
                  <a:srgbClr val="1B1F2A"/>
                </a:solidFill>
                <a:latin typeface="Calibri" pitchFamily="34" charset="0"/>
                <a:ea typeface="Calibri" pitchFamily="34" charset="-122"/>
                <a:cs typeface="Calibri" pitchFamily="34" charset="-120"/>
              </a:rPr>
              <a:t>«Mayor grado» conecta pares de core/agregación que YA tienen múltiples caminos entre sí: son atajos genéricos que mejoran las métricas promedio y no reparan ningún punto de articulación real. Su robustez es idéntica a la de la red base.</a:t>
            </a:r>
            <a:endParaRPr lang="en-US" sz="1100" dirty="0"/>
          </a:p>
          <a:p>
            <a:pPr marL="0" indent="0">
              <a:spcAft>
                <a:spcPts val="500"/>
              </a:spcAft>
              <a:buNone/>
            </a:pPr>
            <a:r>
              <a:rPr lang="en-US" sz="1100" dirty="0">
                <a:solidFill>
                  <a:srgbClr val="1B1F2A"/>
                </a:solidFill>
                <a:latin typeface="Calibri" pitchFamily="34" charset="0"/>
                <a:ea typeface="Calibri" pitchFamily="34" charset="-122"/>
                <a:cs typeface="Calibri" pitchFamily="34" charset="-120"/>
              </a:rPr>
              <a:t>La aleatoria reduce más los puentes por pura estadística: con 5 aristas al azar entre 177 nodos es probable tocar algún puente. Mejora sin dirección: no se sabe qué se reparó.</a:t>
            </a:r>
            <a:endParaRPr lang="en-US" sz="1100" dirty="0"/>
          </a:p>
          <a:p>
            <a:pPr marL="0" indent="0">
              <a:spcAft>
                <a:spcPts val="500"/>
              </a:spcAft>
              <a:buNone/>
            </a:pPr>
            <a:r>
              <a:rPr lang="en-US" sz="1100" b="1" dirty="0">
                <a:solidFill>
                  <a:srgbClr val="1B1F2A"/>
                </a:solidFill>
                <a:latin typeface="Calibri" pitchFamily="34" charset="0"/>
                <a:ea typeface="Calibri" pitchFamily="34" charset="-122"/>
                <a:cs typeface="Calibri" pitchFamily="34" charset="-120"/>
              </a:rPr>
              <a:t>Ninguna de las dos resuelve Paraíso (2 000 vs. 10 000) y ninguna toca Hospitalidad.</a:t>
            </a:r>
            <a:endParaRPr lang="en-US" sz="1100" dirty="0"/>
          </a:p>
        </p:txBody>
      </p:sp>
      <p:sp>
        <p:nvSpPr>
          <p:cNvPr id="9" name="Shape 5"/>
          <p:cNvSpPr/>
          <p:nvPr/>
        </p:nvSpPr>
        <p:spPr>
          <a:xfrm>
            <a:off x="548640" y="3931920"/>
            <a:ext cx="5577840" cy="1874520"/>
          </a:xfrm>
          <a:prstGeom prst="roundRect">
            <a:avLst>
              <a:gd name="adj" fmla="val 3902"/>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6"/>
          <p:cNvSpPr/>
          <p:nvPr/>
        </p:nvSpPr>
        <p:spPr>
          <a:xfrm>
            <a:off x="777240" y="4041648"/>
            <a:ext cx="51206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Por qué el flujo de Hospitalidad no cambia</a:t>
            </a:r>
            <a:endParaRPr lang="en-US" sz="1350" dirty="0"/>
          </a:p>
        </p:txBody>
      </p:sp>
      <p:sp>
        <p:nvSpPr>
          <p:cNvPr id="11" name="Text 7"/>
          <p:cNvSpPr/>
          <p:nvPr/>
        </p:nvSpPr>
        <p:spPr>
          <a:xfrm>
            <a:off x="777240" y="4334256"/>
            <a:ext cx="5120640" cy="132588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Su cuello de botella real no está en la salida del campus sino en la capa agregación–acceso interna (4 enlaces de 1 Gbps hacia HOS-0A-D05). La nueva ruta mejora la robustez topológica — que era el objetivo — sin tocar esa capacidad. Lo digo en vez de disimularlo.</a:t>
            </a:r>
            <a:endParaRPr lang="en-US" sz="1150" dirty="0"/>
          </a:p>
        </p:txBody>
      </p:sp>
      <p:sp>
        <p:nvSpPr>
          <p:cNvPr id="12" name="Text 8"/>
          <p:cNvSpPr/>
          <p:nvPr/>
        </p:nvSpPr>
        <p:spPr>
          <a:xfrm>
            <a:off x="548640" y="5943600"/>
            <a:ext cx="11064240" cy="320040"/>
          </a:xfrm>
          <a:prstGeom prst="rect">
            <a:avLst/>
          </a:prstGeom>
          <a:noFill/>
          <a:ln/>
        </p:spPr>
        <p:txBody>
          <a:bodyPr wrap="square" lIns="0" tIns="0" rIns="0" bIns="0" rtlCol="0" anchor="ctr"/>
          <a:lstStyle/>
          <a:p>
            <a:pPr marL="0" indent="0" algn="ctr">
              <a:buNone/>
            </a:pPr>
            <a:r>
              <a:rPr lang="en-US" sz="1500" b="1" dirty="0">
                <a:solidFill>
                  <a:srgbClr val="1E2761"/>
                </a:solidFill>
                <a:latin typeface="Cambria" pitchFamily="34" charset="0"/>
                <a:ea typeface="Cambria" pitchFamily="34" charset="-122"/>
                <a:cs typeface="Cambria" pitchFamily="34" charset="-120"/>
              </a:rPr>
              <a:t>Optimizar una métrica agregada no es lo mismo que reparar un modo de falla.</a:t>
            </a:r>
            <a:endParaRPr lang="en-US" sz="1500" dirty="0"/>
          </a:p>
        </p:txBody>
      </p:sp>
      <p:sp>
        <p:nvSpPr>
          <p:cNvPr id="14" name="Text 9"/>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0"/>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CIERRE</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2900" b="1" dirty="0">
                <a:solidFill>
                  <a:srgbClr val="1E2761"/>
                </a:solidFill>
                <a:latin typeface="Cambria" pitchFamily="34" charset="0"/>
                <a:ea typeface="Cambria" pitchFamily="34" charset="-122"/>
                <a:cs typeface="Cambria" pitchFamily="34" charset="-120"/>
              </a:rPr>
              <a:t>Seis conclusiones y cinco limitaciones</a:t>
            </a:r>
            <a:endParaRPr lang="en-US" sz="2900" dirty="0"/>
          </a:p>
        </p:txBody>
      </p:sp>
      <p:sp>
        <p:nvSpPr>
          <p:cNvPr id="4" name="Shape 2"/>
          <p:cNvSpPr/>
          <p:nvPr/>
        </p:nvSpPr>
        <p:spPr>
          <a:xfrm>
            <a:off x="548640" y="1508760"/>
            <a:ext cx="384048" cy="384048"/>
          </a:xfrm>
          <a:prstGeom prst="ellipse">
            <a:avLst/>
          </a:prstGeom>
          <a:solidFill>
            <a:srgbClr val="1E2761"/>
          </a:solidFill>
          <a:ln w="12700">
            <a:solidFill>
              <a:srgbClr val="1E2761"/>
            </a:solidFill>
            <a:prstDash val="solid"/>
          </a:ln>
        </p:spPr>
      </p:sp>
      <p:sp>
        <p:nvSpPr>
          <p:cNvPr id="5" name="Text 3"/>
          <p:cNvSpPr/>
          <p:nvPr/>
        </p:nvSpPr>
        <p:spPr>
          <a:xfrm>
            <a:off x="548640" y="150876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078992" y="1490472"/>
            <a:ext cx="4864608"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Jerarquía dispersa por diseño</a:t>
            </a:r>
            <a:endParaRPr lang="en-US" sz="1350" dirty="0"/>
          </a:p>
        </p:txBody>
      </p:sp>
      <p:sp>
        <p:nvSpPr>
          <p:cNvPr id="7" name="Text 5"/>
          <p:cNvSpPr/>
          <p:nvPr/>
        </p:nvSpPr>
        <p:spPr>
          <a:xfrm>
            <a:off x="1078992" y="1755648"/>
            <a:ext cx="4864608" cy="68580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Clustering casi nulo y asortatividad negativa se explican por la heterogeneidad de grado y el diseño, no por patrones sociales.</a:t>
            </a:r>
            <a:endParaRPr lang="en-US" sz="1150" dirty="0"/>
          </a:p>
        </p:txBody>
      </p:sp>
      <p:sp>
        <p:nvSpPr>
          <p:cNvPr id="8" name="Shape 6"/>
          <p:cNvSpPr/>
          <p:nvPr/>
        </p:nvSpPr>
        <p:spPr>
          <a:xfrm>
            <a:off x="6217920" y="1508760"/>
            <a:ext cx="384048" cy="384048"/>
          </a:xfrm>
          <a:prstGeom prst="ellipse">
            <a:avLst/>
          </a:prstGeom>
          <a:solidFill>
            <a:srgbClr val="1E2761"/>
          </a:solidFill>
          <a:ln w="12700">
            <a:solidFill>
              <a:srgbClr val="1E2761"/>
            </a:solidFill>
            <a:prstDash val="solid"/>
          </a:ln>
        </p:spPr>
      </p:sp>
      <p:sp>
        <p:nvSpPr>
          <p:cNvPr id="9" name="Text 7"/>
          <p:cNvSpPr/>
          <p:nvPr/>
        </p:nvSpPr>
        <p:spPr>
          <a:xfrm>
            <a:off x="6217920" y="150876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6748272" y="1490472"/>
            <a:ext cx="4864608"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Puntos críticos identificados</a:t>
            </a:r>
            <a:endParaRPr lang="en-US" sz="1350" dirty="0"/>
          </a:p>
        </p:txBody>
      </p:sp>
      <p:sp>
        <p:nvSpPr>
          <p:cNvPr id="11" name="Text 9"/>
          <p:cNvSpPr/>
          <p:nvPr/>
        </p:nvSpPr>
        <p:spPr>
          <a:xfrm>
            <a:off x="6748272" y="1755648"/>
            <a:ext cx="4864608" cy="68580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INTERNET-MPLS, el par CPAR-C10 + ROUTER-HUAYNA-CAPAC, DATCC-2A-C3 y BAL-AUL2-D1: cuatro caminos analíticos convergen.</a:t>
            </a:r>
            <a:endParaRPr lang="en-US" sz="1150" dirty="0"/>
          </a:p>
        </p:txBody>
      </p:sp>
      <p:sp>
        <p:nvSpPr>
          <p:cNvPr id="12" name="Shape 10"/>
          <p:cNvSpPr/>
          <p:nvPr/>
        </p:nvSpPr>
        <p:spPr>
          <a:xfrm>
            <a:off x="548640" y="2560320"/>
            <a:ext cx="384048" cy="384048"/>
          </a:xfrm>
          <a:prstGeom prst="ellipse">
            <a:avLst/>
          </a:prstGeom>
          <a:solidFill>
            <a:srgbClr val="1E2761"/>
          </a:solidFill>
          <a:ln w="12700">
            <a:solidFill>
              <a:srgbClr val="1E2761"/>
            </a:solidFill>
            <a:prstDash val="solid"/>
          </a:ln>
        </p:spPr>
      </p:sp>
      <p:sp>
        <p:nvSpPr>
          <p:cNvPr id="13" name="Text 11"/>
          <p:cNvSpPr/>
          <p:nvPr/>
        </p:nvSpPr>
        <p:spPr>
          <a:xfrm>
            <a:off x="548640" y="256032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078992" y="2542032"/>
            <a:ext cx="4864608"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Falla grave y asimétrica</a:t>
            </a:r>
            <a:endParaRPr lang="en-US" sz="1350" dirty="0"/>
          </a:p>
        </p:txBody>
      </p:sp>
      <p:sp>
        <p:nvSpPr>
          <p:cNvPr id="15" name="Text 13"/>
          <p:cNvSpPr/>
          <p:nvPr/>
        </p:nvSpPr>
        <p:spPr>
          <a:xfrm>
            <a:off x="1078992" y="2807208"/>
            <a:ext cx="4864608" cy="68580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f_c pasa de 0,237 (azar) a 0,023 (ataque). La eficiencia se degrada aún antes que la conectividad.</a:t>
            </a:r>
            <a:endParaRPr lang="en-US" sz="1150" dirty="0"/>
          </a:p>
        </p:txBody>
      </p:sp>
      <p:sp>
        <p:nvSpPr>
          <p:cNvPr id="16" name="Shape 14"/>
          <p:cNvSpPr/>
          <p:nvPr/>
        </p:nvSpPr>
        <p:spPr>
          <a:xfrm>
            <a:off x="6217920" y="2560320"/>
            <a:ext cx="384048" cy="384048"/>
          </a:xfrm>
          <a:prstGeom prst="ellipse">
            <a:avLst/>
          </a:prstGeom>
          <a:solidFill>
            <a:srgbClr val="1E2761"/>
          </a:solidFill>
          <a:ln w="12700">
            <a:solidFill>
              <a:srgbClr val="1E2761"/>
            </a:solidFill>
            <a:prstDash val="solid"/>
          </a:ln>
        </p:spPr>
      </p:sp>
      <p:sp>
        <p:nvSpPr>
          <p:cNvPr id="17" name="Text 15"/>
          <p:cNvSpPr/>
          <p:nvPr/>
        </p:nvSpPr>
        <p:spPr>
          <a:xfrm>
            <a:off x="6217920" y="256032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6748272" y="2542032"/>
            <a:ext cx="4864608"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Fragilidad de conectividad</a:t>
            </a:r>
            <a:endParaRPr lang="en-US" sz="1350" dirty="0"/>
          </a:p>
        </p:txBody>
      </p:sp>
      <p:sp>
        <p:nvSpPr>
          <p:cNvPr id="19" name="Text 17"/>
          <p:cNvSpPr/>
          <p:nvPr/>
        </p:nvSpPr>
        <p:spPr>
          <a:xfrm>
            <a:off x="6748272" y="2807208"/>
            <a:ext cx="4864608" cy="68580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Ningún nodo desencadena una cascada &gt; 8,5 %: hace falta redundancia topológica, no capacidad preventiva.</a:t>
            </a:r>
            <a:endParaRPr lang="en-US" sz="1150" dirty="0"/>
          </a:p>
        </p:txBody>
      </p:sp>
      <p:sp>
        <p:nvSpPr>
          <p:cNvPr id="20" name="Shape 18"/>
          <p:cNvSpPr/>
          <p:nvPr/>
        </p:nvSpPr>
        <p:spPr>
          <a:xfrm>
            <a:off x="548640" y="3611880"/>
            <a:ext cx="384048" cy="384048"/>
          </a:xfrm>
          <a:prstGeom prst="ellipse">
            <a:avLst/>
          </a:prstGeom>
          <a:solidFill>
            <a:srgbClr val="1E2761"/>
          </a:solidFill>
          <a:ln w="12700">
            <a:solidFill>
              <a:srgbClr val="1E2761"/>
            </a:solidFill>
            <a:prstDash val="solid"/>
          </a:ln>
        </p:spPr>
      </p:sp>
      <p:sp>
        <p:nvSpPr>
          <p:cNvPr id="21" name="Text 19"/>
          <p:cNvSpPr/>
          <p:nvPr/>
        </p:nvSpPr>
        <p:spPr>
          <a:xfrm>
            <a:off x="548640" y="361188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078992" y="3593592"/>
            <a:ext cx="4864608"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El informe sobreestima Paraíso</a:t>
            </a:r>
            <a:endParaRPr lang="en-US" sz="1350" dirty="0"/>
          </a:p>
        </p:txBody>
      </p:sp>
      <p:sp>
        <p:nvSpPr>
          <p:cNvPr id="23" name="Text 21"/>
          <p:cNvSpPr/>
          <p:nvPr/>
        </p:nvSpPr>
        <p:spPr>
          <a:xfrm>
            <a:off x="1078992" y="3858768"/>
            <a:ext cx="4864608" cy="68580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Un único core, un único enlace de salida, 1 000 Mbps para 35 equipos de acceso.</a:t>
            </a:r>
            <a:endParaRPr lang="en-US" sz="1150" dirty="0"/>
          </a:p>
        </p:txBody>
      </p:sp>
      <p:sp>
        <p:nvSpPr>
          <p:cNvPr id="24" name="Shape 22"/>
          <p:cNvSpPr/>
          <p:nvPr/>
        </p:nvSpPr>
        <p:spPr>
          <a:xfrm>
            <a:off x="6217920" y="3611880"/>
            <a:ext cx="384048" cy="384048"/>
          </a:xfrm>
          <a:prstGeom prst="ellipse">
            <a:avLst/>
          </a:prstGeom>
          <a:solidFill>
            <a:srgbClr val="1E2761"/>
          </a:solidFill>
          <a:ln w="12700">
            <a:solidFill>
              <a:srgbClr val="1E2761"/>
            </a:solidFill>
            <a:prstDash val="solid"/>
          </a:ln>
        </p:spPr>
      </p:sp>
      <p:sp>
        <p:nvSpPr>
          <p:cNvPr id="25" name="Text 23"/>
          <p:cNvSpPr/>
          <p:nvPr/>
        </p:nvSpPr>
        <p:spPr>
          <a:xfrm>
            <a:off x="6217920" y="361188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748272" y="3593592"/>
            <a:ext cx="4864608"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Cinco enlaces mueven la aguja</a:t>
            </a:r>
            <a:endParaRPr lang="en-US" sz="1350" dirty="0"/>
          </a:p>
        </p:txBody>
      </p:sp>
      <p:sp>
        <p:nvSpPr>
          <p:cNvPr id="27" name="Text 25"/>
          <p:cNvSpPr/>
          <p:nvPr/>
        </p:nvSpPr>
        <p:spPr>
          <a:xfrm>
            <a:off x="6748272" y="3858768"/>
            <a:ext cx="4864608" cy="68580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+900 % de flujo en Paraíso, −2,1 % de puentes, +3,5 % de eficiencia — superando a dos alternativas ingenuas.</a:t>
            </a:r>
            <a:endParaRPr lang="en-US" sz="1150" dirty="0"/>
          </a:p>
        </p:txBody>
      </p:sp>
      <p:sp>
        <p:nvSpPr>
          <p:cNvPr id="28" name="Shape 26"/>
          <p:cNvSpPr/>
          <p:nvPr/>
        </p:nvSpPr>
        <p:spPr>
          <a:xfrm>
            <a:off x="548640" y="4800600"/>
            <a:ext cx="11064240" cy="1325880"/>
          </a:xfrm>
          <a:prstGeom prst="roundRect">
            <a:avLst>
              <a:gd name="adj" fmla="val 551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29" name="Text 27"/>
          <p:cNvSpPr/>
          <p:nvPr/>
        </p:nvSpPr>
        <p:spPr>
          <a:xfrm>
            <a:off x="822960" y="4910328"/>
            <a:ext cx="105156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Limitaciones que este análisis reconoce</a:t>
            </a:r>
            <a:endParaRPr lang="en-US" sz="1500" dirty="0"/>
          </a:p>
        </p:txBody>
      </p:sp>
      <p:sp>
        <p:nvSpPr>
          <p:cNvPr id="30" name="Text 28"/>
          <p:cNvSpPr/>
          <p:nvPr/>
        </p:nvSpPr>
        <p:spPr>
          <a:xfrm>
            <a:off x="822960" y="5212080"/>
            <a:ext cx="10515600" cy="77724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181 de 209 capacidades son estimadas (y el propio análisis detectó un caso donde la regla falla)  ·  el modelo no incorpora energía, espacio en rack ni licenciamiento  ·  la red se trata como estática, sin series de tiempo de tráfico  ·  percolación, cascada y SIR son promedios: una falla concreta puede diferir  ·  no puede concluirse el retorno económico de ninguna intervención, solo su impacto estructural.</a:t>
            </a:r>
            <a:endParaRPr lang="en-US" sz="1200" dirty="0"/>
          </a:p>
        </p:txBody>
      </p:sp>
      <p:sp>
        <p:nvSpPr>
          <p:cNvPr id="32" name="Text 29"/>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33" name="Text 30"/>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1645920" y="3657600"/>
            <a:ext cx="5486400" cy="548640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9509760" y="-1280160"/>
            <a:ext cx="4206240" cy="4206240"/>
          </a:xfrm>
          <a:prstGeom prst="ellipse">
            <a:avLst/>
          </a:prstGeom>
          <a:solidFill>
            <a:srgbClr val="A01A24">
              <a:alpha val="32000"/>
            </a:srgbClr>
          </a:solidFill>
          <a:ln w="12700">
            <a:solidFill>
              <a:srgbClr val="A01A24">
                <a:alpha val="0"/>
              </a:srgbClr>
            </a:solidFill>
            <a:prstDash val="solid"/>
          </a:ln>
        </p:spPr>
      </p:sp>
      <p:sp>
        <p:nvSpPr>
          <p:cNvPr id="4" name="Text 2"/>
          <p:cNvSpPr/>
          <p:nvPr/>
        </p:nvSpPr>
        <p:spPr>
          <a:xfrm>
            <a:off x="548640" y="1051560"/>
            <a:ext cx="11064240" cy="320040"/>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LA PREGUNTA DE CIERRE DEL ENUNCIADO</a:t>
            </a:r>
            <a:endParaRPr lang="en-US" sz="1200" dirty="0"/>
          </a:p>
        </p:txBody>
      </p:sp>
      <p:sp>
        <p:nvSpPr>
          <p:cNvPr id="5" name="Text 3"/>
          <p:cNvSpPr/>
          <p:nvPr/>
        </p:nvSpPr>
        <p:spPr>
          <a:xfrm>
            <a:off x="548640" y="1463040"/>
            <a:ext cx="10058400" cy="1005840"/>
          </a:xfrm>
          <a:prstGeom prst="rect">
            <a:avLst/>
          </a:prstGeom>
          <a:noFill/>
          <a:ln/>
        </p:spPr>
        <p:txBody>
          <a:bodyPr wrap="square" lIns="0" tIns="0" rIns="0" bIns="0" rtlCol="0" anchor="ctr"/>
          <a:lstStyle/>
          <a:p>
            <a:pPr marL="0" indent="0">
              <a:buNone/>
            </a:pPr>
            <a:r>
              <a:rPr lang="en-US" sz="2400" i="1" dirty="0">
                <a:solidFill>
                  <a:srgbClr val="FFFFFF"/>
                </a:solidFill>
                <a:latin typeface="Cambria" pitchFamily="34" charset="0"/>
                <a:ea typeface="Cambria" pitchFamily="34" charset="-122"/>
                <a:cs typeface="Cambria" pitchFamily="34" charset="-120"/>
              </a:rPr>
              <a:t>«Si usted fuera el administrador de esta red y tuviera</a:t>
            </a:r>
            <a:endParaRPr lang="en-US" sz="2400" dirty="0"/>
          </a:p>
          <a:p>
            <a:pPr marL="0" indent="0">
              <a:buNone/>
            </a:pPr>
            <a:r>
              <a:rPr lang="en-US" sz="2400" i="1" dirty="0">
                <a:solidFill>
                  <a:srgbClr val="FFFFFF"/>
                </a:solidFill>
                <a:latin typeface="Cambria" pitchFamily="34" charset="0"/>
                <a:ea typeface="Cambria" pitchFamily="34" charset="-122"/>
                <a:cs typeface="Cambria" pitchFamily="34" charset="-120"/>
              </a:rPr>
              <a:t>presupuesto para cinco enlaces, ¿cuáles construiría y por qué?»</a:t>
            </a:r>
            <a:endParaRPr lang="en-US" sz="2400" dirty="0"/>
          </a:p>
        </p:txBody>
      </p:sp>
      <p:sp>
        <p:nvSpPr>
          <p:cNvPr id="6" name="Shape 4"/>
          <p:cNvSpPr/>
          <p:nvPr/>
        </p:nvSpPr>
        <p:spPr>
          <a:xfrm>
            <a:off x="548640" y="2743200"/>
            <a:ext cx="11064240" cy="1691640"/>
          </a:xfrm>
          <a:prstGeom prst="roundRect">
            <a:avLst>
              <a:gd name="adj" fmla="val 4324"/>
            </a:avLst>
          </a:prstGeom>
          <a:solidFill>
            <a:srgbClr val="2A3A7A"/>
          </a:solidFill>
          <a:ln w="12700">
            <a:solidFill>
              <a:srgbClr val="2A3A7A"/>
            </a:solidFill>
            <a:prstDash val="solid"/>
          </a:ln>
          <a:effectLst>
            <a:outerShdw blurRad="76200" dist="508" dir="5400000" algn="bl" rotWithShape="0">
              <a:srgbClr val="9AA3B0">
                <a:alpha val="25000"/>
              </a:srgbClr>
            </a:outerShdw>
          </a:effectLst>
        </p:spPr>
      </p:sp>
      <p:sp>
        <p:nvSpPr>
          <p:cNvPr id="7" name="Text 5"/>
          <p:cNvSpPr/>
          <p:nvPr/>
        </p:nvSpPr>
        <p:spPr>
          <a:xfrm>
            <a:off x="868680" y="2926080"/>
            <a:ext cx="10424160" cy="45720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Los cinco de la propuesta — y empezaría por Campus Paraíso.</a:t>
            </a:r>
            <a:endParaRPr lang="en-US" sz="2600" dirty="0"/>
          </a:p>
        </p:txBody>
      </p:sp>
      <p:sp>
        <p:nvSpPr>
          <p:cNvPr id="8" name="Text 6"/>
          <p:cNvSpPr/>
          <p:nvPr/>
        </p:nvSpPr>
        <p:spPr>
          <a:xfrm>
            <a:off x="868680" y="3474720"/>
            <a:ext cx="10424160" cy="86868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Duplicar CPAR-C10 — ROUTER-CAMPUS-HUAYNA-CAPAC a 10 Gbps es, a la vez, la intervención más barata (cambio de óptica sobre fibra ya tendida), la de mayor impacto medido (+900 % de flujo) y la que corrige una discrepancia documentada entre lo que el informe técnico afirma y lo que los datos muestran.</a:t>
            </a:r>
            <a:endParaRPr lang="en-US" sz="1400" dirty="0"/>
          </a:p>
        </p:txBody>
      </p:sp>
      <p:sp>
        <p:nvSpPr>
          <p:cNvPr id="9" name="Text 7"/>
          <p:cNvSpPr/>
          <p:nvPr/>
        </p:nvSpPr>
        <p:spPr>
          <a:xfrm>
            <a:off x="548640" y="4846320"/>
            <a:ext cx="11064240" cy="118872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Gracias.  Preguntas.</a:t>
            </a:r>
            <a:endParaRPr lang="en-US" sz="2200" dirty="0"/>
          </a:p>
          <a:p>
            <a:pPr marL="0" indent="0">
              <a:buNone/>
            </a:pPr>
            <a:r>
              <a:rPr lang="en-US" sz="1300" dirty="0">
                <a:solidFill>
                  <a:srgbClr val="CADCFC"/>
                </a:solidFill>
                <a:latin typeface="Calibri" pitchFamily="34" charset="0"/>
                <a:ea typeface="Calibri" pitchFamily="34" charset="-122"/>
                <a:cs typeface="Calibri" pitchFamily="34" charset="-120"/>
              </a:rPr>
              <a:t>Efrain Adolfo Alvarado Plasencia  ·  efrain.alvarado@ucuenca.edu.ec</a:t>
            </a:r>
            <a:endParaRPr lang="en-US" sz="2200" dirty="0"/>
          </a:p>
          <a:p>
            <a:pPr marL="0" indent="0">
              <a:buNone/>
            </a:pPr>
            <a:r>
              <a:rPr lang="en-US" sz="1300" dirty="0">
                <a:solidFill>
                  <a:srgbClr val="9FB2E8"/>
                </a:solidFill>
                <a:latin typeface="Calibri" pitchFamily="34" charset="0"/>
                <a:ea typeface="Calibri" pitchFamily="34" charset="-122"/>
                <a:cs typeface="Calibri" pitchFamily="34" charset="-120"/>
              </a:rPr>
              <a:t>Repositorio reproducible: github.com/chino111160/redes-complejas-ucuenca</a:t>
            </a:r>
            <a:endParaRPr lang="en-US" sz="2200" dirty="0"/>
          </a:p>
        </p:txBody>
      </p:sp>
      <p:sp>
        <p:nvSpPr>
          <p:cNvPr id="11"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60</TotalTime>
  <Words>14107</Words>
  <Application>Microsoft Office PowerPoint</Application>
  <PresentationFormat>Panorámica</PresentationFormat>
  <Paragraphs>664</Paragraphs>
  <Slides>20</Slides>
  <Notes>20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20</vt:i4>
      </vt:variant>
    </vt:vector>
  </HeadingPairs>
  <TitlesOfParts>
    <vt:vector size="24"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de Redes Complejas - Red de datos UCuenca</dc:title>
  <dc:subject>PptxGenJS Presentation</dc:subject>
  <dc:creator>Efrain Adolfo Alvarado Plasencia</dc:creator>
  <cp:lastModifiedBy>Adolfo Alvarado</cp:lastModifiedBy>
  <cp:revision>1</cp:revision>
  <dcterms:created xsi:type="dcterms:W3CDTF">2026-08-23T17:32:16Z</dcterms:created>
  <dcterms:modified xsi:type="dcterms:W3CDTF">2026-08-23T19:21:17Z</dcterms:modified>
</cp:coreProperties>
</file>