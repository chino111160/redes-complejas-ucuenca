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Caudal máximo de salida (Mbps)</c:v>
                </c:pt>
              </c:strCache>
            </c:strRef>
          </c:tx>
          <c:spPr>
            <a:solidFill>
              <a:srgbClr val="1E2761"/>
            </a:solidFill>
            <a:effectLst/>
          </c:spPr>
          <c:invertIfNegative val="0"/>
          <c:dLbls>
            <c:numFmt formatCode="#,##0" sourceLinked="0"/>
            <c:txPr>
              <a:bodyPr/>
              <a:lstStyle/>
              <a:p>
                <a:pPr>
                  <a:defRPr b="0" i="0" strike="noStrike" sz="1100" u="none">
                    <a:solidFill>
                      <a:srgbClr val="1B1F2A"/>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1E2761"/>
              </a:solidFill>
              <a:effectLst/>
            </c:spPr>
          </c:dPt>
          <c:dPt>
            <c:idx val="4"/>
            <c:invertIfNegative val="0"/>
            <c:bubble3D val="0"/>
            <c:spPr>
              <a:solidFill>
                <a:srgbClr val="1E2761"/>
              </a:solidFill>
              <a:effectLst/>
            </c:spPr>
          </c:dPt>
          <c:dPt>
            <c:idx val="5"/>
            <c:invertIfNegative val="0"/>
            <c:bubble3D val="0"/>
            <c:spPr>
              <a:solidFill>
                <a:srgbClr val="1E2761"/>
              </a:solidFill>
              <a:effectLst/>
            </c:spPr>
          </c:dPt>
          <c:dPt>
            <c:idx val="6"/>
            <c:invertIfNegative val="0"/>
            <c:bubble3D val="0"/>
            <c:spPr>
              <a:solidFill>
                <a:srgbClr val="A01A24"/>
              </a:solidFill>
              <a:effectLst/>
            </c:spPr>
          </c:dPt>
          <c:cat>
            <c:multiLvlStrRef>
              <c:f>Sheet1!$A$2:$A$8</c:f>
              <c:multiLvlStrCache>
                <c:ptCount val="7"/>
                <c:lvl>
                  <c:pt idx="0">
                    <c:v>Central
56 equipos</c:v>
                  </c:pt>
                  <c:pt idx="1">
                    <c:v>Balzay
24</c:v>
                  </c:pt>
                  <c:pt idx="2">
                    <c:v>Museo
1</c:v>
                  </c:pt>
                  <c:pt idx="3">
                    <c:v>C. Histórico
1</c:v>
                  </c:pt>
                  <c:pt idx="4">
                    <c:v>Yanuncay
11</c:v>
                  </c:pt>
                  <c:pt idx="5">
                    <c:v>Hospitalidad
4</c:v>
                  </c:pt>
                  <c:pt idx="6">
                    <c:v>PARAÍSO
35 equipos</c:v>
                  </c:pt>
                </c:lvl>
              </c:multiLvlStrCache>
            </c:multiLvlStrRef>
          </c:cat>
          <c:val>
            <c:numRef>
              <c:f>Sheet1!$B$2:$B$8</c:f>
              <c:numCache>
                <c:formatCode>General</c:formatCode>
                <c:ptCount val="7"/>
                <c:pt idx="0">
                  <c:v>44000</c:v>
                </c:pt>
                <c:pt idx="1">
                  <c:v>23000</c:v>
                </c:pt>
                <c:pt idx="2">
                  <c:v>11000</c:v>
                </c:pt>
                <c:pt idx="3">
                  <c:v>11000</c:v>
                </c:pt>
                <c:pt idx="4">
                  <c:v>10000</c:v>
                </c:pt>
                <c:pt idx="5">
                  <c:v>4000</c:v>
                </c:pt>
                <c:pt idx="6">
                  <c:v>1000</c:v>
                </c:pt>
              </c:numCache>
            </c:numRef>
          </c:val>
        </c:ser>
        <c:dLbls>
          <c:numFmt formatCode="#,##0" sourceLinked="0"/>
          <c:txPr>
            <a:bodyPr/>
            <a:lstStyle/>
            <a:p>
              <a:pPr>
                <a:defRPr b="0" i="0" strike="noStrike" sz="1100" u="none">
                  <a:solidFill>
                    <a:srgbClr val="1B1F2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50000"/>
        </c:scaling>
        <c:delete val="0"/>
        <c:axPos val="l"/>
        <c:majorGridlines>
          <c:spPr>
            <a:ln w="12700" cap="flat">
              <a:solidFill>
                <a:srgbClr val="E6EA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QUÉ DECIR
"Buenos días. Voy a presentar el análisis de la red de datos real de la Universidad de Cuenca: 177 equipos y 209 enlaces repartidos en seis campus y dos sedes."
"La pregunta que responde todo el trabajo es sencilla de enunciar: ¿qué pasaría si falla esta red? Y más concretamente: qué equipos son los críticos, qué tan grave sería su caída, y qué se puede hacer al respecto."
"Les adelanto la conclusión para que la tengan de referencia: encontré un punto débil grave en Campus Paraíso, y se arregla con la más barata de las cinco mejoras que propongo."
RECORDATORIOS
· Respira antes de empezar. Mira al jurado, no a la pantalla.
· No te quedes más de 40 segundos en esta lámina.
· Si te tiembla la voz al principio es normal: se pasa en la segunda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QUÉ DECIR
"Lo primero fue traducir el problema a algo que se pueda calcular."
"Lo que existía eran 34 diagramas del informe técnico: planos de cada campus. Un plano es perfecto para saber por dónde pasa un cable, pero no sirve para responder qué se rompe si falla un equipo concreto."
"Así que lo convertí en un GRAFO. Un grafo es solo eso: puntos y líneas. Los puntos son los 177 equipos y las líneas son los 209 cables. Sobre esa estructura ya se pueden aplicar algoritmos y calcular cosas que el plano no muestra."
"La red está organizada en tres niveles, como una empresa. El CORE, cinco equipos, es la dirección: mueve todo el tráfico. La AGREGACIÓN, 27 equipos, son los jefes de área: recogen lo de cada facultad. Y el ACCESO, 132 equipos, son los empleados: ahí se enchufa el usuario final."
"Y quédense con el dato de abajo, que explica casi todo lo que viene después: solo 17 de los 209 cables cruzan de un campus a otro. Toda la universidad cuelga de esos 17."
POR SI PREGUNTAN
· "¿Grafo simple, no dirigido y conexo?" — Simple: un solo cable por par de equipos en el modelo. No dirigido: el cable funciona en los dos sentidos. Conexo: hoy no hay ningún equipo aislado.
· "¿De dónde salen los datos?" — De los CSV saneados que entregó el docente, verificados contra los 13 valores de control del Anexo A antes de calcular nada.
· Si alguien pregunta por la nube MPLS: es la red del proveedor que interconecta los campus; en el grafo es un solo nodo y es el único punto de salida 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ESTA LÁMINA ES EL MAPA DE TODA LA EXPOSICIÓN. Tómate tu tiempo.
QUÉ DECIR
"Apliqué ocho algoritmos sobre la red, y me gusta presentarlos así: no como ocho nombres que memorizar, sino como cuatro preguntas."
"La primera: ¿cómo recorro la red? Se responde con BFS y DFS."
"La segunda: ¿qué bloques la forman? Con Louvain y k-means."
"La tercera: ¿por dónde va el tráfico? Con Dijkstra y Floyd-Warshall."
"La cuarta: ¿cuánto tráfico cabe? Con Ford-Fulkerson y Edmonds-Karp."
"Los siguientes minutos son exactamente eso: una lámina por pregunta, con lo que encontré en cada una."
"Y hay una quinta pregunta, que es la que de verdad importa para la universidad: ¿qué pasa si algo falla? Eso se responde con percolación, y es con lo que cierro."
UNA NOTA DE MÉTODO QUE CONVIENE DECIR
"Todos los algoritmos están programados desde cero. Las bibliotecas las uso solo para verificar que mi implementación da el mismo resultado, y esa verificación es automática: si alguna vez no coincidiera, el programa se detiene."
SI PREGUNTAN "¿por qué dos algoritmos por pregunta?"
Porque en cada pareja los dos resuelven lo mismo por caminos distintos, y eso permite verificar. Por ejemplo, Ford-Fulkerson y Edmonds-Karp deben dar exactamente el mismo caudal máximo — y lo dan, en los siete campus. Es una comprobación de que el cálculo está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QUÉ DECIR
"Primera pregunta: cómo recorrer la red. Aquí hay dos formas de hacerlo y cada una sirve para algo distinto."
"BFS, búsqueda en anchura, funciona como una onda en el agua: visita primero los vecinos inmediatos, luego los vecinos de esos, y así por capas. Eso permite medir a cuántos saltos está cada equipo."
"DFS, búsqueda en profundidad, es como recorrer un laberinto: sigues un pasillo hasta el final y solo entonces vuelves atrás. Eso permite encontrar los CICLOS — y esto es importante: donde hay un ciclo hay dos caminos posibles, es decir, hay ruta alterna. Donde no hay ciclo, hay un solo camino."
"Con BFS encontré el primer resultado. El informe describe la red en tres niveles: núcleo, agregación y acceso. Si eso se cumpliera, casi todo debería estar a dos saltos del núcleo. Pero solo 65 de 177 equipos lo están, el 37 %. El resto llega hasta ocho saltos, porque los campus lejanos tienen que salir por la nube del proveedor y volver a entrar. Conclusión: el modelo de tres niveles describe UN campus, no la universidad completa."
"Y con DFS encontré el segundo: hay 33 caminos alternativos en toda la red, y están casi todos en Central y Balzay. Paraíso y Yanuncay prácticamente no tienen. Si su único cable falla, no hay por dónde ir."
SI PREGUNTAN POR LA DIFERENCIA TÉCNICA
BFS usa una COLA — el primero que entra es el primero que sale. DFS usa una PILA — el último que entra es el primero que sale. Esa es literalmente la única diferencia entre los dos, y de ella sale todo lo demás. Los dos recorren la red en tiempo proporcional al número de equipos más el de cables.
SI PREGUNTAN POR EL TÉCNICO QUE VISITA LOS ARMARIOS (viene en el enunciado)
"DFS modela mejor esa tarea. Un técnico no puede teletransportarse entre alas del edificio, que es lo que hace BFS al saltar de rama en rama. DFS recorre un pasillo completo antes de pasar al siguiente, que es como se camina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QUÉ DECIR
"Segunda pregunta: qué bloques forman la red. Aquí el objetivo es descubrir agrupaciones que nadie declaró."
"Louvain busca COMUNIDADES. La analogía que a mí me sirvió: es como detectar los barrios de una ciudad sin mirar el mapa oficial, solo viendo por dónde se mueve la gente. Agrupa lo que está muy conectado por dentro y poco por fuera. Encontró 22 grupos, con una calidad de agrupación de 0,75 —que es un valor alto; por encima de 0,3 ya se considera que hay estructura clara."
"k-means es un método completamente distinto: convierte cada equipo en un punto de un espacio matemático y agrupa los que quedan cerca. Lo apliqué para contrastar, y coincide bastante con Louvain. Que dos métodos independientes lleguen a algo parecido da confianza."
"Pero lo interesante es el hallazgo. Louvain no sabe nada de campus: solo ve cables. Aun así respetó casi perfectamente la división geográfica… salvo en once equipos. Y esos once no son casuales: son los routers y firewalls de salida de todos los campus, y el algoritmo los agrupó JUNTOS."
"Es decir, el algoritmo descubrió un bloque funcional que ningún plano dibuja: el núcleo de salida de la universidad. Un administrador de red lo reconocería al instante, pero la etiqueta 'campus', que es geográfica, no puede expresarlo."
SI PREGUNTAN "¿y esto para qué sirve?"
Para diseñar VLANs y segmentos de red: los grupos que encuentra el algoritmo son candidatos naturales. Y ese núcleo de salida justificaría tratarlo como una zona de seguridad propia, con sus propias reglas de firewall.
SI PREGUNTAN POR NÚMEROS
· Modularidad Q = 0,7504. Es la medida de calidad de la agrupación, de 0 a 1.
· Es estable: probé cinco semillas aleatorias distintas y siempre salen 21 o 22 grupos.
· Frente a la división por campus: NMI 0,584 y ARI 0,190. El segundo es bajo porque penaliza que Louvain SUBDIVIDA los campus grandes, cosa que hace (Central en 11 grupos).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QUÉ DECIR
"Tercera pregunta: por dónde va el tráfico. Aquí los dos algoritmos hacen lo mismo pero a escalas distintas."
"Dijkstra es, literalmente, el algoritmo del GPS: calcula la mejor ruta desde UN punto de partida hacia todos los demás. Es rápido y es lo que uno usa cuando le interesa un origen concreto."
"Floyd-Warshall calcula de una sola vez la distancia entre CADA par de equipos: una tabla completa de 177 por 177. Es más costoso por consulta, pero te da el mapa entero. Para este análisis me convenía ese, porque necesitaba todas las distancias a la vez, y en esta red tarda cuatro milésimas de segundo."
"Los implementé los dos y los comparé en 20 pares al azar: coinciden exactamente. Es otra verificación."
"Y el resultado que mejor retrata esta red es el de abajo. Ir de un aula de Enfermería, en Paraíso, a un aula de Posgrado, en Central, exige ONCE saltos. Suben por el switch del piso, por el del edificio, llegan al núcleo de Paraíso, salen por el router, cruzan la nube del proveedor, entran por el router de Central, bajan al núcleo, al switch del edificio, y encadenan dos switches más."
"Y fíjense en el paso cuatro, porque es la clave de toda mi exposición: TODO Campus Paraíso pasa obligatoriamente por su núcleo y su router de salida. No hay alternativa. Guarden ese dato."
SI PREGUNTAN POR LOS «PESOS»
"Un detalle: hay que decidir qué significa 'ruta más corta'. Probé tres criterios: contar saltos, estimar la latencia según la capacidad del cable, y medir la congestión. Con saltos y latencia el resultado es casi el mismo; con congestión cambia por completo, porque 51 cables no tenían tráfico registrado en el momento de la medición y para ese criterio salen 'gratis'."
SI PREGUNTAN POR OSPF (protocolos reales)
"Los protocolos reales como OSPF usan un costo fijo, no dependiente del tráfico del momento. Si dependiera, el tráfico huiría de un enlace congestionado, saturaría la alternativa, volvería… y se produciría una oscilación de rutas. Es un problema conocido desde ARPANET."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Esta lámina y la siguiente son el corazón de la exposición.
QUÉ DECIR
"Cuarta pregunta, y cambia de naturaleza: ya no es quién está conectado con quién, sino CUÁNTO cabe."
"La forma más fácil de entenderlo es pensar la red como un sistema de tuberías. Cada cable tiene una capacidad, como una tubería tiene un diámetro. La pregunta que planteé fue: si todos los equipos de un campus quisieran salir a Internet a la vez, ¿cuánto caudal soportaría?"
"Ford-Fulkerson y Edmonds-Karp resuelven eso. Son dos algoritmos que llegan al mismo número por caminos distintos, y por eso los usé los dos: si coinciden, el cálculo está bien. Coinciden en los siete campus."
"Miren el gráfico. Central saca 44 000. Balzay 23 000. Y ahora la barra roja."
(PAUSA. Señala la barra roja.)
"Paraíso tiene 35 equipos de acceso — más que Yanuncay y Hospitalidad juntos — y es el campus con MENOS caudal de toda la universidad: 1 000 Mbps. Cuarenta y cuatro veces menos que Central. Once veces menos que Yanuncay, que tiene un tercio de sus equipos."
"Eso no es una diferencia de tamaño. Es un problema. Y en la siguiente lámina explico exactamente cuál."
SI PREGUNTAN POR LAS CAPACIDADES
"La capacidad estaba documentada solo en 28 de los 209 cables. Las otras 181 las estimé con cinco reglas explícitas, y dejo registrado el supuesto cable por cable para que sea auditable. La regla más discutible es la de los enlaces de acceso, y lo señalo como tal en el informe."
SI PREGUNTAN POR EL «HALLAZGO DEL DATO IMPOSIBLE» (queda bien contarlo)
"Al validar encontré una inconsistencia: el cable entre los dos núcleos de Central registra más tráfico del que su capacidad estimada permite — 1 890 sobre 1 000, físicamente imposible. Eso demuestra que ahí mi estimación se quedó corta y que ese enlace opera a 10 000. Es el único caso de los 209, lo que a la vez valida el resto de las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LA LÁMINA MÁS IMPORTANTE. Baja el ritmo, habla despacio.
QUÉ DECIR
"Aquí está la explicación, y es el hallazgo principal de todo el trabajo."
"El informe técnico de la universidad afirma que Campus Paraíso tiene 'redundancia física completa'. En cristiano: que sus equipos tienen doble camino hacia el núcleo, de modo que si un cable falla hay otro."
"Lo verifiqué de la forma más simple posible: conté, para cada equipo, cuántos caminos hacia el núcleo tiene realmente."
"En Balzay, cuatro equipos con doble camino, ninguno con uno solo. Correcto, el informe acierta."
"En Central, trece con doble camino. Correcto también."
"En Paraíso: CERO con doble camino. Los seis tienen un solo cable, y los seis van al MISMO núcleo."
(PAUSA)
"Eso no es redundancia. Es lo contrario: es un único punto del que cuelga todo el campus. Y ese núcleo, además, sale a Internet por un solo cable de 1 000 Mbps — que es exactamente el número bajo que vieron en el gráfico anterior. No era el tamaño del campus: era que todo pasa por un solo sitio."
"Si ese equipo falla, cae Campus Paraíso entero. 44 equipos, el 25 % de la universidad."
"Y no es una opinión mía: tres análisis independientes llegan a lo mismo — el conteo de caminos, el cálculo de caudal, y el ranking de puntos críticos que veremos en dos láminas."
SI PREGUNTAN «¿ESTÁS DICIENDO QUE EL INFORME ESTÁ MAL?» (prepáralo, es probable)
Respuesta prudente: "Estoy diciendo que los datos que me entregaron no respaldan esa afirmación para Paraíso. Puede ser una imprecisión de redacción, o un cambio de topología posterior al informe. En cualquier caso es una discrepancia que vale la pena verificar en campo, y el análisis muestra que tiene consecuencias medibles."
SI PREGUNTAN POR CENTRAL
"Hay una sorpresa adicional: Central, que el informe describe con enlaces simples, sí tiene doble camino en los trece equipos medidos. Probablemente el informe se refiere a otra capa. Esa lectura benévola no aplica a Paraíso."
LA DIFERENCIA CLAVE, POR SI HACE FALTA
Varios cables al MISMO equipo = protege contra el corte de un cable.
Cables a DOS equipos distintos = protege contra la caída de un equipo.
El informe promete lo segundo; los datos muestran lo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QUÉ DECIR
"Llego a la quinta pregunta, que es la que de verdad le importa a la universidad: ¿qué pasa si algo falla?"
"La técnica se llama PERCOLACIÓN y la idea es simple: romper la red a propósito, en el computador, para ver cuánto aguanta. Voy quitando equipos uno a uno y mido qué fracción sigue comunicada."
"Y lo hice de dos maneras muy distintas, que es donde está lo interesante."
"La primera es el FALLO ALEATORIO: quito equipos al azar. Eso modela la vida real — se quema una fuente, se corta la luz, falla un equipo viejo. Como es azar, lo repetí cien veces y promedié."
"La segunda es el ATAQUE DIRIGIDO: quito primero los equipos más importantes. Eso modela a alguien que sabe lo que hace: un atacante, o un sabotaje interno."
"Y el resultado cabe en una frase:"
(PAUSA. Lee despacio la frase grande.)
"Para romper la mitad de la red hacen falta 42 equipos al azar… o solo 4 bien elegidos."
"Es decir: la red aguanta muy bien la mala suerte y muy mal la mala intención. Diez a uno de diferencia."
CONTEXTO POR SI PREGUNTAN
· Esto tiene nombre en la literatura: la "paradoja de la robustez". Es típico de las redes donde unos pocos nodos concentran muchísimas conexiones.
· El número técnico: el umbral pasa de 0,237 (fallo aleatorio) a 0,023 (ataque). Son fracciones de la red.
· También lo hice quitando CABLES en vez de equipos. Ahí la diferencia es menor, y la razón es interesante: 141 de los 209 cables ya son, por sí solos, puntos únicos de fallo. Cuando dos de cada tres cables son críticos, quitar al azar ya es casi como atacar.
LA CONSECUENCIA PRÁCTICA — dila, es lo que más valora un jurado de ingeniería
"Un plan de MANTENIMIENTO puede tratar los fallos como aleatorios: hay margen de maniobra. Un plan de SEGURIDAD no puede: con cuatro equipos bien elegidos alguien tumba media red. Esos cuatro equipos necesitan una protección desproporcionada respecto a su número."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QUÉ DECIR
"Esta es la curva que demuestra lo que acabo de decir. Explico cómo se lee, que es fácil."
"El eje horizontal es cuántos equipos he quitado, de cero a todos. El eje vertical es qué fracción de la red sigue comunicada entre sí. Empieza arriba, en el 100 %, y baja."
"La línea azul, con la banda alrededor, es el fallo aleatorio: baja despacio, en diagonal. La red resiste bien."
"Las otras tres líneas son los ataques dirigidos, con distintos criterios para elegir a quién atacar. Y fíjense: se desploman pegadas al eje. Con menos del 5 % de los equipos eliminados, la red ya está partida."
"Esa es toda la historia: azul lento, las otras en caída libre."
"Y hay un matiz que a mí me pareció el más útil de todo el trabajo. Medí también la EFICIENCIA, que es una forma de estimar la calidad del servicio, no solo si hay conexión. Y resulta que el servicio se degrada mucho ANTES de que la red se parta. Con solo el 5 % de equipos atacados, la red sigue técnicamente conectada, pero la calidad efectiva ya cayó al 15 %."
"La consecuencia para la universidad es concreta: un sistema de monitoreo que solo avise cuando algo se cae, se entera tarde. Para entonces el usuario lleva rato sufriendo lentitud."
POR QUÉ PASA ESO (por si preguntan)
"Porque un equipo que sigue conectado pero ahora está a ocho saltos en vez de a dos, técnicamente cuenta como 'conectado', pero en la práctica su servicio es malísimo. La conectividad lo cuenta entero; la eficiencia lo cuenta casi como nada."
SI PREGUNTAN POR LAS TRES LÍNEAS DE ATAQUE
Son tres criterios para decidir a quién atacar primero: por número de cables, por cuánto tráfico de paso soporta, y la tercera recalculando ese cálculo después de cada eliminación. Esta última es la más destructiva —y también la más costosa de computar, lo que en la práctica es una barrera para el atacante.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QUÉ DECIR
"Con todo lo anterior construí un ranking único de puntos críticos. Combiné cuatro señales: cuánto tráfico de paso soporta cada equipo, si su caída desconecta a otros, si forma parte de un cuello de botella, y cuánto daño provoca en cadena."
"El primero es la nube del proveedor: si cae, la universidad entera se queda sin Internet y sin comunicación entre campus. No hay alternativa en la topología actual."
"El segundo es la sorpresa, y por eso lo destaco. BAL-AUL2-D1 no parece importante: no es un núcleo, no es un router de salida. Pero es el único paso hacia diez aulas de Balzay. Ninguna medida por separado lo habría detectado — hizo falta combinar las cuatro señales. Es el equipo que más usuarios deja sin servicio por sí solo."
"El tercero es un núcleo de Central. Y aquí un matiz interesante: si cae, la red NO se parte, porque tiene un gemelo que asume el tráfico. Pero Central pierde la mitad de su capacidad de salida. Es justo el caso de 'sigue conectado pero funciona mal' del que hablaba antes."
"Y en cuarto y quinto lugar, en rojo, los dos equipos de Paraíso. Los mismos que aparecieron al contar caminos y al medir el caudal. Tres análisis independientes, el mismo diagnóstico."
SI PREGUNTAN CÓMO PESASTE LAS CUATRO SEÑALES
"Con pesos iguales, y lo declaro explícitamente en el informe. Las cuatro miden cosas distintas y no tengo una prioridad de negocio de la institución para privilegiar una. Además, los cinco primeros puestos se mantienen bajo cualquier reponderación razonable, porque puntúan alto en al menos tres de las cuatro."
DATO ADICIONAL SI HAY TIEMPO
"Cinco de los diez primeros puestos son switches de agregación —el nivel intermedio—, no núcleos. La fragilidad de esta red no está en el núcleo: está un nivel más 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QUÉ DECIR
"El enunciado permite un máximo de cinco cambios en la topología. Cada uno de los míos sale de un problema concreto que el análisis detectó."
"La primera, y la más importante: ampliar a 10 Gbps el único cable de salida de Paraíso. Es el cuello de botella más grave de la universidad — hoy son 1 000 Mbps para 35 equipos."
"La segunda y la tercera atacan el mismo patrón: Hospitalidad y el Consultorio Jurídico dependen cada uno de un solo cable hacia el proveedor. Les doy una segunda ruta hacia Campus Central."
"La cuarta: Yanuncay, con once equipos, sale del campus por un único cable."
"Y la quinta es la más modesta, y lo reconozco: mitiga el punto crítico número dos del ranking, el switch de Balzay. No resuelve el patrón general —hay 132 equipos con un solo cable en toda la red—, pero eso está muy fuera de cualquier presupuesto razonable."
"Y hay algo que hace especialmente atractiva la primera: es también la MÁS BARATA. El cable ya está tendido; solo hay que cambiar la óptica en los dos extremos y quizá contratar más ancho de banda. Sin obra civil. Las dos y tres, en cambio, requieren tender fibra nueva."
UN MATIZ QUE CONVIENE DECIR (suma puntos por honestidad)
"Una precisión de modelado: 'ampliar' un cable no es lo mismo que añadir uno nuevo. Poner una segunda fibra entre los MISMOS dos equipos protege contra el corte de una fibra, pero no contra la caída del equipo. Por eso la intervención 1 la conté como aumento de capacidad, no como camino nuevo. Ocultar esa distinción habría inflado artificialmente la mejora que reporto en la siguiente lámina."
SI PREGUNTAN POR EL ORDEN DE EJECUCIÓN
"Por relación impacto/costo: 1, 4, 3, 2, 5. La primera es simultáneamente la más barata y la de mayor impacto, así que es una decisión sin contrapartida."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QUÉ DECIR
"Estos son los resultados de aplicar las cinco intervenciones."
"El cambio grande está arriba: el caudal de salida de Campus Paraíso pasa de 1 000 a 10 000 Mbps. Se multiplica por diez. Y lo consigue una sola intervención, la más barata de las cinco."
"En la tabla están las demás mejoras, más modestas y honestas: tres puntos únicos de fallo menos, la distancia media baja un 3 %, la calidad del servicio sube un 3,5 %, la resistencia a ataques un 3,7 %. Son cinco cables sobre 209: no esperaba milagros en los promedios."
"Y a la derecha está la comprobación que más me interesaba hacer. Alguien podría decir: ¿y si pones cinco cables cualesquiera, no mejora igual? Lo probé. Comparé mi propuesta contra dos alternativas 'sin pensar': unir los equipos más conectados entre sí, y poner cinco cables al azar."
"El resultado es revelador: las dos mejoran los PROMEDIOS —incluso alguna mejora más que la mía en distancia media—. Pero ninguna resuelve Paraíso: lo dejan en 2 000 en vez de 10 000. Y ninguna toca Hospitalidad."
"La lección de ingeniería, que es la frase con la que me gustaría que se quedaran: mejorar un promedio no es lo mismo que reparar una avería."
SI PREGUNTAN POR QUÉ LAS ALTERNATIVAS GANAN EN ALGUNA COLUMNA
"Porque conectan equipos que YA tenían varios caminos entre sí. Son atajos: acortan rutas que ya funcionaban, y eso mejora los promedios. Pero no reparan ningún punto único de fallo — su resistencia ante ataques es idéntica a la de la red original. Cero mejora en lo que importa."
SI PREGUNTAN POR HOSPITALIDAD (por qué su caudal no cambia)
"Buena observación, y lo digo en el informe en vez de disimularlo. Su cuello de botella real no está en la salida del campus sino en su red interna. La nueva ruta mejora su robustez, que era el objetivo, sin tocar esa capacidad."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QUÉ DECIR
"Cierro con cinco conclusiones."
"Primera: los algoritmos encontraron cosas que los planos no muestran. Un bloque funcional de equipos de salida que ningún diagrama dibuja como tal, rutas de once saltos entre dos aulas, y cuellos de botella que no se ven mirando cables."
"Segunda: la red aguanta la mala suerte pero no la mala intención. 42 equipos al azar para romperla, o cuatro bien elegidos. Eso significa que el plan de mantenimiento y el plan de seguridad tienen que ser distintos."
"Tercera: el servicio se degrada antes de que la red se caiga. Hay que vigilar la calidad, no solo si hay conexión — cuando el monitoreo tradicional avisa, el usuario lleva rato sufriendo."
"Cuarta, y la más importante: Campus Paraíso no tiene la protección que el informe le atribuye. Tres análisis independientes lo confirman."
"Y quinta: se arregla con lo más barato que había sobre la mesa. Ampliar un cable que ya está tendido multiplica por diez su caudal de salida."
SI TE SOBRA TIEMPO, AÑADE LAS LIMITACIONES (queda muy bien decirlas tú)
"Y quiero ser explícito con lo que este trabajo NO puede concluir: la capacidad de 181 de los 209 cables está estimada, no medida. El modelo no incluye costos de energía, espacio en rack ni licencias. La red se analizó como una foto fija, sin series de tiempo. Y no puedo estimar el retorno económico de ninguna intervención, solo su impacto técnico."
POR QUÉ DECIR LAS LIMITACIONES
Si el jurado detecta una que tú no mencionaste, parece un descuido. Si la mencionas tú primero, parece rigor. Siempre conviene.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QUÉ DECIR
"Termino respondiendo la pregunta con la que cierra el enunciado."
"Si yo administrara esta red y tuviera presupuesto para cinco cables, empezaría por Campus Paraíso."
"Y la razón es que esa intervención es, a la vez, las tres cosas que rara vez coinciden: lo MÁS BARATO que se puede hacer, porque la fibra ya está tendida y solo hay que cambiar la óptica; lo de MAYOR IMPACTO medido, porque el caudal se multiplica por diez; y lo que corrige una DIFERENCIA REAL entre lo que el informe técnico afirma y lo que los datos muestran."
"No es una decisión de compromiso: es una decisión sin contrapartida. Por eso es por donde hay que empezar."
"Gracias. Quedo atento a sus preguntas."
═══════════════════════════════════════
CONTROL DEL TIEMPO — 15 minutos
Si vas RETRASADO, acelera estas tres sin perder el hilo:
  · Lámina 5 (Louvain y k-means)
  · Lámina 6 (Dijkstra y Floyd-Warshall)
  · Lámina 11 (ranking de puntos críticos)
NO aceleres nunca:
  · Lámina 7 (el gráfico de caudal)
  · Lámina 8 (el hallazgo de Paraíso)
  · Lámina 9 (42 contra 4)
Son las tres que sostienen todo el argumento.
═══════════════════════════════════════
PREGUNTAS QUE ES PROBABLE QUE TE HAGAN
1. "¿Por qué programaste los algoritmos desde cero?"
   Lo pedía el enunciado. Las bibliotecas solo se usan para verificar, con una comprobación automática.
2. "¿Cómo sabes que tus estimaciones de capacidad son razonables?"
   No lo sé con certeza, y por eso registro el supuesto cable por cable. Además el propio análisis encontró el único caso donde la regla falla.
3. "¿Estás diciendo que el informe técnico está mal?"
   Los datos entregados no respaldan esa afirmación para Paraíso. Puede ser imprecisión de redacción o un cambio posterior. Vale la pena verificarlo en campo.
4. "¿Y si el presupuesto fuera de un solo cable?"
   La intervención 1, sin dudarlo.
5. "¿Usaste inteligencia artificial?"
   Sí, y está declarado en el anexo del informe: apoyo para traducir los algoritmos a código, revisar errores, redactar y como tutor conceptual. El diseño metodológico, los criterios y las intervenciones son míos.
6. Si NO sabes una respuesta:
   "Es una buena observación; no lo verifiqué en este trabajo y queda como línea de extensión."
   Siempre mejor que improvisar.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463040"/>
            <a:ext cx="5669280" cy="5669280"/>
          </a:xfrm>
          <a:prstGeom prst="ellipse">
            <a:avLst/>
          </a:prstGeom>
          <a:solidFill>
            <a:srgbClr val="2A3A7A">
              <a:alpha val="55000"/>
            </a:srgbClr>
          </a:solidFill>
          <a:ln w="12700">
            <a:solidFill>
              <a:srgbClr val="2A3A7A">
                <a:alpha val="0"/>
              </a:srgbClr>
            </a:solidFill>
            <a:prstDash val="solid"/>
          </a:ln>
        </p:spPr>
      </p:sp>
      <p:sp>
        <p:nvSpPr>
          <p:cNvPr id="3" name="Shape 1"/>
          <p:cNvSpPr/>
          <p:nvPr/>
        </p:nvSpPr>
        <p:spPr>
          <a:xfrm>
            <a:off x="10241280" y="3291840"/>
            <a:ext cx="4023360" cy="4023360"/>
          </a:xfrm>
          <a:prstGeom prst="ellipse">
            <a:avLst/>
          </a:prstGeom>
          <a:solidFill>
            <a:srgbClr val="A01A24">
              <a:alpha val="30000"/>
            </a:srgbClr>
          </a:solidFill>
          <a:ln w="12700">
            <a:solidFill>
              <a:srgbClr val="A01A24">
                <a:alpha val="0"/>
              </a:srgbClr>
            </a:solidFill>
            <a:prstDash val="solid"/>
          </a:ln>
        </p:spPr>
      </p:sp>
      <p:sp>
        <p:nvSpPr>
          <p:cNvPr id="4" name="Text 2"/>
          <p:cNvSpPr/>
          <p:nvPr/>
        </p:nvSpPr>
        <p:spPr>
          <a:xfrm>
            <a:off x="548640" y="1188720"/>
            <a:ext cx="8412480" cy="310896"/>
          </a:xfrm>
          <a:prstGeom prst="rect">
            <a:avLst/>
          </a:prstGeom>
          <a:noFill/>
          <a:ln/>
        </p:spPr>
        <p:txBody>
          <a:bodyPr wrap="square" lIns="0" tIns="0" rIns="0" bIns="0" rtlCol="0" anchor="ctr"/>
          <a:lstStyle/>
          <a:p>
            <a:pPr indent="0" marL="0">
              <a:buNone/>
            </a:pPr>
            <a:r>
              <a:rPr lang="en-US" sz="1200" b="1" spc="160" kern="0" dirty="0">
                <a:solidFill>
                  <a:srgbClr val="CADCFC"/>
                </a:solidFill>
                <a:latin typeface="Calibri" pitchFamily="34" charset="0"/>
                <a:ea typeface="Calibri" pitchFamily="34" charset="-122"/>
                <a:cs typeface="Calibri" pitchFamily="34" charset="-120"/>
              </a:rPr>
              <a:t>UNIVERSIDAD DE CUENCA  ·  MÓDULO 1217 — REDES COMPLEJAS</a:t>
            </a:r>
            <a:endParaRPr lang="en-US" sz="1200" dirty="0"/>
          </a:p>
        </p:txBody>
      </p:sp>
      <p:sp>
        <p:nvSpPr>
          <p:cNvPr id="5" name="Text 3"/>
          <p:cNvSpPr/>
          <p:nvPr/>
        </p:nvSpPr>
        <p:spPr>
          <a:xfrm>
            <a:off x="548640" y="1737360"/>
            <a:ext cx="841248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Análisis de Redes Complejas</a:t>
            </a:r>
            <a:endParaRPr lang="en-US" sz="4600" dirty="0"/>
          </a:p>
        </p:txBody>
      </p:sp>
      <p:sp>
        <p:nvSpPr>
          <p:cNvPr id="6" name="Text 4"/>
          <p:cNvSpPr/>
          <p:nvPr/>
        </p:nvSpPr>
        <p:spPr>
          <a:xfrm>
            <a:off x="548640" y="2743200"/>
            <a:ext cx="8229600" cy="1005840"/>
          </a:xfrm>
          <a:prstGeom prst="rect">
            <a:avLst/>
          </a:prstGeom>
          <a:noFill/>
          <a:ln/>
        </p:spPr>
        <p:txBody>
          <a:bodyPr wrap="square" lIns="0" tIns="0" rIns="0" bIns="0" rtlCol="0" anchor="ctr"/>
          <a:lstStyle/>
          <a:p>
            <a:pPr indent="0" marL="0">
              <a:buNone/>
            </a:pPr>
            <a:r>
              <a:rPr lang="en-US" sz="2100" dirty="0">
                <a:solidFill>
                  <a:srgbClr val="CADCFC"/>
                </a:solidFill>
                <a:latin typeface="Calibri" pitchFamily="34" charset="0"/>
                <a:ea typeface="Calibri" pitchFamily="34" charset="-122"/>
                <a:cs typeface="Calibri" pitchFamily="34" charset="-120"/>
              </a:rPr>
              <a:t>¿Qué pasaría si falla la red de datos</a:t>
            </a:r>
            <a:endParaRPr lang="en-US" sz="2100" dirty="0"/>
          </a:p>
          <a:p>
            <a:pPr indent="0" marL="0">
              <a:buNone/>
            </a:pPr>
            <a:r>
              <a:rPr lang="en-US" sz="2100" dirty="0">
                <a:solidFill>
                  <a:srgbClr val="CADCFC"/>
                </a:solidFill>
                <a:latin typeface="Calibri" pitchFamily="34" charset="0"/>
                <a:ea typeface="Calibri" pitchFamily="34" charset="-122"/>
                <a:cs typeface="Calibri" pitchFamily="34" charset="-120"/>
              </a:rPr>
              <a:t>de la Universidad de Cuenca?</a:t>
            </a:r>
            <a:endParaRPr lang="en-US" sz="2100" dirty="0"/>
          </a:p>
        </p:txBody>
      </p:sp>
      <p:sp>
        <p:nvSpPr>
          <p:cNvPr id="7" name="Text 5"/>
          <p:cNvSpPr/>
          <p:nvPr/>
        </p:nvSpPr>
        <p:spPr>
          <a:xfrm>
            <a:off x="548640" y="3840480"/>
            <a:ext cx="8412480" cy="365760"/>
          </a:xfrm>
          <a:prstGeom prst="rect">
            <a:avLst/>
          </a:prstGeom>
          <a:noFill/>
          <a:ln/>
        </p:spPr>
        <p:txBody>
          <a:bodyPr wrap="square" lIns="0" tIns="0" rIns="0" bIns="0" rtlCol="0" anchor="ctr"/>
          <a:lstStyle/>
          <a:p>
            <a:pPr indent="0" marL="0">
              <a:buNone/>
            </a:pPr>
            <a:r>
              <a:rPr lang="en-US" sz="1400" i="1" dirty="0">
                <a:solidFill>
                  <a:srgbClr val="9FB2E8"/>
                </a:solidFill>
                <a:latin typeface="Calibri" pitchFamily="34" charset="0"/>
                <a:ea typeface="Calibri" pitchFamily="34" charset="-122"/>
                <a:cs typeface="Calibri" pitchFamily="34" charset="-120"/>
              </a:rPr>
              <a:t>177 equipos  ·  209 enlaces  ·  6 campus + 2 sedes</a:t>
            </a:r>
            <a:endParaRPr lang="en-US" sz="1400" dirty="0"/>
          </a:p>
        </p:txBody>
      </p:sp>
      <p:sp>
        <p:nvSpPr>
          <p:cNvPr id="8" name="Text 6"/>
          <p:cNvSpPr/>
          <p:nvPr/>
        </p:nvSpPr>
        <p:spPr>
          <a:xfrm>
            <a:off x="548640" y="5029200"/>
            <a:ext cx="841248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Efrain Adolfo Alvarado Plasencia</a:t>
            </a:r>
            <a:endParaRPr lang="en-US" sz="1500" dirty="0"/>
          </a:p>
          <a:p>
            <a:pPr indent="0" marL="0">
              <a:buNone/>
            </a:pPr>
            <a:r>
              <a:rPr lang="en-US" sz="1250" dirty="0">
                <a:solidFill>
                  <a:srgbClr val="CADCFC"/>
                </a:solidFill>
                <a:latin typeface="Calibri" pitchFamily="34" charset="0"/>
                <a:ea typeface="Calibri" pitchFamily="34" charset="-122"/>
                <a:cs typeface="Calibri" pitchFamily="34" charset="-120"/>
              </a:rPr>
              <a:t>Docente: Dr. Fabián Astudillo-Salinas   ·   Agosto de 2026</a:t>
            </a:r>
            <a:endParaRPr lang="en-US" sz="1500" dirty="0"/>
          </a:p>
        </p:txBody>
      </p:sp>
      <p:sp>
        <p:nvSpPr>
          <p:cNvPr id="10" name="Text 7"/>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1" name="Text 8"/>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CÓMO SE MODELA EL PROBLEMA</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De un diagrama de red a un grafo</a:t>
            </a:r>
            <a:endParaRPr lang="en-US" sz="3100" dirty="0"/>
          </a:p>
        </p:txBody>
      </p:sp>
      <p:sp>
        <p:nvSpPr>
          <p:cNvPr id="4" name="Shape 2"/>
          <p:cNvSpPr/>
          <p:nvPr/>
        </p:nvSpPr>
        <p:spPr>
          <a:xfrm>
            <a:off x="548640" y="1508760"/>
            <a:ext cx="5349240" cy="2194560"/>
          </a:xfrm>
          <a:prstGeom prst="roundRect">
            <a:avLst>
              <a:gd name="adj" fmla="val 3333"/>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5" name="Text 3"/>
          <p:cNvSpPr/>
          <p:nvPr/>
        </p:nvSpPr>
        <p:spPr>
          <a:xfrm>
            <a:off x="822960" y="1645920"/>
            <a:ext cx="4800600" cy="32004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Lo que hay</a:t>
            </a:r>
            <a:endParaRPr lang="en-US" sz="1800" dirty="0"/>
          </a:p>
        </p:txBody>
      </p:sp>
      <p:sp>
        <p:nvSpPr>
          <p:cNvPr id="6" name="Text 4"/>
          <p:cNvSpPr/>
          <p:nvPr/>
        </p:nvSpPr>
        <p:spPr>
          <a:xfrm>
            <a:off x="822960" y="2011680"/>
            <a:ext cx="4800600" cy="100584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34 diagramas del informe técnico institucional: planos de cada campus con sus switches, routers y firewalls, más el diagrama de la nube MPLS que los une.</a:t>
            </a:r>
            <a:endParaRPr lang="en-US" sz="1400" dirty="0"/>
          </a:p>
        </p:txBody>
      </p:sp>
      <p:sp>
        <p:nvSpPr>
          <p:cNvPr id="7" name="Text 5"/>
          <p:cNvSpPr/>
          <p:nvPr/>
        </p:nvSpPr>
        <p:spPr>
          <a:xfrm>
            <a:off x="822960" y="3063240"/>
            <a:ext cx="4800600" cy="54864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Un plano sirve para instalar cables. No sirve para calcular qué se rompe si falla un equipo.</a:t>
            </a:r>
            <a:endParaRPr lang="en-US" sz="1300" dirty="0"/>
          </a:p>
        </p:txBody>
      </p:sp>
      <p:sp>
        <p:nvSpPr>
          <p:cNvPr id="8" name="Shape 6"/>
          <p:cNvSpPr/>
          <p:nvPr/>
        </p:nvSpPr>
        <p:spPr>
          <a:xfrm>
            <a:off x="6263640" y="1508760"/>
            <a:ext cx="5349240" cy="2194560"/>
          </a:xfrm>
          <a:prstGeom prst="roundRect">
            <a:avLst>
              <a:gd name="adj" fmla="val 3333"/>
            </a:avLst>
          </a:prstGeom>
          <a:solidFill>
            <a:srgbClr val="EDF1FB"/>
          </a:solidFill>
          <a:ln w="12700">
            <a:solidFill>
              <a:srgbClr val="EDF1FB"/>
            </a:solidFill>
            <a:prstDash val="solid"/>
          </a:ln>
          <a:effectLst>
            <a:outerShdw sx="100000" sy="100000" kx="0" ky="0" algn="bl" rotWithShape="0" blurRad="76200" dist="508" dir="5400000">
              <a:srgbClr val="9AA3B0">
                <a:alpha val="25000"/>
              </a:srgbClr>
            </a:outerShdw>
          </a:effectLst>
        </p:spPr>
      </p:sp>
      <p:sp>
        <p:nvSpPr>
          <p:cNvPr id="9" name="Text 7"/>
          <p:cNvSpPr/>
          <p:nvPr/>
        </p:nvSpPr>
        <p:spPr>
          <a:xfrm>
            <a:off x="6537960" y="1645920"/>
            <a:ext cx="4800600" cy="32004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Lo que construí</a:t>
            </a:r>
            <a:endParaRPr lang="en-US" sz="1800" dirty="0"/>
          </a:p>
        </p:txBody>
      </p:sp>
      <p:sp>
        <p:nvSpPr>
          <p:cNvPr id="10" name="Text 8"/>
          <p:cNvSpPr/>
          <p:nvPr/>
        </p:nvSpPr>
        <p:spPr>
          <a:xfrm>
            <a:off x="6537960" y="2011680"/>
            <a:ext cx="4800600" cy="1554480"/>
          </a:xfrm>
          <a:prstGeom prst="rect">
            <a:avLst/>
          </a:prstGeom>
          <a:noFill/>
          <a:ln/>
        </p:spPr>
        <p:txBody>
          <a:bodyPr wrap="square" lIns="0" tIns="0" rIns="0" bIns="0" rtlCol="0" anchor="t"/>
          <a:lstStyle/>
          <a:p>
            <a:pPr indent="0" marL="0">
              <a:spcAft>
                <a:spcPts val="700"/>
              </a:spcAft>
              <a:buNone/>
            </a:pPr>
            <a:r>
              <a:rPr lang="en-US" sz="1400" b="1" dirty="0">
                <a:solidFill>
                  <a:srgbClr val="1B1F2A"/>
                </a:solidFill>
                <a:latin typeface="Calibri" pitchFamily="34" charset="0"/>
                <a:ea typeface="Calibri" pitchFamily="34" charset="-122"/>
                <a:cs typeface="Calibri" pitchFamily="34" charset="-120"/>
              </a:rPr>
              <a:t>NODOS = los 177 equipos</a:t>
            </a:r>
            <a:endParaRPr lang="en-US" sz="1400" dirty="0"/>
          </a:p>
          <a:p>
            <a:pPr indent="0" marL="0">
              <a:spcAft>
                <a:spcPts val="700"/>
              </a:spcAft>
              <a:buNone/>
            </a:pPr>
            <a:r>
              <a:rPr lang="en-US" sz="1400" b="1" dirty="0">
                <a:solidFill>
                  <a:srgbClr val="1B1F2A"/>
                </a:solidFill>
                <a:latin typeface="Calibri" pitchFamily="34" charset="0"/>
                <a:ea typeface="Calibri" pitchFamily="34" charset="-122"/>
                <a:cs typeface="Calibri" pitchFamily="34" charset="-120"/>
              </a:rPr>
              <a:t>ARISTAS = los 209 cables que los unen</a:t>
            </a:r>
            <a:endParaRPr lang="en-US" sz="1400" dirty="0"/>
          </a:p>
          <a:p>
            <a:pPr indent="0" marL="0">
              <a:spcAft>
                <a:spcPts val="700"/>
              </a:spcAft>
              <a:buNone/>
            </a:pPr>
            <a:r>
              <a:rPr lang="en-US" sz="1400" dirty="0">
                <a:solidFill>
                  <a:srgbClr val="1B1F2A"/>
                </a:solidFill>
                <a:latin typeface="Calibri" pitchFamily="34" charset="0"/>
                <a:ea typeface="Calibri" pitchFamily="34" charset="-122"/>
                <a:cs typeface="Calibri" pitchFamily="34" charset="-120"/>
              </a:rPr>
              <a:t>Sobre esa estructura sí se pueden calcular cosas que el plano no muestra: rutas, cuellos de botella y qué se desconecta de qué.</a:t>
            </a:r>
            <a:endParaRPr lang="en-US" sz="1400" dirty="0"/>
          </a:p>
        </p:txBody>
      </p:sp>
      <p:sp>
        <p:nvSpPr>
          <p:cNvPr id="11" name="Shape 9"/>
          <p:cNvSpPr/>
          <p:nvPr/>
        </p:nvSpPr>
        <p:spPr>
          <a:xfrm>
            <a:off x="548640" y="3931920"/>
            <a:ext cx="11064240" cy="1051560"/>
          </a:xfrm>
          <a:prstGeom prst="roundRect">
            <a:avLst>
              <a:gd name="adj" fmla="val 695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2" name="Text 10"/>
          <p:cNvSpPr/>
          <p:nvPr/>
        </p:nvSpPr>
        <p:spPr>
          <a:xfrm>
            <a:off x="822960" y="4041648"/>
            <a:ext cx="1051560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La red está organizada en tres niveles, como una empresa</a:t>
            </a:r>
            <a:endParaRPr lang="en-US" sz="1450" dirty="0"/>
          </a:p>
        </p:txBody>
      </p:sp>
      <p:sp>
        <p:nvSpPr>
          <p:cNvPr id="13" name="Text 11"/>
          <p:cNvSpPr/>
          <p:nvPr/>
        </p:nvSpPr>
        <p:spPr>
          <a:xfrm>
            <a:off x="822960" y="4370832"/>
            <a:ext cx="10515600" cy="50292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CORE (5 equipos): la dirección — mueve todo el tráfico a alta velocidad     ·     AGREGACIÓN (27): los jefes de área — recogen lo de cada facultad     ·     ACCESO (132): los empleados — donde se enchufa el usuario final</a:t>
            </a:r>
            <a:endParaRPr lang="en-US" sz="1300" dirty="0"/>
          </a:p>
        </p:txBody>
      </p:sp>
      <p:sp>
        <p:nvSpPr>
          <p:cNvPr id="14" name="Shape 12"/>
          <p:cNvSpPr/>
          <p:nvPr/>
        </p:nvSpPr>
        <p:spPr>
          <a:xfrm>
            <a:off x="548640" y="5166360"/>
            <a:ext cx="11064240" cy="914400"/>
          </a:xfrm>
          <a:prstGeom prst="roundRect">
            <a:avLst>
              <a:gd name="adj" fmla="val 8000"/>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15" name="Text 13"/>
          <p:cNvSpPr/>
          <p:nvPr/>
        </p:nvSpPr>
        <p:spPr>
          <a:xfrm>
            <a:off x="822960" y="5303520"/>
            <a:ext cx="10515600" cy="640080"/>
          </a:xfrm>
          <a:prstGeom prst="rect">
            <a:avLst/>
          </a:prstGeom>
          <a:noFill/>
          <a:ln/>
        </p:spPr>
        <p:txBody>
          <a:bodyPr wrap="square" lIns="0" tIns="0" rIns="0" bIns="0" rtlCol="0" anchor="ctr"/>
          <a:lstStyle/>
          <a:p>
            <a:pPr indent="0" marL="0">
              <a:buNone/>
            </a:pPr>
            <a:r>
              <a:rPr lang="en-US" sz="1700" b="1" dirty="0">
                <a:solidFill>
                  <a:srgbClr val="A01A24"/>
                </a:solidFill>
                <a:latin typeface="Cambria" pitchFamily="34" charset="0"/>
                <a:ea typeface="Cambria" pitchFamily="34" charset="-122"/>
                <a:cs typeface="Cambria" pitchFamily="34" charset="-120"/>
              </a:rPr>
              <a:t>Solo 17 de los 209 cables cruzan de un campus a otro. Toda la universidad cuelga de esos 17.</a:t>
            </a:r>
            <a:endParaRPr lang="en-US" sz="1700" dirty="0"/>
          </a:p>
        </p:txBody>
      </p:sp>
      <p:sp>
        <p:nvSpPr>
          <p:cNvPr id="17" name="Text 14"/>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8" name="Text 15"/>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EL MÉTODO</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Ocho algoritmos, cuatro preguntas</a:t>
            </a:r>
            <a:endParaRPr lang="en-US" sz="3100" dirty="0"/>
          </a:p>
        </p:txBody>
      </p:sp>
      <p:sp>
        <p:nvSpPr>
          <p:cNvPr id="4" name="Text 2"/>
          <p:cNvSpPr/>
          <p:nvPr/>
        </p:nvSpPr>
        <p:spPr>
          <a:xfrm>
            <a:off x="548640" y="1463040"/>
            <a:ext cx="11064240" cy="502920"/>
          </a:xfrm>
          <a:prstGeom prst="rect">
            <a:avLst/>
          </a:prstGeom>
          <a:noFill/>
          <a:ln/>
        </p:spPr>
        <p:txBody>
          <a:bodyPr wrap="square" lIns="0" tIns="0" rIns="0" bIns="0" rtlCol="0" anchor="ctr"/>
          <a:lstStyle/>
          <a:p>
            <a:pPr indent="0" marL="0">
              <a:buNone/>
            </a:pPr>
            <a:r>
              <a:rPr lang="en-US" sz="1400" dirty="0">
                <a:solidFill>
                  <a:srgbClr val="1B1F2A"/>
                </a:solidFill>
                <a:latin typeface="Calibri" pitchFamily="34" charset="0"/>
                <a:ea typeface="Calibri" pitchFamily="34" charset="-122"/>
                <a:cs typeface="Calibri" pitchFamily="34" charset="-120"/>
              </a:rPr>
              <a:t>Cada pareja de algoritmos responde una pregunta distinta sobre la misma red. Todos los implementé desde cero; las bibliotecas solo se usan para comprobar que mi resultado coincide con el suyo.</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64240" cy="914400"/>
        </p:xfrm>
        <a:graphic>
          <a:graphicData uri="http://schemas.openxmlformats.org/drawingml/2006/table">
            <a:tbl>
              <a:tblPr/>
              <a:tblGrid>
                <a:gridCol w="3017520"/>
                <a:gridCol w="3108960"/>
                <a:gridCol w="493776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Pregunta</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Algoritmos</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Para qué sirve en la práctica</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r>
              <a:tr h="56692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¿Cómo recorro la red?</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BFS  y  DFS</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Medir a cuántos saltos está cada equipo y encontrar los puntos frágiles</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6692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¿Qué bloques la forman?</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Louvain  y  k-means</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Descubrir agrupaciones naturales de equipos, útiles para diseñar VLANs</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6692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¿Por dónde va el tráfico?</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Dijkstra  y  Floyd-Warshall</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Calcular la ruta más corta entre dos equipos y detectar los que quedan lejos</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6692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¿Cuánto tráfico cabe?</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Ford-Fulkerson  y  Edmonds-Karp</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300" dirty="0">
                          <a:solidFill>
                            <a:srgbClr val="1B1F2A"/>
                          </a:solidFill>
                          <a:latin typeface="Calibri" pitchFamily="34" charset="0"/>
                          <a:ea typeface="Calibri" pitchFamily="34" charset="-122"/>
                          <a:cs typeface="Calibri" pitchFamily="34" charset="-120"/>
                        </a:rPr>
                        <a:t>Medir el caudal máximo de salida de cada campus y hallar su cuello de botella</a:t>
                      </a:r>
                      <a:endParaRPr lang="en-US" sz="130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sp>
        <p:nvSpPr>
          <p:cNvPr id="6" name="Shape 3"/>
          <p:cNvSpPr/>
          <p:nvPr/>
        </p:nvSpPr>
        <p:spPr>
          <a:xfrm>
            <a:off x="548640" y="5029200"/>
            <a:ext cx="11064240" cy="1051560"/>
          </a:xfrm>
          <a:prstGeom prst="roundRect">
            <a:avLst>
              <a:gd name="adj" fmla="val 6957"/>
            </a:avLst>
          </a:prstGeom>
          <a:solidFill>
            <a:srgbClr val="EDF1FB"/>
          </a:solidFill>
          <a:ln w="12700">
            <a:solidFill>
              <a:srgbClr val="EDF1FB"/>
            </a:solidFill>
            <a:prstDash val="solid"/>
          </a:ln>
          <a:effectLst>
            <a:outerShdw sx="100000" sy="100000" kx="0" ky="0" algn="bl" rotWithShape="0" blurRad="76200" dist="508" dir="5400000">
              <a:srgbClr val="9AA3B0">
                <a:alpha val="25000"/>
              </a:srgbClr>
            </a:outerShdw>
          </a:effectLst>
        </p:spPr>
      </p:sp>
      <p:sp>
        <p:nvSpPr>
          <p:cNvPr id="7" name="Text 4"/>
          <p:cNvSpPr/>
          <p:nvPr/>
        </p:nvSpPr>
        <p:spPr>
          <a:xfrm>
            <a:off x="822960" y="5138928"/>
            <a:ext cx="1051560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Y una quinta pregunta, la más importante: ¿qué pasa si algo falla?</a:t>
            </a:r>
            <a:endParaRPr lang="en-US" sz="1450" dirty="0"/>
          </a:p>
        </p:txBody>
      </p:sp>
      <p:sp>
        <p:nvSpPr>
          <p:cNvPr id="8" name="Text 5"/>
          <p:cNvSpPr/>
          <p:nvPr/>
        </p:nvSpPr>
        <p:spPr>
          <a:xfrm>
            <a:off x="822960" y="5468112"/>
            <a:ext cx="10515600" cy="502920"/>
          </a:xfrm>
          <a:prstGeom prst="rect">
            <a:avLst/>
          </a:prstGeom>
          <a:noFill/>
          <a:ln/>
        </p:spPr>
        <p:txBody>
          <a:bodyPr wrap="square" lIns="0" tIns="0" rIns="0" bIns="0" rtlCol="0" anchor="t"/>
          <a:lstStyle/>
          <a:p>
            <a:pPr indent="0" marL="0">
              <a:buNone/>
            </a:pPr>
            <a:r>
              <a:rPr lang="en-US" sz="1350" dirty="0">
                <a:solidFill>
                  <a:srgbClr val="1B1F2A"/>
                </a:solidFill>
                <a:latin typeface="Calibri" pitchFamily="34" charset="0"/>
                <a:ea typeface="Calibri" pitchFamily="34" charset="-122"/>
                <a:cs typeface="Calibri" pitchFamily="34" charset="-120"/>
              </a:rPr>
              <a:t>Se responde con PERCOLACIÓN: ir quitando equipos y cables de la red, uno a uno, y medir en qué momento deja de funcionar. Es la parte final de la exposición.</a:t>
            </a:r>
            <a:endParaRPr lang="en-US" sz="1350" dirty="0"/>
          </a:p>
        </p:txBody>
      </p:sp>
      <p:sp>
        <p:nvSpPr>
          <p:cNvPr id="10" name="Text 6"/>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1" name="Text 7"/>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PREGUNTA 1 DE 4</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¿Cómo recorro la red?  ·  BFS y DFS</a:t>
            </a:r>
            <a:endParaRPr lang="en-US" sz="3100" dirty="0"/>
          </a:p>
        </p:txBody>
      </p:sp>
      <p:sp>
        <p:nvSpPr>
          <p:cNvPr id="4" name="Shape 2"/>
          <p:cNvSpPr/>
          <p:nvPr/>
        </p:nvSpPr>
        <p:spPr>
          <a:xfrm>
            <a:off x="548640" y="1463040"/>
            <a:ext cx="5349240" cy="2331720"/>
          </a:xfrm>
          <a:prstGeom prst="roundRect">
            <a:avLst>
              <a:gd name="adj" fmla="val 313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5" name="Text 3"/>
          <p:cNvSpPr/>
          <p:nvPr/>
        </p:nvSpPr>
        <p:spPr>
          <a:xfrm>
            <a:off x="777240" y="1609344"/>
            <a:ext cx="4892040" cy="310896"/>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BFS — búsqueda en anchura</a:t>
            </a:r>
            <a:endParaRPr lang="en-US" sz="1800" dirty="0"/>
          </a:p>
        </p:txBody>
      </p:sp>
      <p:sp>
        <p:nvSpPr>
          <p:cNvPr id="6" name="Text 4"/>
          <p:cNvSpPr/>
          <p:nvPr/>
        </p:nvSpPr>
        <p:spPr>
          <a:xfrm>
            <a:off x="777240" y="1938528"/>
            <a:ext cx="4892040" cy="274320"/>
          </a:xfrm>
          <a:prstGeom prst="rect">
            <a:avLst/>
          </a:prstGeom>
          <a:noFill/>
          <a:ln/>
        </p:spPr>
        <p:txBody>
          <a:bodyPr wrap="square" lIns="0" tIns="0" rIns="0" bIns="0" rtlCol="0" anchor="ctr"/>
          <a:lstStyle/>
          <a:p>
            <a:pPr indent="0" marL="0">
              <a:buNone/>
            </a:pPr>
            <a:r>
              <a:rPr lang="en-US" sz="1250" b="1" i="1" dirty="0">
                <a:solidFill>
                  <a:srgbClr val="A01A24"/>
                </a:solidFill>
                <a:latin typeface="Calibri" pitchFamily="34" charset="0"/>
                <a:ea typeface="Calibri" pitchFamily="34" charset="-122"/>
                <a:cs typeface="Calibri" pitchFamily="34" charset="-120"/>
              </a:rPr>
              <a:t>«¿A qué distancia está todo?»</a:t>
            </a:r>
            <a:endParaRPr lang="en-US" sz="1250" dirty="0"/>
          </a:p>
        </p:txBody>
      </p:sp>
      <p:sp>
        <p:nvSpPr>
          <p:cNvPr id="7" name="Text 5"/>
          <p:cNvSpPr/>
          <p:nvPr/>
        </p:nvSpPr>
        <p:spPr>
          <a:xfrm>
            <a:off x="777240" y="2249424"/>
            <a:ext cx="4892040" cy="777240"/>
          </a:xfrm>
          <a:prstGeom prst="rect">
            <a:avLst/>
          </a:prstGeom>
          <a:noFill/>
          <a:ln/>
        </p:spPr>
        <p:txBody>
          <a:bodyPr wrap="square" lIns="0" tIns="0" rIns="0" bIns="0" rtlCol="0" anchor="t"/>
          <a:lstStyle/>
          <a:p>
            <a:pPr indent="0" marL="0">
              <a:buNone/>
            </a:pPr>
            <a:r>
              <a:rPr lang="en-US" sz="1250" dirty="0">
                <a:solidFill>
                  <a:srgbClr val="1B1F2A"/>
                </a:solidFill>
                <a:latin typeface="Calibri" pitchFamily="34" charset="0"/>
                <a:ea typeface="Calibri" pitchFamily="34" charset="-122"/>
                <a:cs typeface="Calibri" pitchFamily="34" charset="-120"/>
              </a:rPr>
              <a:t>Como una onda en el agua: primero los vecinos inmediatos, luego los vecinos de esos, y así. Va por capas.</a:t>
            </a:r>
            <a:endParaRPr lang="en-US" sz="1250" dirty="0"/>
          </a:p>
        </p:txBody>
      </p:sp>
      <p:sp>
        <p:nvSpPr>
          <p:cNvPr id="8" name="Text 6"/>
          <p:cNvSpPr/>
          <p:nvPr/>
        </p:nvSpPr>
        <p:spPr>
          <a:xfrm>
            <a:off x="777240" y="3090672"/>
            <a:ext cx="4892040" cy="566928"/>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Sirve para medir a cuántos saltos está cada equipo del núcleo.</a:t>
            </a:r>
            <a:endParaRPr lang="en-US" sz="1250" dirty="0"/>
          </a:p>
        </p:txBody>
      </p:sp>
      <p:sp>
        <p:nvSpPr>
          <p:cNvPr id="9" name="Shape 7"/>
          <p:cNvSpPr/>
          <p:nvPr/>
        </p:nvSpPr>
        <p:spPr>
          <a:xfrm>
            <a:off x="6263640" y="1463040"/>
            <a:ext cx="5349240" cy="2331720"/>
          </a:xfrm>
          <a:prstGeom prst="roundRect">
            <a:avLst>
              <a:gd name="adj" fmla="val 313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0" name="Text 8"/>
          <p:cNvSpPr/>
          <p:nvPr/>
        </p:nvSpPr>
        <p:spPr>
          <a:xfrm>
            <a:off x="6492240" y="1609344"/>
            <a:ext cx="4892040" cy="310896"/>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DFS — búsqueda en profundidad</a:t>
            </a:r>
            <a:endParaRPr lang="en-US" sz="1800" dirty="0"/>
          </a:p>
        </p:txBody>
      </p:sp>
      <p:sp>
        <p:nvSpPr>
          <p:cNvPr id="11" name="Text 9"/>
          <p:cNvSpPr/>
          <p:nvPr/>
        </p:nvSpPr>
        <p:spPr>
          <a:xfrm>
            <a:off x="6492240" y="1938528"/>
            <a:ext cx="4892040" cy="274320"/>
          </a:xfrm>
          <a:prstGeom prst="rect">
            <a:avLst/>
          </a:prstGeom>
          <a:noFill/>
          <a:ln/>
        </p:spPr>
        <p:txBody>
          <a:bodyPr wrap="square" lIns="0" tIns="0" rIns="0" bIns="0" rtlCol="0" anchor="ctr"/>
          <a:lstStyle/>
          <a:p>
            <a:pPr indent="0" marL="0">
              <a:buNone/>
            </a:pPr>
            <a:r>
              <a:rPr lang="en-US" sz="1250" b="1" i="1" dirty="0">
                <a:solidFill>
                  <a:srgbClr val="A01A24"/>
                </a:solidFill>
                <a:latin typeface="Calibri" pitchFamily="34" charset="0"/>
                <a:ea typeface="Calibri" pitchFamily="34" charset="-122"/>
                <a:cs typeface="Calibri" pitchFamily="34" charset="-120"/>
              </a:rPr>
              <a:t>«¿Hay caminos alternativos?»</a:t>
            </a:r>
            <a:endParaRPr lang="en-US" sz="1250" dirty="0"/>
          </a:p>
        </p:txBody>
      </p:sp>
      <p:sp>
        <p:nvSpPr>
          <p:cNvPr id="12" name="Text 10"/>
          <p:cNvSpPr/>
          <p:nvPr/>
        </p:nvSpPr>
        <p:spPr>
          <a:xfrm>
            <a:off x="6492240" y="2249424"/>
            <a:ext cx="4892040" cy="777240"/>
          </a:xfrm>
          <a:prstGeom prst="rect">
            <a:avLst/>
          </a:prstGeom>
          <a:noFill/>
          <a:ln/>
        </p:spPr>
        <p:txBody>
          <a:bodyPr wrap="square" lIns="0" tIns="0" rIns="0" bIns="0" rtlCol="0" anchor="t"/>
          <a:lstStyle/>
          <a:p>
            <a:pPr indent="0" marL="0">
              <a:buNone/>
            </a:pPr>
            <a:r>
              <a:rPr lang="en-US" sz="1250" dirty="0">
                <a:solidFill>
                  <a:srgbClr val="1B1F2A"/>
                </a:solidFill>
                <a:latin typeface="Calibri" pitchFamily="34" charset="0"/>
                <a:ea typeface="Calibri" pitchFamily="34" charset="-122"/>
                <a:cs typeface="Calibri" pitchFamily="34" charset="-120"/>
              </a:rPr>
              <a:t>Como recorrer un laberinto: sigues un pasillo hasta el final y solo entonces vuelves atrás a probar otro.</a:t>
            </a:r>
            <a:endParaRPr lang="en-US" sz="1250" dirty="0"/>
          </a:p>
        </p:txBody>
      </p:sp>
      <p:sp>
        <p:nvSpPr>
          <p:cNvPr id="13" name="Text 11"/>
          <p:cNvSpPr/>
          <p:nvPr/>
        </p:nvSpPr>
        <p:spPr>
          <a:xfrm>
            <a:off x="6492240" y="3090672"/>
            <a:ext cx="4892040" cy="566928"/>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Sirve para encontrar los ciclos, y donde no hay ciclo no hay ruta alterna.</a:t>
            </a:r>
            <a:endParaRPr lang="en-US" sz="1250" dirty="0"/>
          </a:p>
        </p:txBody>
      </p:sp>
      <p:sp>
        <p:nvSpPr>
          <p:cNvPr id="14" name="Shape 12"/>
          <p:cNvSpPr/>
          <p:nvPr/>
        </p:nvSpPr>
        <p:spPr>
          <a:xfrm>
            <a:off x="548640" y="4023360"/>
            <a:ext cx="11064240" cy="1051560"/>
          </a:xfrm>
          <a:prstGeom prst="roundRect">
            <a:avLst>
              <a:gd name="adj" fmla="val 6957"/>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15" name="Text 13"/>
          <p:cNvSpPr/>
          <p:nvPr/>
        </p:nvSpPr>
        <p:spPr>
          <a:xfrm>
            <a:off x="822960" y="4133088"/>
            <a:ext cx="10515600" cy="292608"/>
          </a:xfrm>
          <a:prstGeom prst="rect">
            <a:avLst/>
          </a:prstGeom>
          <a:noFill/>
          <a:ln/>
        </p:spPr>
        <p:txBody>
          <a:bodyPr wrap="square" lIns="0" tIns="0" rIns="0" bIns="0" rtlCol="0" anchor="ctr"/>
          <a:lstStyle/>
          <a:p>
            <a:pPr indent="0" marL="0">
              <a:buNone/>
            </a:pPr>
            <a:r>
              <a:rPr lang="en-US" sz="1450" b="1" dirty="0">
                <a:solidFill>
                  <a:srgbClr val="A01A24"/>
                </a:solidFill>
                <a:latin typeface="Calibri" pitchFamily="34" charset="0"/>
                <a:ea typeface="Calibri" pitchFamily="34" charset="-122"/>
                <a:cs typeface="Calibri" pitchFamily="34" charset="-120"/>
              </a:rPr>
              <a:t>Resultado 1 — La jerarquía de tres niveles solo describe un campus, no la universidad</a:t>
            </a:r>
            <a:endParaRPr lang="en-US" sz="1450" dirty="0"/>
          </a:p>
        </p:txBody>
      </p:sp>
      <p:sp>
        <p:nvSpPr>
          <p:cNvPr id="16" name="Text 14"/>
          <p:cNvSpPr/>
          <p:nvPr/>
        </p:nvSpPr>
        <p:spPr>
          <a:xfrm>
            <a:off x="822960" y="4462272"/>
            <a:ext cx="10515600" cy="548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Si los tres niveles se cumplieran, casi todos los equipos deberían estar a 2 saltos del núcleo. Solo 65 de 177 lo están — el 37 %. El resto llega hasta 8 saltos, porque los campus lejanos tienen que salir por la nube MPLS y volver a entrar.</a:t>
            </a:r>
            <a:endParaRPr lang="en-US" sz="1300" dirty="0"/>
          </a:p>
        </p:txBody>
      </p:sp>
      <p:sp>
        <p:nvSpPr>
          <p:cNvPr id="17" name="Shape 15"/>
          <p:cNvSpPr/>
          <p:nvPr/>
        </p:nvSpPr>
        <p:spPr>
          <a:xfrm>
            <a:off x="548640" y="5212080"/>
            <a:ext cx="11064240" cy="914400"/>
          </a:xfrm>
          <a:prstGeom prst="roundRect">
            <a:avLst>
              <a:gd name="adj" fmla="val 8000"/>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8" name="Text 16"/>
          <p:cNvSpPr/>
          <p:nvPr/>
        </p:nvSpPr>
        <p:spPr>
          <a:xfrm>
            <a:off x="822960" y="5321808"/>
            <a:ext cx="10515600" cy="685800"/>
          </a:xfrm>
          <a:prstGeom prst="rect">
            <a:avLst/>
          </a:prstGeom>
          <a:noFill/>
          <a:ln/>
        </p:spPr>
        <p:txBody>
          <a:bodyPr wrap="square" lIns="0" tIns="0" rIns="0" bIns="0" rtlCol="0" anchor="ctr"/>
          <a:lstStyle/>
          <a:p>
            <a:pPr indent="0" marL="0">
              <a:buNone/>
            </a:pPr>
            <a:r>
              <a:rPr lang="en-US" sz="1350" dirty="0">
                <a:solidFill>
                  <a:srgbClr val="1E2761"/>
                </a:solidFill>
                <a:latin typeface="Calibri" pitchFamily="34" charset="0"/>
                <a:ea typeface="Calibri" pitchFamily="34" charset="-122"/>
                <a:cs typeface="Calibri" pitchFamily="34" charset="-120"/>
              </a:rPr>
              <a:t>Resultado 2 — Hay 33 caminos alternativos, y están casi todos en Central y Balzay. Paraíso y Yanuncay casi no tienen: si su único cable falla, no hay por dónde ir.</a:t>
            </a:r>
            <a:endParaRPr lang="en-US" sz="1350" dirty="0"/>
          </a:p>
        </p:txBody>
      </p:sp>
      <p:sp>
        <p:nvSpPr>
          <p:cNvPr id="20" name="Text 17"/>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21" name="Text 18"/>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PREGUNTA 2 DE 4</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¿Qué bloques la forman?  ·  Louvain y k-means</a:t>
            </a:r>
            <a:endParaRPr lang="en-US" sz="3100" dirty="0"/>
          </a:p>
        </p:txBody>
      </p:sp>
      <p:sp>
        <p:nvSpPr>
          <p:cNvPr id="4" name="Shape 2"/>
          <p:cNvSpPr/>
          <p:nvPr/>
        </p:nvSpPr>
        <p:spPr>
          <a:xfrm>
            <a:off x="548640" y="1463040"/>
            <a:ext cx="5349240" cy="2331720"/>
          </a:xfrm>
          <a:prstGeom prst="roundRect">
            <a:avLst>
              <a:gd name="adj" fmla="val 313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5" name="Text 3"/>
          <p:cNvSpPr/>
          <p:nvPr/>
        </p:nvSpPr>
        <p:spPr>
          <a:xfrm>
            <a:off x="777240" y="1609344"/>
            <a:ext cx="4892040" cy="310896"/>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Louvain</a:t>
            </a:r>
            <a:endParaRPr lang="en-US" sz="1800" dirty="0"/>
          </a:p>
        </p:txBody>
      </p:sp>
      <p:sp>
        <p:nvSpPr>
          <p:cNvPr id="6" name="Text 4"/>
          <p:cNvSpPr/>
          <p:nvPr/>
        </p:nvSpPr>
        <p:spPr>
          <a:xfrm>
            <a:off x="777240" y="1938528"/>
            <a:ext cx="4892040" cy="274320"/>
          </a:xfrm>
          <a:prstGeom prst="rect">
            <a:avLst/>
          </a:prstGeom>
          <a:noFill/>
          <a:ln/>
        </p:spPr>
        <p:txBody>
          <a:bodyPr wrap="square" lIns="0" tIns="0" rIns="0" bIns="0" rtlCol="0" anchor="ctr"/>
          <a:lstStyle/>
          <a:p>
            <a:pPr indent="0" marL="0">
              <a:buNone/>
            </a:pPr>
            <a:r>
              <a:rPr lang="en-US" sz="1250" b="1" i="1" dirty="0">
                <a:solidFill>
                  <a:srgbClr val="A01A24"/>
                </a:solidFill>
                <a:latin typeface="Calibri" pitchFamily="34" charset="0"/>
                <a:ea typeface="Calibri" pitchFamily="34" charset="-122"/>
                <a:cs typeface="Calibri" pitchFamily="34" charset="-120"/>
              </a:rPr>
              <a:t>«¿Qué equipos forman grupo?»</a:t>
            </a:r>
            <a:endParaRPr lang="en-US" sz="1250" dirty="0"/>
          </a:p>
        </p:txBody>
      </p:sp>
      <p:sp>
        <p:nvSpPr>
          <p:cNvPr id="7" name="Text 5"/>
          <p:cNvSpPr/>
          <p:nvPr/>
        </p:nvSpPr>
        <p:spPr>
          <a:xfrm>
            <a:off x="777240" y="2249424"/>
            <a:ext cx="4892040" cy="777240"/>
          </a:xfrm>
          <a:prstGeom prst="rect">
            <a:avLst/>
          </a:prstGeom>
          <a:noFill/>
          <a:ln/>
        </p:spPr>
        <p:txBody>
          <a:bodyPr wrap="square" lIns="0" tIns="0" rIns="0" bIns="0" rtlCol="0" anchor="t"/>
          <a:lstStyle/>
          <a:p>
            <a:pPr indent="0" marL="0">
              <a:buNone/>
            </a:pPr>
            <a:r>
              <a:rPr lang="en-US" sz="1250" dirty="0">
                <a:solidFill>
                  <a:srgbClr val="1B1F2A"/>
                </a:solidFill>
                <a:latin typeface="Calibri" pitchFamily="34" charset="0"/>
                <a:ea typeface="Calibri" pitchFamily="34" charset="-122"/>
                <a:cs typeface="Calibri" pitchFamily="34" charset="-120"/>
              </a:rPr>
              <a:t>Como detectar barrios en una ciudad sin mirar el mapa oficial: se agrupa lo que está muy conectado por dentro y poco por fuera.</a:t>
            </a:r>
            <a:endParaRPr lang="en-US" sz="1250" dirty="0"/>
          </a:p>
        </p:txBody>
      </p:sp>
      <p:sp>
        <p:nvSpPr>
          <p:cNvPr id="8" name="Text 6"/>
          <p:cNvSpPr/>
          <p:nvPr/>
        </p:nvSpPr>
        <p:spPr>
          <a:xfrm>
            <a:off x="777240" y="3090672"/>
            <a:ext cx="4892040" cy="566928"/>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Encontró 22 grupos, con una calidad de agrupación muy alta (Q = 0,75).</a:t>
            </a:r>
            <a:endParaRPr lang="en-US" sz="1250" dirty="0"/>
          </a:p>
        </p:txBody>
      </p:sp>
      <p:sp>
        <p:nvSpPr>
          <p:cNvPr id="9" name="Shape 7"/>
          <p:cNvSpPr/>
          <p:nvPr/>
        </p:nvSpPr>
        <p:spPr>
          <a:xfrm>
            <a:off x="6263640" y="1463040"/>
            <a:ext cx="5349240" cy="2331720"/>
          </a:xfrm>
          <a:prstGeom prst="roundRect">
            <a:avLst>
              <a:gd name="adj" fmla="val 313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0" name="Text 8"/>
          <p:cNvSpPr/>
          <p:nvPr/>
        </p:nvSpPr>
        <p:spPr>
          <a:xfrm>
            <a:off x="6492240" y="1609344"/>
            <a:ext cx="4892040" cy="310896"/>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k-means</a:t>
            </a:r>
            <a:endParaRPr lang="en-US" sz="1800" dirty="0"/>
          </a:p>
        </p:txBody>
      </p:sp>
      <p:sp>
        <p:nvSpPr>
          <p:cNvPr id="11" name="Text 9"/>
          <p:cNvSpPr/>
          <p:nvPr/>
        </p:nvSpPr>
        <p:spPr>
          <a:xfrm>
            <a:off x="6492240" y="1938528"/>
            <a:ext cx="4892040" cy="274320"/>
          </a:xfrm>
          <a:prstGeom prst="rect">
            <a:avLst/>
          </a:prstGeom>
          <a:noFill/>
          <a:ln/>
        </p:spPr>
        <p:txBody>
          <a:bodyPr wrap="square" lIns="0" tIns="0" rIns="0" bIns="0" rtlCol="0" anchor="ctr"/>
          <a:lstStyle/>
          <a:p>
            <a:pPr indent="0" marL="0">
              <a:buNone/>
            </a:pPr>
            <a:r>
              <a:rPr lang="en-US" sz="1250" b="1" i="1" dirty="0">
                <a:solidFill>
                  <a:srgbClr val="A01A24"/>
                </a:solidFill>
                <a:latin typeface="Calibri" pitchFamily="34" charset="0"/>
                <a:ea typeface="Calibri" pitchFamily="34" charset="-122"/>
                <a:cs typeface="Calibri" pitchFamily="34" charset="-120"/>
              </a:rPr>
              <a:t>«¿Sale lo mismo por otro camino?»</a:t>
            </a:r>
            <a:endParaRPr lang="en-US" sz="1250" dirty="0"/>
          </a:p>
        </p:txBody>
      </p:sp>
      <p:sp>
        <p:nvSpPr>
          <p:cNvPr id="12" name="Text 10"/>
          <p:cNvSpPr/>
          <p:nvPr/>
        </p:nvSpPr>
        <p:spPr>
          <a:xfrm>
            <a:off x="6492240" y="2249424"/>
            <a:ext cx="4892040" cy="777240"/>
          </a:xfrm>
          <a:prstGeom prst="rect">
            <a:avLst/>
          </a:prstGeom>
          <a:noFill/>
          <a:ln/>
        </p:spPr>
        <p:txBody>
          <a:bodyPr wrap="square" lIns="0" tIns="0" rIns="0" bIns="0" rtlCol="0" anchor="t"/>
          <a:lstStyle/>
          <a:p>
            <a:pPr indent="0" marL="0">
              <a:buNone/>
            </a:pPr>
            <a:r>
              <a:rPr lang="en-US" sz="1250" dirty="0">
                <a:solidFill>
                  <a:srgbClr val="1B1F2A"/>
                </a:solidFill>
                <a:latin typeface="Calibri" pitchFamily="34" charset="0"/>
                <a:ea typeface="Calibri" pitchFamily="34" charset="-122"/>
                <a:cs typeface="Calibri" pitchFamily="34" charset="-120"/>
              </a:rPr>
              <a:t>Convierte cada equipo en un punto de un espacio y agrupa los que quedan cerca. Es un método totalmente distinto.</a:t>
            </a:r>
            <a:endParaRPr lang="en-US" sz="1250" dirty="0"/>
          </a:p>
        </p:txBody>
      </p:sp>
      <p:sp>
        <p:nvSpPr>
          <p:cNvPr id="13" name="Text 11"/>
          <p:cNvSpPr/>
          <p:nvPr/>
        </p:nvSpPr>
        <p:spPr>
          <a:xfrm>
            <a:off x="6492240" y="3090672"/>
            <a:ext cx="4892040" cy="566928"/>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Coincide bastante con Louvain, lo que da confianza en el resultado.</a:t>
            </a:r>
            <a:endParaRPr lang="en-US" sz="1250" dirty="0"/>
          </a:p>
        </p:txBody>
      </p:sp>
      <p:sp>
        <p:nvSpPr>
          <p:cNvPr id="14" name="Shape 12"/>
          <p:cNvSpPr/>
          <p:nvPr/>
        </p:nvSpPr>
        <p:spPr>
          <a:xfrm>
            <a:off x="548640" y="4023360"/>
            <a:ext cx="11064240" cy="1188720"/>
          </a:xfrm>
          <a:prstGeom prst="roundRect">
            <a:avLst>
              <a:gd name="adj" fmla="val 6154"/>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15" name="Text 13"/>
          <p:cNvSpPr/>
          <p:nvPr/>
        </p:nvSpPr>
        <p:spPr>
          <a:xfrm>
            <a:off x="822960" y="4133088"/>
            <a:ext cx="10515600" cy="292608"/>
          </a:xfrm>
          <a:prstGeom prst="rect">
            <a:avLst/>
          </a:prstGeom>
          <a:noFill/>
          <a:ln/>
        </p:spPr>
        <p:txBody>
          <a:bodyPr wrap="square" lIns="0" tIns="0" rIns="0" bIns="0" rtlCol="0" anchor="ctr"/>
          <a:lstStyle/>
          <a:p>
            <a:pPr indent="0" marL="0">
              <a:buNone/>
            </a:pPr>
            <a:r>
              <a:rPr lang="en-US" sz="1500" b="1" dirty="0">
                <a:solidFill>
                  <a:srgbClr val="A01A24"/>
                </a:solidFill>
                <a:latin typeface="Calibri" pitchFamily="34" charset="0"/>
                <a:ea typeface="Calibri" pitchFamily="34" charset="-122"/>
                <a:cs typeface="Calibri" pitchFamily="34" charset="-120"/>
              </a:rPr>
              <a:t>El hallazgo: el algoritmo descubrió un grupo que los planos no dibujan</a:t>
            </a:r>
            <a:endParaRPr lang="en-US" sz="1500" dirty="0"/>
          </a:p>
        </p:txBody>
      </p:sp>
      <p:sp>
        <p:nvSpPr>
          <p:cNvPr id="16" name="Text 14"/>
          <p:cNvSpPr/>
          <p:nvPr/>
        </p:nvSpPr>
        <p:spPr>
          <a:xfrm>
            <a:off x="822960" y="4462272"/>
            <a:ext cx="10515600" cy="685800"/>
          </a:xfrm>
          <a:prstGeom prst="rect">
            <a:avLst/>
          </a:prstGeom>
          <a:noFill/>
          <a:ln/>
        </p:spPr>
        <p:txBody>
          <a:bodyPr wrap="square" lIns="0" tIns="0" rIns="0" bIns="0" rtlCol="0" anchor="t"/>
          <a:lstStyle/>
          <a:p>
            <a:pPr indent="0" marL="0">
              <a:buNone/>
            </a:pPr>
            <a:r>
              <a:rPr lang="en-US" sz="1350" dirty="0">
                <a:solidFill>
                  <a:srgbClr val="1B1F2A"/>
                </a:solidFill>
                <a:latin typeface="Calibri" pitchFamily="34" charset="0"/>
                <a:ea typeface="Calibri" pitchFamily="34" charset="-122"/>
                <a:cs typeface="Calibri" pitchFamily="34" charset="-120"/>
              </a:rPr>
              <a:t>Louvain no sabe nada de campus ni de geografía: solo ve cables. Aun así respetó casi perfectamente la división por campus… salvo en 11 equipos. Esos 11 son los routers y firewalls de salida de todos los campus, y el algoritmo los agrupó JUNTOS. Forman un bloque funcional propio —el «núcleo de salida»— que ningún plano dibuja como tal.</a:t>
            </a:r>
            <a:endParaRPr lang="en-US" sz="1350" dirty="0"/>
          </a:p>
        </p:txBody>
      </p:sp>
      <p:sp>
        <p:nvSpPr>
          <p:cNvPr id="17" name="Shape 15"/>
          <p:cNvSpPr/>
          <p:nvPr/>
        </p:nvSpPr>
        <p:spPr>
          <a:xfrm>
            <a:off x="548640" y="5349240"/>
            <a:ext cx="11064240" cy="777240"/>
          </a:xfrm>
          <a:prstGeom prst="roundRect">
            <a:avLst>
              <a:gd name="adj" fmla="val 9412"/>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8" name="Text 16"/>
          <p:cNvSpPr/>
          <p:nvPr/>
        </p:nvSpPr>
        <p:spPr>
          <a:xfrm>
            <a:off x="822960" y="5458968"/>
            <a:ext cx="10515600" cy="548640"/>
          </a:xfrm>
          <a:prstGeom prst="rect">
            <a:avLst/>
          </a:prstGeom>
          <a:noFill/>
          <a:ln/>
        </p:spPr>
        <p:txBody>
          <a:bodyPr wrap="square" lIns="0" tIns="0" rIns="0" bIns="0" rtlCol="0" anchor="ctr"/>
          <a:lstStyle/>
          <a:p>
            <a:pPr indent="0" marL="0">
              <a:buNone/>
            </a:pPr>
            <a:r>
              <a:rPr lang="en-US" sz="1350" dirty="0">
                <a:solidFill>
                  <a:srgbClr val="1E2761"/>
                </a:solidFill>
                <a:latin typeface="Calibri" pitchFamily="34" charset="0"/>
                <a:ea typeface="Calibri" pitchFamily="34" charset="-122"/>
                <a:cs typeface="Calibri" pitchFamily="34" charset="-120"/>
              </a:rPr>
              <a:t>Para qué sirve: esos grupos son candidatos naturales a VLANs, y ese «núcleo de salida» justificaría tratarlo como una zona de seguridad aparte.</a:t>
            </a:r>
            <a:endParaRPr lang="en-US" sz="1350" dirty="0"/>
          </a:p>
        </p:txBody>
      </p:sp>
      <p:sp>
        <p:nvSpPr>
          <p:cNvPr id="20" name="Text 17"/>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21" name="Text 18"/>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PREGUNTA 3 DE 4</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¿Por dónde va el tráfico?  ·  Dijkstra y Floyd-Warshall</a:t>
            </a:r>
            <a:endParaRPr lang="en-US" sz="3100" dirty="0"/>
          </a:p>
        </p:txBody>
      </p:sp>
      <p:sp>
        <p:nvSpPr>
          <p:cNvPr id="4" name="Shape 2"/>
          <p:cNvSpPr/>
          <p:nvPr/>
        </p:nvSpPr>
        <p:spPr>
          <a:xfrm>
            <a:off x="548640" y="1463040"/>
            <a:ext cx="5349240" cy="2331720"/>
          </a:xfrm>
          <a:prstGeom prst="roundRect">
            <a:avLst>
              <a:gd name="adj" fmla="val 313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5" name="Text 3"/>
          <p:cNvSpPr/>
          <p:nvPr/>
        </p:nvSpPr>
        <p:spPr>
          <a:xfrm>
            <a:off x="777240" y="1609344"/>
            <a:ext cx="4892040" cy="310896"/>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Dijkstra</a:t>
            </a:r>
            <a:endParaRPr lang="en-US" sz="1800" dirty="0"/>
          </a:p>
        </p:txBody>
      </p:sp>
      <p:sp>
        <p:nvSpPr>
          <p:cNvPr id="6" name="Text 4"/>
          <p:cNvSpPr/>
          <p:nvPr/>
        </p:nvSpPr>
        <p:spPr>
          <a:xfrm>
            <a:off x="777240" y="1938528"/>
            <a:ext cx="4892040" cy="274320"/>
          </a:xfrm>
          <a:prstGeom prst="rect">
            <a:avLst/>
          </a:prstGeom>
          <a:noFill/>
          <a:ln/>
        </p:spPr>
        <p:txBody>
          <a:bodyPr wrap="square" lIns="0" tIns="0" rIns="0" bIns="0" rtlCol="0" anchor="ctr"/>
          <a:lstStyle/>
          <a:p>
            <a:pPr indent="0" marL="0">
              <a:buNone/>
            </a:pPr>
            <a:r>
              <a:rPr lang="en-US" sz="1250" b="1" i="1" dirty="0">
                <a:solidFill>
                  <a:srgbClr val="A01A24"/>
                </a:solidFill>
                <a:latin typeface="Calibri" pitchFamily="34" charset="0"/>
                <a:ea typeface="Calibri" pitchFamily="34" charset="-122"/>
                <a:cs typeface="Calibri" pitchFamily="34" charset="-120"/>
              </a:rPr>
              <a:t>«¿Cuál es la ruta más corta desde aquí?»</a:t>
            </a:r>
            <a:endParaRPr lang="en-US" sz="1250" dirty="0"/>
          </a:p>
        </p:txBody>
      </p:sp>
      <p:sp>
        <p:nvSpPr>
          <p:cNvPr id="7" name="Text 5"/>
          <p:cNvSpPr/>
          <p:nvPr/>
        </p:nvSpPr>
        <p:spPr>
          <a:xfrm>
            <a:off x="777240" y="2249424"/>
            <a:ext cx="4892040" cy="777240"/>
          </a:xfrm>
          <a:prstGeom prst="rect">
            <a:avLst/>
          </a:prstGeom>
          <a:noFill/>
          <a:ln/>
        </p:spPr>
        <p:txBody>
          <a:bodyPr wrap="square" lIns="0" tIns="0" rIns="0" bIns="0" rtlCol="0" anchor="t"/>
          <a:lstStyle/>
          <a:p>
            <a:pPr indent="0" marL="0">
              <a:buNone/>
            </a:pPr>
            <a:r>
              <a:rPr lang="en-US" sz="1250" dirty="0">
                <a:solidFill>
                  <a:srgbClr val="1B1F2A"/>
                </a:solidFill>
                <a:latin typeface="Calibri" pitchFamily="34" charset="0"/>
                <a:ea typeface="Calibri" pitchFamily="34" charset="-122"/>
                <a:cs typeface="Calibri" pitchFamily="34" charset="-120"/>
              </a:rPr>
              <a:t>Es el algoritmo del GPS. Calcula el mejor camino desde UN punto de partida hacia todos los demás.</a:t>
            </a:r>
            <a:endParaRPr lang="en-US" sz="1250" dirty="0"/>
          </a:p>
        </p:txBody>
      </p:sp>
      <p:sp>
        <p:nvSpPr>
          <p:cNvPr id="8" name="Text 6"/>
          <p:cNvSpPr/>
          <p:nvPr/>
        </p:nvSpPr>
        <p:spPr>
          <a:xfrm>
            <a:off x="777240" y="3090672"/>
            <a:ext cx="4892040" cy="566928"/>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Rápido: ideal cuando solo interesa un origen concreto.</a:t>
            </a:r>
            <a:endParaRPr lang="en-US" sz="1250" dirty="0"/>
          </a:p>
        </p:txBody>
      </p:sp>
      <p:sp>
        <p:nvSpPr>
          <p:cNvPr id="9" name="Shape 7"/>
          <p:cNvSpPr/>
          <p:nvPr/>
        </p:nvSpPr>
        <p:spPr>
          <a:xfrm>
            <a:off x="6263640" y="1463040"/>
            <a:ext cx="5349240" cy="2331720"/>
          </a:xfrm>
          <a:prstGeom prst="roundRect">
            <a:avLst>
              <a:gd name="adj" fmla="val 313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0" name="Text 8"/>
          <p:cNvSpPr/>
          <p:nvPr/>
        </p:nvSpPr>
        <p:spPr>
          <a:xfrm>
            <a:off x="6492240" y="1609344"/>
            <a:ext cx="4892040" cy="310896"/>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Floyd-Warshall</a:t>
            </a:r>
            <a:endParaRPr lang="en-US" sz="1800" dirty="0"/>
          </a:p>
        </p:txBody>
      </p:sp>
      <p:sp>
        <p:nvSpPr>
          <p:cNvPr id="11" name="Text 9"/>
          <p:cNvSpPr/>
          <p:nvPr/>
        </p:nvSpPr>
        <p:spPr>
          <a:xfrm>
            <a:off x="6492240" y="1938528"/>
            <a:ext cx="4892040" cy="274320"/>
          </a:xfrm>
          <a:prstGeom prst="rect">
            <a:avLst/>
          </a:prstGeom>
          <a:noFill/>
          <a:ln/>
        </p:spPr>
        <p:txBody>
          <a:bodyPr wrap="square" lIns="0" tIns="0" rIns="0" bIns="0" rtlCol="0" anchor="ctr"/>
          <a:lstStyle/>
          <a:p>
            <a:pPr indent="0" marL="0">
              <a:buNone/>
            </a:pPr>
            <a:r>
              <a:rPr lang="en-US" sz="1250" b="1" i="1" dirty="0">
                <a:solidFill>
                  <a:srgbClr val="A01A24"/>
                </a:solidFill>
                <a:latin typeface="Calibri" pitchFamily="34" charset="0"/>
                <a:ea typeface="Calibri" pitchFamily="34" charset="-122"/>
                <a:cs typeface="Calibri" pitchFamily="34" charset="-120"/>
              </a:rPr>
              <a:t>«¿Y entre todos con todos?»</a:t>
            </a:r>
            <a:endParaRPr lang="en-US" sz="1250" dirty="0"/>
          </a:p>
        </p:txBody>
      </p:sp>
      <p:sp>
        <p:nvSpPr>
          <p:cNvPr id="12" name="Text 10"/>
          <p:cNvSpPr/>
          <p:nvPr/>
        </p:nvSpPr>
        <p:spPr>
          <a:xfrm>
            <a:off x="6492240" y="2249424"/>
            <a:ext cx="4892040" cy="777240"/>
          </a:xfrm>
          <a:prstGeom prst="rect">
            <a:avLst/>
          </a:prstGeom>
          <a:noFill/>
          <a:ln/>
        </p:spPr>
        <p:txBody>
          <a:bodyPr wrap="square" lIns="0" tIns="0" rIns="0" bIns="0" rtlCol="0" anchor="t"/>
          <a:lstStyle/>
          <a:p>
            <a:pPr indent="0" marL="0">
              <a:buNone/>
            </a:pPr>
            <a:r>
              <a:rPr lang="en-US" sz="1250" dirty="0">
                <a:solidFill>
                  <a:srgbClr val="1B1F2A"/>
                </a:solidFill>
                <a:latin typeface="Calibri" pitchFamily="34" charset="0"/>
                <a:ea typeface="Calibri" pitchFamily="34" charset="-122"/>
                <a:cs typeface="Calibri" pitchFamily="34" charset="-120"/>
              </a:rPr>
              <a:t>Calcula de una sola vez la distancia entre CADA par de equipos. Una tabla completa de 177 × 177.</a:t>
            </a:r>
            <a:endParaRPr lang="en-US" sz="1250" dirty="0"/>
          </a:p>
        </p:txBody>
      </p:sp>
      <p:sp>
        <p:nvSpPr>
          <p:cNvPr id="13" name="Text 11"/>
          <p:cNvSpPr/>
          <p:nvPr/>
        </p:nvSpPr>
        <p:spPr>
          <a:xfrm>
            <a:off x="6492240" y="3090672"/>
            <a:ext cx="4892040" cy="566928"/>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Más lento por consulta, pero da todo el mapa: aquí tarda 4 milésimas de segundo.</a:t>
            </a:r>
            <a:endParaRPr lang="en-US" sz="1250" dirty="0"/>
          </a:p>
        </p:txBody>
      </p:sp>
      <p:sp>
        <p:nvSpPr>
          <p:cNvPr id="14" name="Shape 12"/>
          <p:cNvSpPr/>
          <p:nvPr/>
        </p:nvSpPr>
        <p:spPr>
          <a:xfrm>
            <a:off x="548640" y="4023360"/>
            <a:ext cx="11064240" cy="2057400"/>
          </a:xfrm>
          <a:prstGeom prst="roundRect">
            <a:avLst>
              <a:gd name="adj" fmla="val 3556"/>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15" name="Text 13"/>
          <p:cNvSpPr/>
          <p:nvPr/>
        </p:nvSpPr>
        <p:spPr>
          <a:xfrm>
            <a:off x="822960" y="4133088"/>
            <a:ext cx="10515600" cy="292608"/>
          </a:xfrm>
          <a:prstGeom prst="rect">
            <a:avLst/>
          </a:prstGeom>
          <a:noFill/>
          <a:ln/>
        </p:spPr>
        <p:txBody>
          <a:bodyPr wrap="square" lIns="0" tIns="0" rIns="0" bIns="0" rtlCol="0" anchor="ctr"/>
          <a:lstStyle/>
          <a:p>
            <a:pPr indent="0" marL="0">
              <a:buNone/>
            </a:pPr>
            <a:r>
              <a:rPr lang="en-US" sz="1500" b="1" dirty="0">
                <a:solidFill>
                  <a:srgbClr val="A01A24"/>
                </a:solidFill>
                <a:latin typeface="Calibri" pitchFamily="34" charset="0"/>
                <a:ea typeface="Calibri" pitchFamily="34" charset="-122"/>
                <a:cs typeface="Calibri" pitchFamily="34" charset="-120"/>
              </a:rPr>
              <a:t>El resultado que mejor retrata la red: 11 saltos de un aula a otra</a:t>
            </a:r>
            <a:endParaRPr lang="en-US" sz="1500" dirty="0"/>
          </a:p>
        </p:txBody>
      </p:sp>
      <p:sp>
        <p:nvSpPr>
          <p:cNvPr id="16" name="Text 14"/>
          <p:cNvSpPr/>
          <p:nvPr/>
        </p:nvSpPr>
        <p:spPr>
          <a:xfrm>
            <a:off x="822960" y="4462272"/>
            <a:ext cx="10515600" cy="27432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Ir de un aula de Enfermería (Paraíso) a un aula de Posgrado (Central) exige 11 saltos:</a:t>
            </a:r>
            <a:endParaRPr lang="en-US" sz="1300" dirty="0"/>
          </a:p>
        </p:txBody>
      </p:sp>
      <p:sp>
        <p:nvSpPr>
          <p:cNvPr id="17" name="Text 15"/>
          <p:cNvSpPr/>
          <p:nvPr/>
        </p:nvSpPr>
        <p:spPr>
          <a:xfrm>
            <a:off x="914400" y="4773168"/>
            <a:ext cx="10332720" cy="68580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aula  →  switch del piso  →  switch del edificio  →  núcleo de Paraíso  →  router de salida  →  nube del proveedor  →  router de entrada  →  núcleo de Central  →  switch del edificio  →  dos switches más  →  aula destino</a:t>
            </a:r>
            <a:endParaRPr lang="en-US" sz="1300" dirty="0"/>
          </a:p>
        </p:txBody>
      </p:sp>
      <p:sp>
        <p:nvSpPr>
          <p:cNvPr id="18" name="Text 16"/>
          <p:cNvSpPr/>
          <p:nvPr/>
        </p:nvSpPr>
        <p:spPr>
          <a:xfrm>
            <a:off x="822960" y="5504688"/>
            <a:ext cx="10515600" cy="502920"/>
          </a:xfrm>
          <a:prstGeom prst="rect">
            <a:avLst/>
          </a:prstGeom>
          <a:noFill/>
          <a:ln/>
        </p:spPr>
        <p:txBody>
          <a:bodyPr wrap="square" lIns="0" tIns="0" rIns="0" bIns="0" rtlCol="0" anchor="t"/>
          <a:lstStyle/>
          <a:p>
            <a:pPr indent="0" marL="0">
              <a:buNone/>
            </a:pPr>
            <a:r>
              <a:rPr lang="en-US" sz="1300" i="1" dirty="0">
                <a:solidFill>
                  <a:srgbClr val="1B1F2A"/>
                </a:solidFill>
                <a:latin typeface="Calibri" pitchFamily="34" charset="0"/>
                <a:ea typeface="Calibri" pitchFamily="34" charset="-122"/>
                <a:cs typeface="Calibri" pitchFamily="34" charset="-120"/>
              </a:rPr>
              <a:t>Fíjense en el paso 4: TODO Campus Paraíso pasa obligatoriamente por su núcleo y su router de salida. No hay alternativa. Ese detalle reaparecerá en las próximas láminas.</a:t>
            </a:r>
            <a:endParaRPr lang="en-US" sz="1300" dirty="0"/>
          </a:p>
        </p:txBody>
      </p:sp>
      <p:sp>
        <p:nvSpPr>
          <p:cNvPr id="20" name="Text 17"/>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21" name="Text 18"/>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PREGUNTA 4 DE 4</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¿Cuánto tráfico cabe?  ·  Ford-Fulkerson y Edmonds-Karp</a:t>
            </a:r>
            <a:endParaRPr lang="en-US" sz="3100" dirty="0"/>
          </a:p>
        </p:txBody>
      </p:sp>
      <p:sp>
        <p:nvSpPr>
          <p:cNvPr id="4" name="Shape 2"/>
          <p:cNvSpPr/>
          <p:nvPr/>
        </p:nvSpPr>
        <p:spPr>
          <a:xfrm>
            <a:off x="548640" y="1463040"/>
            <a:ext cx="11064240" cy="1051560"/>
          </a:xfrm>
          <a:prstGeom prst="roundRect">
            <a:avLst>
              <a:gd name="adj" fmla="val 6957"/>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5" name="Text 3"/>
          <p:cNvSpPr/>
          <p:nvPr/>
        </p:nvSpPr>
        <p:spPr>
          <a:xfrm>
            <a:off x="822960" y="1572768"/>
            <a:ext cx="105156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La idea, en una frase: la red como un sistema de tuberías</a:t>
            </a:r>
            <a:endParaRPr lang="en-US" sz="1500" dirty="0"/>
          </a:p>
        </p:txBody>
      </p:sp>
      <p:sp>
        <p:nvSpPr>
          <p:cNvPr id="6" name="Text 4"/>
          <p:cNvSpPr/>
          <p:nvPr/>
        </p:nvSpPr>
        <p:spPr>
          <a:xfrm>
            <a:off x="822960" y="1901952"/>
            <a:ext cx="10515600" cy="502920"/>
          </a:xfrm>
          <a:prstGeom prst="rect">
            <a:avLst/>
          </a:prstGeom>
          <a:noFill/>
          <a:ln/>
        </p:spPr>
        <p:txBody>
          <a:bodyPr wrap="square" lIns="0" tIns="0" rIns="0" bIns="0" rtlCol="0" anchor="t"/>
          <a:lstStyle/>
          <a:p>
            <a:pPr indent="0" marL="0">
              <a:buNone/>
            </a:pPr>
            <a:r>
              <a:rPr lang="en-US" sz="1350" dirty="0">
                <a:solidFill>
                  <a:srgbClr val="1B1F2A"/>
                </a:solidFill>
                <a:latin typeface="Calibri" pitchFamily="34" charset="0"/>
                <a:ea typeface="Calibri" pitchFamily="34" charset="-122"/>
                <a:cs typeface="Calibri" pitchFamily="34" charset="-120"/>
              </a:rPr>
              <a:t>Cada cable tiene una capacidad, como una tubería tiene un diámetro. La pregunta es cuánta agua puede salir de cada campus hacia Internet. Los dos algoritmos calculan ese caudal máximo por caminos distintos — y deben coincidir. Coinciden en los 7 campus.</a:t>
            </a:r>
            <a:endParaRPr lang="en-US" sz="1350" dirty="0"/>
          </a:p>
        </p:txBody>
      </p:sp>
      <p:graphicFrame>
        <p:nvGraphicFramePr>
          <p:cNvPr id="7" name="Chart 0" descr=""/>
          <p:cNvGraphicFramePr/>
          <p:nvPr/>
        </p:nvGraphicFramePr>
        <p:xfrm>
          <a:off x="548640" y="2697480"/>
          <a:ext cx="6949440" cy="27889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5532120"/>
            <a:ext cx="694944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Caudal máximo de salida hacia Internet, por campus (Mbps).</a:t>
            </a:r>
            <a:endParaRPr lang="en-US" sz="1100" dirty="0"/>
          </a:p>
        </p:txBody>
      </p:sp>
      <p:sp>
        <p:nvSpPr>
          <p:cNvPr id="9" name="Shape 6"/>
          <p:cNvSpPr/>
          <p:nvPr/>
        </p:nvSpPr>
        <p:spPr>
          <a:xfrm>
            <a:off x="7772400" y="2697480"/>
            <a:ext cx="3840480" cy="3063240"/>
          </a:xfrm>
          <a:prstGeom prst="roundRect">
            <a:avLst>
              <a:gd name="adj" fmla="val 2388"/>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10" name="Text 7"/>
          <p:cNvSpPr/>
          <p:nvPr/>
        </p:nvSpPr>
        <p:spPr>
          <a:xfrm>
            <a:off x="8046720" y="2834640"/>
            <a:ext cx="3291840" cy="320040"/>
          </a:xfrm>
          <a:prstGeom prst="rect">
            <a:avLst/>
          </a:prstGeom>
          <a:noFill/>
          <a:ln/>
        </p:spPr>
        <p:txBody>
          <a:bodyPr wrap="square" lIns="0" tIns="0" rIns="0" bIns="0" rtlCol="0" anchor="ctr"/>
          <a:lstStyle/>
          <a:p>
            <a:pPr indent="0" marL="0">
              <a:buNone/>
            </a:pPr>
            <a:r>
              <a:rPr lang="en-US" sz="1900" b="1" dirty="0">
                <a:solidFill>
                  <a:srgbClr val="A01A24"/>
                </a:solidFill>
                <a:latin typeface="Cambria" pitchFamily="34" charset="0"/>
                <a:ea typeface="Cambria" pitchFamily="34" charset="-122"/>
                <a:cs typeface="Cambria" pitchFamily="34" charset="-120"/>
              </a:rPr>
              <a:t>Paraíso no cuadra</a:t>
            </a:r>
            <a:endParaRPr lang="en-US" sz="1900" dirty="0"/>
          </a:p>
        </p:txBody>
      </p:sp>
      <p:sp>
        <p:nvSpPr>
          <p:cNvPr id="11" name="Text 8"/>
          <p:cNvSpPr/>
          <p:nvPr/>
        </p:nvSpPr>
        <p:spPr>
          <a:xfrm>
            <a:off x="8046720" y="3200400"/>
            <a:ext cx="3291840" cy="2377440"/>
          </a:xfrm>
          <a:prstGeom prst="rect">
            <a:avLst/>
          </a:prstGeom>
          <a:noFill/>
          <a:ln/>
        </p:spPr>
        <p:txBody>
          <a:bodyPr wrap="square" lIns="0" tIns="0" rIns="0" bIns="0" rtlCol="0" anchor="t"/>
          <a:lstStyle/>
          <a:p>
            <a:pPr indent="0" marL="0">
              <a:spcAft>
                <a:spcPts val="800"/>
              </a:spcAft>
              <a:buNone/>
            </a:pPr>
            <a:r>
              <a:rPr lang="en-US" sz="1350" dirty="0">
                <a:solidFill>
                  <a:srgbClr val="1B1F2A"/>
                </a:solidFill>
                <a:latin typeface="Calibri" pitchFamily="34" charset="0"/>
                <a:ea typeface="Calibri" pitchFamily="34" charset="-122"/>
                <a:cs typeface="Calibri" pitchFamily="34" charset="-120"/>
              </a:rPr>
              <a:t>Tiene 35 equipos de acceso — más que Yanuncay y Hospitalidad juntos.</a:t>
            </a:r>
            <a:endParaRPr lang="en-US" sz="1350" dirty="0"/>
          </a:p>
          <a:p>
            <a:pPr indent="0" marL="0">
              <a:spcAft>
                <a:spcPts val="800"/>
              </a:spcAft>
              <a:buNone/>
            </a:pPr>
            <a:r>
              <a:rPr lang="en-US" sz="1350" b="1" dirty="0">
                <a:solidFill>
                  <a:srgbClr val="1B1F2A"/>
                </a:solidFill>
                <a:latin typeface="Calibri" pitchFamily="34" charset="0"/>
                <a:ea typeface="Calibri" pitchFamily="34" charset="-122"/>
                <a:cs typeface="Calibri" pitchFamily="34" charset="-120"/>
              </a:rPr>
              <a:t>Y es el campus con MENOS caudal de toda la universidad: 1 000 Mbps.</a:t>
            </a:r>
            <a:endParaRPr lang="en-US" sz="1350" dirty="0"/>
          </a:p>
          <a:p>
            <a:pPr indent="0" marL="0">
              <a:spcAft>
                <a:spcPts val="800"/>
              </a:spcAft>
              <a:buNone/>
            </a:pPr>
            <a:r>
              <a:rPr lang="en-US" sz="1350" dirty="0">
                <a:solidFill>
                  <a:srgbClr val="1B1F2A"/>
                </a:solidFill>
                <a:latin typeface="Calibri" pitchFamily="34" charset="0"/>
                <a:ea typeface="Calibri" pitchFamily="34" charset="-122"/>
                <a:cs typeface="Calibri" pitchFamily="34" charset="-120"/>
              </a:rPr>
              <a:t>Cuarenta y cuatro veces menos que Central. Once veces menos que Yanuncay, que tiene un tercio de sus equipos.</a:t>
            </a:r>
            <a:endParaRPr lang="en-US" sz="1350" dirty="0"/>
          </a:p>
          <a:p>
            <a:pPr indent="0" marL="0">
              <a:spcAft>
                <a:spcPts val="800"/>
              </a:spcAft>
              <a:buNone/>
            </a:pPr>
            <a:r>
              <a:rPr lang="en-US" sz="1350" i="1" dirty="0">
                <a:solidFill>
                  <a:srgbClr val="1B1F2A"/>
                </a:solidFill>
                <a:latin typeface="Calibri" pitchFamily="34" charset="0"/>
                <a:ea typeface="Calibri" pitchFamily="34" charset="-122"/>
                <a:cs typeface="Calibri" pitchFamily="34" charset="-120"/>
              </a:rPr>
              <a:t>¿Por qué? Lo explica la lámina siguiente.</a:t>
            </a:r>
            <a:endParaRPr lang="en-US" sz="1350" dirty="0"/>
          </a:p>
        </p:txBody>
      </p:sp>
      <p:sp>
        <p:nvSpPr>
          <p:cNvPr id="13" name="Text 9"/>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4" name="Text 10"/>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3840480"/>
            <a:ext cx="4572000" cy="4572000"/>
          </a:xfrm>
          <a:prstGeom prst="ellipse">
            <a:avLst/>
          </a:prstGeom>
          <a:solidFill>
            <a:srgbClr val="A01A24">
              <a:alpha val="35000"/>
            </a:srgbClr>
          </a:solidFill>
          <a:ln w="12700">
            <a:solidFill>
              <a:srgbClr val="A01A24">
                <a:alpha val="0"/>
              </a:srgbClr>
            </a:solidFill>
            <a:prstDash val="solid"/>
          </a:ln>
        </p:spPr>
      </p:sp>
      <p:sp>
        <p:nvSpPr>
          <p:cNvPr id="3" name="Text 1"/>
          <p:cNvSpPr/>
          <p:nvPr/>
        </p:nvSpPr>
        <p:spPr>
          <a:xfrm>
            <a:off x="548640" y="685800"/>
            <a:ext cx="11064240" cy="320040"/>
          </a:xfrm>
          <a:prstGeom prst="rect">
            <a:avLst/>
          </a:prstGeom>
          <a:noFill/>
          <a:ln/>
        </p:spPr>
        <p:txBody>
          <a:bodyPr wrap="square" lIns="0" tIns="0" rIns="0" bIns="0" rtlCol="0" anchor="ctr"/>
          <a:lstStyle/>
          <a:p>
            <a:pPr indent="0" marL="0">
              <a:buNone/>
            </a:pPr>
            <a:r>
              <a:rPr lang="en-US" sz="1250" b="1" spc="160" kern="0" dirty="0">
                <a:solidFill>
                  <a:srgbClr val="CADCFC"/>
                </a:solidFill>
                <a:latin typeface="Calibri" pitchFamily="34" charset="0"/>
                <a:ea typeface="Calibri" pitchFamily="34" charset="-122"/>
                <a:cs typeface="Calibri" pitchFamily="34" charset="-120"/>
              </a:rPr>
              <a:t>EL HALLAZGO PRINCIPAL</a:t>
            </a:r>
            <a:endParaRPr lang="en-US" sz="1250" dirty="0"/>
          </a:p>
        </p:txBody>
      </p:sp>
      <p:sp>
        <p:nvSpPr>
          <p:cNvPr id="4" name="Text 2"/>
          <p:cNvSpPr/>
          <p:nvPr/>
        </p:nvSpPr>
        <p:spPr>
          <a:xfrm>
            <a:off x="548640" y="1097280"/>
            <a:ext cx="8961120" cy="12344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Campus Paraíso no tiene la protección</a:t>
            </a:r>
            <a:endParaRPr lang="en-US" sz="3300" dirty="0"/>
          </a:p>
          <a:p>
            <a:pPr indent="0" marL="0">
              <a:buNone/>
            </a:pPr>
            <a:r>
              <a:rPr lang="en-US" sz="3300" b="1" dirty="0">
                <a:solidFill>
                  <a:srgbClr val="FFFFFF"/>
                </a:solidFill>
                <a:latin typeface="Cambria" pitchFamily="34" charset="0"/>
                <a:ea typeface="Cambria" pitchFamily="34" charset="-122"/>
                <a:cs typeface="Cambria" pitchFamily="34" charset="-120"/>
              </a:rPr>
              <a:t>que el informe técnico le atribuye</a:t>
            </a:r>
            <a:endParaRPr lang="en-US" sz="3300" dirty="0"/>
          </a:p>
        </p:txBody>
      </p:sp>
      <p:sp>
        <p:nvSpPr>
          <p:cNvPr id="5" name="Text 3"/>
          <p:cNvSpPr/>
          <p:nvPr/>
        </p:nvSpPr>
        <p:spPr>
          <a:xfrm>
            <a:off x="548640" y="2468880"/>
            <a:ext cx="694944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El informe dice que Paraíso tiene «redundancia completa» —o sea, doble camino—. Conté, para cada uno de sus equipos, cuántos caminos hacia el núcleo tiene de verdad:</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6949440" cy="914400"/>
        </p:xfrm>
        <a:graphic>
          <a:graphicData uri="http://schemas.openxmlformats.org/drawingml/2006/table">
            <a:tbl>
              <a:tblPr/>
              <a:tblGrid>
                <a:gridCol w="2377440"/>
                <a:gridCol w="2286000"/>
                <a:gridCol w="2286000"/>
              </a:tblGrid>
              <a:tr h="384048">
                <a:tc>
                  <a:txBody>
                    <a:bodyPr/>
                    <a:lstStyle/>
                    <a:p>
                      <a:pPr indent="0" marL="0">
                        <a:buNone/>
                      </a:pPr>
                      <a:r>
                        <a:rPr lang="en-US" sz="1350" b="1" dirty="0">
                          <a:solidFill>
                            <a:srgbClr val="1E2761"/>
                          </a:solidFill>
                          <a:latin typeface="Calibri" pitchFamily="34" charset="0"/>
                          <a:ea typeface="Calibri" pitchFamily="34" charset="-122"/>
                          <a:cs typeface="Calibri" pitchFamily="34" charset="-120"/>
                        </a:rPr>
                        <a:t>Campus</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CADCFC"/>
                    </a:solidFill>
                  </a:tcPr>
                </a:tc>
                <a:tc>
                  <a:txBody>
                    <a:bodyPr/>
                    <a:lstStyle/>
                    <a:p>
                      <a:pPr indent="0" marL="0">
                        <a:buNone/>
                      </a:pPr>
                      <a:r>
                        <a:rPr lang="en-US" sz="1350" b="1" dirty="0">
                          <a:solidFill>
                            <a:srgbClr val="1E2761"/>
                          </a:solidFill>
                          <a:latin typeface="Calibri" pitchFamily="34" charset="0"/>
                          <a:ea typeface="Calibri" pitchFamily="34" charset="-122"/>
                          <a:cs typeface="Calibri" pitchFamily="34" charset="-120"/>
                        </a:rPr>
                        <a:t>Con doble camino</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CADCFC"/>
                    </a:solidFill>
                  </a:tcPr>
                </a:tc>
                <a:tc>
                  <a:txBody>
                    <a:bodyPr/>
                    <a:lstStyle/>
                    <a:p>
                      <a:pPr indent="0" marL="0">
                        <a:buNone/>
                      </a:pPr>
                      <a:r>
                        <a:rPr lang="en-US" sz="1350" b="1" dirty="0">
                          <a:solidFill>
                            <a:srgbClr val="1E2761"/>
                          </a:solidFill>
                          <a:latin typeface="Calibri" pitchFamily="34" charset="0"/>
                          <a:ea typeface="Calibri" pitchFamily="34" charset="-122"/>
                          <a:cs typeface="Calibri" pitchFamily="34" charset="-120"/>
                        </a:rPr>
                        <a:t>Con un solo camino</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CADCFC"/>
                    </a:solidFill>
                  </a:tcPr>
                </a:tc>
              </a:tr>
              <a:tr h="384048">
                <a:tc>
                  <a:txBody>
                    <a:bodyPr/>
                    <a:lstStyle/>
                    <a:p>
                      <a:pPr indent="0" marL="0">
                        <a:buNone/>
                      </a:pPr>
                      <a:r>
                        <a:rPr lang="en-US" sz="1350" dirty="0">
                          <a:solidFill>
                            <a:srgbClr val="FFFFFF"/>
                          </a:solidFill>
                          <a:latin typeface="Calibri" pitchFamily="34" charset="0"/>
                          <a:ea typeface="Calibri" pitchFamily="34" charset="-122"/>
                          <a:cs typeface="Calibri" pitchFamily="34" charset="-120"/>
                        </a:rPr>
                        <a:t>Balzay</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2A3A7A"/>
                    </a:solidFill>
                  </a:tcPr>
                </a:tc>
                <a:tc>
                  <a:txBody>
                    <a:bodyPr/>
                    <a:lstStyle/>
                    <a:p>
                      <a:pPr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2A3A7A"/>
                    </a:solidFill>
                  </a:tcPr>
                </a:tc>
                <a:tc>
                  <a:txBody>
                    <a:bodyPr/>
                    <a:lstStyle/>
                    <a:p>
                      <a:pPr indent="0" marL="0">
                        <a:buNone/>
                      </a:pPr>
                      <a:r>
                        <a:rPr lang="en-US" sz="1350" dirty="0">
                          <a:solidFill>
                            <a:srgbClr val="FFFFFF"/>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2A3A7A"/>
                    </a:solidFill>
                  </a:tcPr>
                </a:tc>
              </a:tr>
              <a:tr h="384048">
                <a:tc>
                  <a:txBody>
                    <a:bodyPr/>
                    <a:lstStyle/>
                    <a:p>
                      <a:pPr indent="0" marL="0">
                        <a:buNone/>
                      </a:pPr>
                      <a:r>
                        <a:rPr lang="en-US" sz="1350" dirty="0">
                          <a:solidFill>
                            <a:srgbClr val="FFFFFF"/>
                          </a:solidFill>
                          <a:latin typeface="Calibri" pitchFamily="34" charset="0"/>
                          <a:ea typeface="Calibri" pitchFamily="34" charset="-122"/>
                          <a:cs typeface="Calibri" pitchFamily="34" charset="-120"/>
                        </a:rPr>
                        <a:t>Central</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2A3A7A"/>
                    </a:solidFill>
                  </a:tcPr>
                </a:tc>
                <a:tc>
                  <a:txBody>
                    <a:bodyPr/>
                    <a:lstStyle/>
                    <a:p>
                      <a:pPr indent="0" marL="0">
                        <a:buNone/>
                      </a:pPr>
                      <a:r>
                        <a:rPr lang="en-US" sz="1350" dirty="0">
                          <a:solidFill>
                            <a:srgbClr val="FFFFFF"/>
                          </a:solidFill>
                          <a:latin typeface="Calibri" pitchFamily="34" charset="0"/>
                          <a:ea typeface="Calibri" pitchFamily="34" charset="-122"/>
                          <a:cs typeface="Calibri" pitchFamily="34" charset="-120"/>
                        </a:rPr>
                        <a:t>13</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2A3A7A"/>
                    </a:solidFill>
                  </a:tcPr>
                </a:tc>
                <a:tc>
                  <a:txBody>
                    <a:bodyPr/>
                    <a:lstStyle/>
                    <a:p>
                      <a:pPr indent="0" marL="0">
                        <a:buNone/>
                      </a:pPr>
                      <a:r>
                        <a:rPr lang="en-US" sz="1350" dirty="0">
                          <a:solidFill>
                            <a:srgbClr val="FFFFFF"/>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2A3A7A"/>
                    </a:solidFill>
                  </a:tcPr>
                </a:tc>
              </a:tr>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PARAÍSO</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A01A2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A01A2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6350" cap="flat" cmpd="sng" algn="ctr">
                      <a:solidFill>
                        <a:srgbClr val="43539B"/>
                      </a:solidFill>
                      <a:prstDash val="solid"/>
                      <a:round/>
                      <a:headEnd type="none" w="med" len="med"/>
                      <a:tailEnd type="none" w="med" len="med"/>
                    </a:lnL>
                    <a:lnR w="6350" cap="flat" cmpd="sng" algn="ctr">
                      <a:solidFill>
                        <a:srgbClr val="43539B"/>
                      </a:solidFill>
                      <a:prstDash val="solid"/>
                      <a:round/>
                      <a:headEnd type="none" w="med" len="med"/>
                      <a:tailEnd type="none" w="med" len="med"/>
                    </a:lnR>
                    <a:lnT w="6350" cap="flat" cmpd="sng" algn="ctr">
                      <a:solidFill>
                        <a:srgbClr val="43539B"/>
                      </a:solidFill>
                      <a:prstDash val="solid"/>
                      <a:round/>
                      <a:headEnd type="none" w="med" len="med"/>
                      <a:tailEnd type="none" w="med" len="med"/>
                    </a:lnT>
                    <a:lnB w="6350" cap="flat" cmpd="sng" algn="ctr">
                      <a:solidFill>
                        <a:srgbClr val="43539B"/>
                      </a:solidFill>
                      <a:prstDash val="solid"/>
                      <a:round/>
                      <a:headEnd type="none" w="med" len="med"/>
                      <a:tailEnd type="none" w="med" len="med"/>
                    </a:lnB>
                    <a:solidFill>
                      <a:srgbClr val="A01A24"/>
                    </a:solidFill>
                  </a:tcPr>
                </a:tc>
              </a:tr>
            </a:tbl>
          </a:graphicData>
        </a:graphic>
      </p:graphicFrame>
      <p:sp>
        <p:nvSpPr>
          <p:cNvPr id="7" name="Text 4"/>
          <p:cNvSpPr/>
          <p:nvPr/>
        </p:nvSpPr>
        <p:spPr>
          <a:xfrm>
            <a:off x="7955280" y="2514600"/>
            <a:ext cx="3657600" cy="2377440"/>
          </a:xfrm>
          <a:prstGeom prst="rect">
            <a:avLst/>
          </a:prstGeom>
          <a:noFill/>
          <a:ln/>
        </p:spPr>
        <p:txBody>
          <a:bodyPr wrap="square" lIns="0" tIns="0" rIns="0" bIns="0" rtlCol="0" anchor="t"/>
          <a:lstStyle/>
          <a:p>
            <a:pPr indent="0" marL="0">
              <a:spcAft>
                <a:spcPts val="900"/>
              </a:spcAft>
              <a:buNone/>
            </a:pPr>
            <a:r>
              <a:rPr lang="en-US" sz="1350" b="1" dirty="0">
                <a:solidFill>
                  <a:srgbClr val="FFFFFF"/>
                </a:solidFill>
                <a:latin typeface="Calibri" pitchFamily="34" charset="0"/>
                <a:ea typeface="Calibri" pitchFamily="34" charset="-122"/>
                <a:cs typeface="Calibri" pitchFamily="34" charset="-120"/>
              </a:rPr>
              <a:t>Los 6 equipos de Paraíso cuelgan del MISMO núcleo, cada uno por un solo cable.</a:t>
            </a:r>
            <a:endParaRPr lang="en-US" sz="1350" dirty="0"/>
          </a:p>
          <a:p>
            <a:pPr indent="0" marL="0">
              <a:spcAft>
                <a:spcPts val="900"/>
              </a:spcAft>
              <a:buNone/>
            </a:pPr>
            <a:r>
              <a:rPr lang="en-US" sz="1350" dirty="0">
                <a:solidFill>
                  <a:srgbClr val="FFFFFF"/>
                </a:solidFill>
                <a:latin typeface="Calibri" pitchFamily="34" charset="0"/>
                <a:ea typeface="Calibri" pitchFamily="34" charset="-122"/>
                <a:cs typeface="Calibri" pitchFamily="34" charset="-120"/>
              </a:rPr>
              <a:t>Y ese núcleo sale a Internet por un único cable de 1 000 Mbps.</a:t>
            </a:r>
            <a:endParaRPr lang="en-US" sz="1350" dirty="0"/>
          </a:p>
          <a:p>
            <a:pPr indent="0" marL="0">
              <a:spcAft>
                <a:spcPts val="900"/>
              </a:spcAft>
              <a:buNone/>
            </a:pPr>
            <a:r>
              <a:rPr lang="en-US" sz="1350" dirty="0">
                <a:solidFill>
                  <a:srgbClr val="FFFFFF"/>
                </a:solidFill>
                <a:latin typeface="Calibri" pitchFamily="34" charset="0"/>
                <a:ea typeface="Calibri" pitchFamily="34" charset="-122"/>
                <a:cs typeface="Calibri" pitchFamily="34" charset="-120"/>
              </a:rPr>
              <a:t>Por eso el caudal de la lámina anterior era tan bajo: no es el tamaño del campus, es que todo pasa por un solo sitio.</a:t>
            </a:r>
            <a:endParaRPr lang="en-US" sz="1350" dirty="0"/>
          </a:p>
        </p:txBody>
      </p:sp>
      <p:sp>
        <p:nvSpPr>
          <p:cNvPr id="8" name="Shape 5"/>
          <p:cNvSpPr/>
          <p:nvPr/>
        </p:nvSpPr>
        <p:spPr>
          <a:xfrm>
            <a:off x="548640" y="5029200"/>
            <a:ext cx="11064240" cy="1097280"/>
          </a:xfrm>
          <a:prstGeom prst="roundRect">
            <a:avLst>
              <a:gd name="adj" fmla="val 6667"/>
            </a:avLst>
          </a:prstGeom>
          <a:solidFill>
            <a:srgbClr val="2A3A7A"/>
          </a:solidFill>
          <a:ln w="12700">
            <a:solidFill>
              <a:srgbClr val="2A3A7A"/>
            </a:solidFill>
            <a:prstDash val="solid"/>
          </a:ln>
          <a:effectLst>
            <a:outerShdw sx="100000" sy="100000" kx="0" ky="0" algn="bl" rotWithShape="0" blurRad="76200" dist="508" dir="5400000">
              <a:srgbClr val="9AA3B0">
                <a:alpha val="25000"/>
              </a:srgbClr>
            </a:outerShdw>
          </a:effectLst>
        </p:spPr>
      </p:sp>
      <p:sp>
        <p:nvSpPr>
          <p:cNvPr id="9" name="Text 6"/>
          <p:cNvSpPr/>
          <p:nvPr/>
        </p:nvSpPr>
        <p:spPr>
          <a:xfrm>
            <a:off x="868680" y="5193792"/>
            <a:ext cx="10424160" cy="77724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Si ese equipo falla, cae Campus Paraíso entero: 44 equipos, el 25 % de la universidad. Y no es una opinión: lo confirman por separado tres análisis distintos.</a:t>
            </a:r>
            <a:endParaRPr lang="en-US" sz="1500" dirty="0"/>
          </a:p>
        </p:txBody>
      </p:sp>
      <p:sp>
        <p:nvSpPr>
          <p:cNvPr id="11" name="Text 7"/>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2" name="Text 8"/>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LA QUINTA PREGUNTA</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¿Qué pasa si falla algo?  ·  Percolación</a:t>
            </a:r>
            <a:endParaRPr lang="en-US" sz="3100" dirty="0"/>
          </a:p>
        </p:txBody>
      </p:sp>
      <p:sp>
        <p:nvSpPr>
          <p:cNvPr id="4" name="Shape 2"/>
          <p:cNvSpPr/>
          <p:nvPr/>
        </p:nvSpPr>
        <p:spPr>
          <a:xfrm>
            <a:off x="548640" y="1463040"/>
            <a:ext cx="11064240" cy="1234440"/>
          </a:xfrm>
          <a:prstGeom prst="roundRect">
            <a:avLst>
              <a:gd name="adj" fmla="val 5926"/>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5" name="Text 3"/>
          <p:cNvSpPr/>
          <p:nvPr/>
        </p:nvSpPr>
        <p:spPr>
          <a:xfrm>
            <a:off x="822960" y="1572768"/>
            <a:ext cx="10515600" cy="292608"/>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La idea: romper la red a propósito, en el computador, para ver cuánto aguanta</a:t>
            </a:r>
            <a:endParaRPr lang="en-US" sz="1550" dirty="0"/>
          </a:p>
        </p:txBody>
      </p:sp>
      <p:sp>
        <p:nvSpPr>
          <p:cNvPr id="6" name="Text 4"/>
          <p:cNvSpPr/>
          <p:nvPr/>
        </p:nvSpPr>
        <p:spPr>
          <a:xfrm>
            <a:off x="822960" y="1901952"/>
            <a:ext cx="10515600" cy="685800"/>
          </a:xfrm>
          <a:prstGeom prst="rect">
            <a:avLst/>
          </a:prstGeom>
          <a:noFill/>
          <a:ln/>
        </p:spPr>
        <p:txBody>
          <a:bodyPr wrap="square" lIns="0" tIns="0" rIns="0" bIns="0" rtlCol="0" anchor="t"/>
          <a:lstStyle/>
          <a:p>
            <a:pPr indent="0" marL="0">
              <a:buNone/>
            </a:pPr>
            <a:r>
              <a:rPr lang="en-US" sz="1350" dirty="0">
                <a:solidFill>
                  <a:srgbClr val="1B1F2A"/>
                </a:solidFill>
                <a:latin typeface="Calibri" pitchFamily="34" charset="0"/>
                <a:ea typeface="Calibri" pitchFamily="34" charset="-122"/>
                <a:cs typeface="Calibri" pitchFamily="34" charset="-120"/>
              </a:rPr>
              <a:t>Se van quitando equipos uno a uno y se mide qué fracción de la red sigue comunicada. Lo hice de dos maneras muy distintas, y la comparación es el resultado más importante de esta parte:</a:t>
            </a:r>
            <a:endParaRPr lang="en-US" sz="1350" dirty="0"/>
          </a:p>
        </p:txBody>
      </p:sp>
      <p:sp>
        <p:nvSpPr>
          <p:cNvPr id="7" name="Shape 5"/>
          <p:cNvSpPr/>
          <p:nvPr/>
        </p:nvSpPr>
        <p:spPr>
          <a:xfrm>
            <a:off x="548640" y="2880360"/>
            <a:ext cx="5349240" cy="1600200"/>
          </a:xfrm>
          <a:prstGeom prst="roundRect">
            <a:avLst>
              <a:gd name="adj" fmla="val 4571"/>
            </a:avLst>
          </a:prstGeom>
          <a:solidFill>
            <a:srgbClr val="EDF1FB"/>
          </a:solidFill>
          <a:ln w="12700">
            <a:solidFill>
              <a:srgbClr val="EDF1FB"/>
            </a:solidFill>
            <a:prstDash val="solid"/>
          </a:ln>
          <a:effectLst>
            <a:outerShdw sx="100000" sy="100000" kx="0" ky="0" algn="bl" rotWithShape="0" blurRad="76200" dist="508" dir="5400000">
              <a:srgbClr val="9AA3B0">
                <a:alpha val="25000"/>
              </a:srgbClr>
            </a:outerShdw>
          </a:effectLst>
        </p:spPr>
      </p:sp>
      <p:sp>
        <p:nvSpPr>
          <p:cNvPr id="8" name="Text 6"/>
          <p:cNvSpPr/>
          <p:nvPr/>
        </p:nvSpPr>
        <p:spPr>
          <a:xfrm>
            <a:off x="822960" y="2999232"/>
            <a:ext cx="4800600" cy="29260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Fallo ALEATORIO</a:t>
            </a:r>
            <a:endParaRPr lang="en-US" sz="1700" dirty="0"/>
          </a:p>
        </p:txBody>
      </p:sp>
      <p:sp>
        <p:nvSpPr>
          <p:cNvPr id="9" name="Text 7"/>
          <p:cNvSpPr/>
          <p:nvPr/>
        </p:nvSpPr>
        <p:spPr>
          <a:xfrm>
            <a:off x="822960" y="3328416"/>
            <a:ext cx="4800600" cy="68580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Quito equipos al azar. Modela lo que pasa en la vida real: se quema una fuente, se corta la luz, falla un equipo viejo.</a:t>
            </a:r>
            <a:endParaRPr lang="en-US" sz="1300" dirty="0"/>
          </a:p>
        </p:txBody>
      </p:sp>
      <p:sp>
        <p:nvSpPr>
          <p:cNvPr id="10" name="Text 8"/>
          <p:cNvSpPr/>
          <p:nvPr/>
        </p:nvSpPr>
        <p:spPr>
          <a:xfrm>
            <a:off x="822960" y="4041648"/>
            <a:ext cx="4800600" cy="274320"/>
          </a:xfrm>
          <a:prstGeom prst="rect">
            <a:avLst/>
          </a:prstGeom>
          <a:noFill/>
          <a:ln/>
        </p:spPr>
        <p:txBody>
          <a:bodyPr wrap="square" lIns="0" tIns="0" rIns="0" bIns="0" rtlCol="0" anchor="ctr"/>
          <a:lstStyle/>
          <a:p>
            <a:pPr indent="0" marL="0">
              <a:buNone/>
            </a:pPr>
            <a:r>
              <a:rPr lang="en-US" sz="1200" i="1" dirty="0">
                <a:solidFill>
                  <a:srgbClr val="5B6472"/>
                </a:solidFill>
                <a:latin typeface="Calibri" pitchFamily="34" charset="0"/>
                <a:ea typeface="Calibri" pitchFamily="34" charset="-122"/>
                <a:cs typeface="Calibri" pitchFamily="34" charset="-120"/>
              </a:rPr>
              <a:t>Promedio de 100 simulaciones.</a:t>
            </a:r>
            <a:endParaRPr lang="en-US" sz="1200" dirty="0"/>
          </a:p>
        </p:txBody>
      </p:sp>
      <p:sp>
        <p:nvSpPr>
          <p:cNvPr id="11" name="Shape 9"/>
          <p:cNvSpPr/>
          <p:nvPr/>
        </p:nvSpPr>
        <p:spPr>
          <a:xfrm>
            <a:off x="6263640" y="2880360"/>
            <a:ext cx="5349240" cy="1600200"/>
          </a:xfrm>
          <a:prstGeom prst="roundRect">
            <a:avLst>
              <a:gd name="adj" fmla="val 4571"/>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12" name="Text 10"/>
          <p:cNvSpPr/>
          <p:nvPr/>
        </p:nvSpPr>
        <p:spPr>
          <a:xfrm>
            <a:off x="6537960" y="2999232"/>
            <a:ext cx="4800600" cy="292608"/>
          </a:xfrm>
          <a:prstGeom prst="rect">
            <a:avLst/>
          </a:prstGeom>
          <a:noFill/>
          <a:ln/>
        </p:spPr>
        <p:txBody>
          <a:bodyPr wrap="square" lIns="0" tIns="0" rIns="0" bIns="0" rtlCol="0" anchor="ctr"/>
          <a:lstStyle/>
          <a:p>
            <a:pPr indent="0" marL="0">
              <a:buNone/>
            </a:pPr>
            <a:r>
              <a:rPr lang="en-US" sz="1700" b="1" dirty="0">
                <a:solidFill>
                  <a:srgbClr val="A01A24"/>
                </a:solidFill>
                <a:latin typeface="Cambria" pitchFamily="34" charset="0"/>
                <a:ea typeface="Cambria" pitchFamily="34" charset="-122"/>
                <a:cs typeface="Cambria" pitchFamily="34" charset="-120"/>
              </a:rPr>
              <a:t>ATAQUE DIRIGIDO</a:t>
            </a:r>
            <a:endParaRPr lang="en-US" sz="1700" dirty="0"/>
          </a:p>
        </p:txBody>
      </p:sp>
      <p:sp>
        <p:nvSpPr>
          <p:cNvPr id="13" name="Text 11"/>
          <p:cNvSpPr/>
          <p:nvPr/>
        </p:nvSpPr>
        <p:spPr>
          <a:xfrm>
            <a:off x="6537960" y="3328416"/>
            <a:ext cx="4800600" cy="68580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Quito primero los equipos más importantes. Modela a alguien que sabe lo que hace: un atacante, o un sabotaje.</a:t>
            </a:r>
            <a:endParaRPr lang="en-US" sz="1300" dirty="0"/>
          </a:p>
        </p:txBody>
      </p:sp>
      <p:sp>
        <p:nvSpPr>
          <p:cNvPr id="14" name="Text 12"/>
          <p:cNvSpPr/>
          <p:nvPr/>
        </p:nvSpPr>
        <p:spPr>
          <a:xfrm>
            <a:off x="6537960" y="4041648"/>
            <a:ext cx="4800600" cy="274320"/>
          </a:xfrm>
          <a:prstGeom prst="rect">
            <a:avLst/>
          </a:prstGeom>
          <a:noFill/>
          <a:ln/>
        </p:spPr>
        <p:txBody>
          <a:bodyPr wrap="square" lIns="0" tIns="0" rIns="0" bIns="0" rtlCol="0" anchor="ctr"/>
          <a:lstStyle/>
          <a:p>
            <a:pPr indent="0" marL="0">
              <a:buNone/>
            </a:pPr>
            <a:r>
              <a:rPr lang="en-US" sz="1200" i="1" dirty="0">
                <a:solidFill>
                  <a:srgbClr val="5B6472"/>
                </a:solidFill>
                <a:latin typeface="Calibri" pitchFamily="34" charset="0"/>
                <a:ea typeface="Calibri" pitchFamily="34" charset="-122"/>
                <a:cs typeface="Calibri" pitchFamily="34" charset="-120"/>
              </a:rPr>
              <a:t>También se aplicó a los cables, no solo a los equipos.</a:t>
            </a:r>
            <a:endParaRPr lang="en-US" sz="1200" dirty="0"/>
          </a:p>
        </p:txBody>
      </p:sp>
      <p:sp>
        <p:nvSpPr>
          <p:cNvPr id="15" name="Shape 13"/>
          <p:cNvSpPr/>
          <p:nvPr/>
        </p:nvSpPr>
        <p:spPr>
          <a:xfrm>
            <a:off x="548640" y="4617720"/>
            <a:ext cx="11064240" cy="1481328"/>
          </a:xfrm>
          <a:prstGeom prst="roundRect">
            <a:avLst>
              <a:gd name="adj" fmla="val 4938"/>
            </a:avLst>
          </a:prstGeom>
          <a:solidFill>
            <a:srgbClr val="2A3A7A"/>
          </a:solidFill>
          <a:ln w="12700">
            <a:solidFill>
              <a:srgbClr val="2A3A7A"/>
            </a:solidFill>
            <a:prstDash val="solid"/>
          </a:ln>
          <a:effectLst>
            <a:outerShdw sx="100000" sy="100000" kx="0" ky="0" algn="bl" rotWithShape="0" blurRad="76200" dist="508" dir="5400000">
              <a:srgbClr val="9AA3B0">
                <a:alpha val="25000"/>
              </a:srgbClr>
            </a:outerShdw>
          </a:effectLst>
        </p:spPr>
      </p:sp>
      <p:sp>
        <p:nvSpPr>
          <p:cNvPr id="16" name="Text 14"/>
          <p:cNvSpPr/>
          <p:nvPr/>
        </p:nvSpPr>
        <p:spPr>
          <a:xfrm>
            <a:off x="868680" y="4709160"/>
            <a:ext cx="10424160" cy="274320"/>
          </a:xfrm>
          <a:prstGeom prst="rect">
            <a:avLst/>
          </a:prstGeom>
          <a:noFill/>
          <a:ln/>
        </p:spPr>
        <p:txBody>
          <a:bodyPr wrap="square" lIns="0" tIns="0" rIns="0" bIns="0" rtlCol="0" anchor="ctr"/>
          <a:lstStyle/>
          <a:p>
            <a:pPr indent="0" marL="0">
              <a:buNone/>
            </a:pPr>
            <a:r>
              <a:rPr lang="en-US" sz="1250" b="1" spc="120" kern="0" dirty="0">
                <a:solidFill>
                  <a:srgbClr val="CADCFC"/>
                </a:solidFill>
                <a:latin typeface="Calibri" pitchFamily="34" charset="0"/>
                <a:ea typeface="Calibri" pitchFamily="34" charset="-122"/>
                <a:cs typeface="Calibri" pitchFamily="34" charset="-120"/>
              </a:rPr>
              <a:t>El resultado, en una sola frase</a:t>
            </a:r>
            <a:endParaRPr lang="en-US" sz="1250" dirty="0"/>
          </a:p>
        </p:txBody>
      </p:sp>
      <p:sp>
        <p:nvSpPr>
          <p:cNvPr id="17" name="Text 15"/>
          <p:cNvSpPr/>
          <p:nvPr/>
        </p:nvSpPr>
        <p:spPr>
          <a:xfrm>
            <a:off x="868680" y="5010912"/>
            <a:ext cx="104241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Para romper la mitad de la red hacen falta 42 equipos al azar… o solo 4 bien elegidos.</a:t>
            </a:r>
            <a:endParaRPr lang="en-US" sz="2000" dirty="0"/>
          </a:p>
        </p:txBody>
      </p:sp>
      <p:sp>
        <p:nvSpPr>
          <p:cNvPr id="18" name="Text 16"/>
          <p:cNvSpPr/>
          <p:nvPr/>
        </p:nvSpPr>
        <p:spPr>
          <a:xfrm>
            <a:off x="868680" y="5623560"/>
            <a:ext cx="10424160" cy="347472"/>
          </a:xfrm>
          <a:prstGeom prst="rect">
            <a:avLst/>
          </a:prstGeom>
          <a:noFill/>
          <a:ln/>
        </p:spPr>
        <p:txBody>
          <a:bodyPr wrap="square" lIns="0" tIns="0" rIns="0" bIns="0"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La red aguanta muy bien la mala suerte y muy mal la mala intención.</a:t>
            </a:r>
            <a:endParaRPr lang="en-US" sz="1350" dirty="0"/>
          </a:p>
        </p:txBody>
      </p:sp>
      <p:sp>
        <p:nvSpPr>
          <p:cNvPr id="20" name="Text 17"/>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21" name="Text 18"/>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PERCOLACIÓN  ·  RESULTADOS</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La curva que lo demuestra</a:t>
            </a:r>
            <a:endParaRPr lang="en-US" sz="3100" dirty="0"/>
          </a:p>
        </p:txBody>
      </p:sp>
      <p:pic>
        <p:nvPicPr>
          <p:cNvPr id="4" name="Image 0" descr="p8_percolacion_nodos.png">    </p:cNvPr>
          <p:cNvPicPr>
            <a:picLocks noChangeAspect="1"/>
          </p:cNvPicPr>
          <p:nvPr/>
        </p:nvPicPr>
        <p:blipFill>
          <a:blip r:embed="rId1"/>
          <a:stretch>
            <a:fillRect/>
          </a:stretch>
        </p:blipFill>
        <p:spPr>
          <a:xfrm>
            <a:off x="548640" y="1463040"/>
            <a:ext cx="5394960" cy="3593592"/>
          </a:xfrm>
          <a:prstGeom prst="rect">
            <a:avLst/>
          </a:prstGeom>
        </p:spPr>
      </p:pic>
      <p:sp>
        <p:nvSpPr>
          <p:cNvPr id="5" name="Text 2"/>
          <p:cNvSpPr/>
          <p:nvPr/>
        </p:nvSpPr>
        <p:spPr>
          <a:xfrm>
            <a:off x="548640" y="5120640"/>
            <a:ext cx="5394960" cy="548640"/>
          </a:xfrm>
          <a:prstGeom prst="rect">
            <a:avLst/>
          </a:prstGeom>
          <a:noFill/>
          <a:ln/>
        </p:spPr>
        <p:txBody>
          <a:bodyPr wrap="square" lIns="0" tIns="0" rIns="0" bIns="0"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Eje horizontal: fracción de equipos eliminados. Eje vertical: fracción de la red que sigue comunicada. La línea azul es el fallo aleatorio; las otras tres son ataques dirigidos.</a:t>
            </a:r>
            <a:endParaRPr lang="en-US" sz="1150" dirty="0"/>
          </a:p>
        </p:txBody>
      </p:sp>
      <p:sp>
        <p:nvSpPr>
          <p:cNvPr id="6" name="Shape 3"/>
          <p:cNvSpPr/>
          <p:nvPr/>
        </p:nvSpPr>
        <p:spPr>
          <a:xfrm>
            <a:off x="6217920" y="1463040"/>
            <a:ext cx="5394960" cy="1737360"/>
          </a:xfrm>
          <a:prstGeom prst="roundRect">
            <a:avLst>
              <a:gd name="adj" fmla="val 4211"/>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7" name="Text 4"/>
          <p:cNvSpPr/>
          <p:nvPr/>
        </p:nvSpPr>
        <p:spPr>
          <a:xfrm>
            <a:off x="6492240" y="1572768"/>
            <a:ext cx="4846320" cy="29260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Cómo leerla</a:t>
            </a:r>
            <a:endParaRPr lang="en-US" sz="1700" dirty="0"/>
          </a:p>
        </p:txBody>
      </p:sp>
      <p:sp>
        <p:nvSpPr>
          <p:cNvPr id="8" name="Text 5"/>
          <p:cNvSpPr/>
          <p:nvPr/>
        </p:nvSpPr>
        <p:spPr>
          <a:xfrm>
            <a:off x="6492240" y="1920240"/>
            <a:ext cx="4846320" cy="1143000"/>
          </a:xfrm>
          <a:prstGeom prst="rect">
            <a:avLst/>
          </a:prstGeom>
          <a:noFill/>
          <a:ln/>
        </p:spPr>
        <p:txBody>
          <a:bodyPr wrap="square" lIns="0" tIns="0" rIns="0" bIns="0" rtlCol="0" anchor="t"/>
          <a:lstStyle/>
          <a:p>
            <a:pPr indent="0" marL="0">
              <a:buNone/>
            </a:pPr>
            <a:r>
              <a:rPr lang="en-US" sz="1350" dirty="0">
                <a:solidFill>
                  <a:srgbClr val="1B1F2A"/>
                </a:solidFill>
                <a:latin typeface="Calibri" pitchFamily="34" charset="0"/>
                <a:ea typeface="Calibri" pitchFamily="34" charset="-122"/>
                <a:cs typeface="Calibri" pitchFamily="34" charset="-120"/>
              </a:rPr>
              <a:t>La línea azul baja despacio: la red resiste el azar. Las otras tres se desploman casi de inmediato: con menos del 5 % de los equipos eliminados, la red ya está partida.</a:t>
            </a:r>
            <a:endParaRPr lang="en-US" sz="1350" dirty="0"/>
          </a:p>
        </p:txBody>
      </p:sp>
      <p:sp>
        <p:nvSpPr>
          <p:cNvPr id="9" name="Shape 6"/>
          <p:cNvSpPr/>
          <p:nvPr/>
        </p:nvSpPr>
        <p:spPr>
          <a:xfrm>
            <a:off x="6217920" y="3337560"/>
            <a:ext cx="5394960" cy="1417320"/>
          </a:xfrm>
          <a:prstGeom prst="roundRect">
            <a:avLst>
              <a:gd name="adj" fmla="val 5161"/>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10" name="Text 7"/>
          <p:cNvSpPr/>
          <p:nvPr/>
        </p:nvSpPr>
        <p:spPr>
          <a:xfrm>
            <a:off x="6492240" y="3447288"/>
            <a:ext cx="4846320" cy="292608"/>
          </a:xfrm>
          <a:prstGeom prst="rect">
            <a:avLst/>
          </a:prstGeom>
          <a:noFill/>
          <a:ln/>
        </p:spPr>
        <p:txBody>
          <a:bodyPr wrap="square" lIns="0" tIns="0" rIns="0" bIns="0" rtlCol="0" anchor="ctr"/>
          <a:lstStyle/>
          <a:p>
            <a:pPr indent="0" marL="0">
              <a:buNone/>
            </a:pPr>
            <a:r>
              <a:rPr lang="en-US" sz="1700" b="1" dirty="0">
                <a:solidFill>
                  <a:srgbClr val="A01A24"/>
                </a:solidFill>
                <a:latin typeface="Cambria" pitchFamily="34" charset="0"/>
                <a:ea typeface="Cambria" pitchFamily="34" charset="-122"/>
                <a:cs typeface="Cambria" pitchFamily="34" charset="-120"/>
              </a:rPr>
              <a:t>Y hay algo peor</a:t>
            </a:r>
            <a:endParaRPr lang="en-US" sz="1700" dirty="0"/>
          </a:p>
        </p:txBody>
      </p:sp>
      <p:sp>
        <p:nvSpPr>
          <p:cNvPr id="11" name="Text 8"/>
          <p:cNvSpPr/>
          <p:nvPr/>
        </p:nvSpPr>
        <p:spPr>
          <a:xfrm>
            <a:off x="6492240" y="3794760"/>
            <a:ext cx="4846320" cy="868680"/>
          </a:xfrm>
          <a:prstGeom prst="rect">
            <a:avLst/>
          </a:prstGeom>
          <a:noFill/>
          <a:ln/>
        </p:spPr>
        <p:txBody>
          <a:bodyPr wrap="square" lIns="0" tIns="0" rIns="0" bIns="0" rtlCol="0" anchor="t"/>
          <a:lstStyle/>
          <a:p>
            <a:pPr indent="0" marL="0">
              <a:buNone/>
            </a:pPr>
            <a:r>
              <a:rPr lang="en-US" sz="1350" dirty="0">
                <a:solidFill>
                  <a:srgbClr val="1B1F2A"/>
                </a:solidFill>
                <a:latin typeface="Calibri" pitchFamily="34" charset="0"/>
                <a:ea typeface="Calibri" pitchFamily="34" charset="-122"/>
                <a:cs typeface="Calibri" pitchFamily="34" charset="-120"/>
              </a:rPr>
              <a:t>El servicio se degrada mucho ANTES de que la red se parta. Con solo el 5 % de equipos atacados, la red sigue «conectada» pero la calidad efectiva cae al 15 %.</a:t>
            </a:r>
            <a:endParaRPr lang="en-US" sz="1350" dirty="0"/>
          </a:p>
        </p:txBody>
      </p:sp>
      <p:sp>
        <p:nvSpPr>
          <p:cNvPr id="12" name="Shape 9"/>
          <p:cNvSpPr/>
          <p:nvPr/>
        </p:nvSpPr>
        <p:spPr>
          <a:xfrm>
            <a:off x="6217920" y="4892040"/>
            <a:ext cx="5394960" cy="1188720"/>
          </a:xfrm>
          <a:prstGeom prst="roundRect">
            <a:avLst>
              <a:gd name="adj" fmla="val 6154"/>
            </a:avLst>
          </a:prstGeom>
          <a:solidFill>
            <a:srgbClr val="EDF1FB"/>
          </a:solidFill>
          <a:ln w="12700">
            <a:solidFill>
              <a:srgbClr val="EDF1FB"/>
            </a:solidFill>
            <a:prstDash val="solid"/>
          </a:ln>
          <a:effectLst>
            <a:outerShdw sx="100000" sy="100000" kx="0" ky="0" algn="bl" rotWithShape="0" blurRad="76200" dist="508" dir="5400000">
              <a:srgbClr val="9AA3B0">
                <a:alpha val="25000"/>
              </a:srgbClr>
            </a:outerShdw>
          </a:effectLst>
        </p:spPr>
      </p:sp>
      <p:sp>
        <p:nvSpPr>
          <p:cNvPr id="13" name="Text 10"/>
          <p:cNvSpPr/>
          <p:nvPr/>
        </p:nvSpPr>
        <p:spPr>
          <a:xfrm>
            <a:off x="6492240" y="5029200"/>
            <a:ext cx="4846320" cy="914400"/>
          </a:xfrm>
          <a:prstGeom prst="rect">
            <a:avLst/>
          </a:prstGeom>
          <a:noFill/>
          <a:ln/>
        </p:spPr>
        <p:txBody>
          <a:bodyPr wrap="square" lIns="0" tIns="0" rIns="0" bIns="0" rtlCol="0" anchor="t"/>
          <a:lstStyle/>
          <a:p>
            <a:pPr indent="0" marL="0">
              <a:buNone/>
            </a:pPr>
            <a:r>
              <a:rPr lang="en-US" sz="1350" b="1" dirty="0">
                <a:solidFill>
                  <a:srgbClr val="1E2761"/>
                </a:solidFill>
                <a:latin typeface="Calibri" pitchFamily="34" charset="0"/>
                <a:ea typeface="Calibri" pitchFamily="34" charset="-122"/>
                <a:cs typeface="Calibri" pitchFamily="34" charset="-120"/>
              </a:rPr>
              <a:t>Qué significa para la universidad: un monitoreo que solo avise cuando algo «se cae» se entera tarde. Para entonces el usuario lleva rato sufriendo lentitud.</a:t>
            </a:r>
            <a:endParaRPr lang="en-US" sz="1350" dirty="0"/>
          </a:p>
        </p:txBody>
      </p:sp>
      <p:sp>
        <p:nvSpPr>
          <p:cNvPr id="15" name="Text 11"/>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6" name="Text 12"/>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PUNTOS CRÍTICOS</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Los cinco equipos que hay que cuidar</a:t>
            </a:r>
            <a:endParaRPr lang="en-US" sz="3100" dirty="0"/>
          </a:p>
        </p:txBody>
      </p:sp>
      <p:sp>
        <p:nvSpPr>
          <p:cNvPr id="4" name="Text 2"/>
          <p:cNvSpPr/>
          <p:nvPr/>
        </p:nvSpPr>
        <p:spPr>
          <a:xfrm>
            <a:off x="548640" y="1444752"/>
            <a:ext cx="11064240" cy="548640"/>
          </a:xfrm>
          <a:prstGeom prst="rect">
            <a:avLst/>
          </a:prstGeom>
          <a:noFill/>
          <a:ln/>
        </p:spPr>
        <p:txBody>
          <a:bodyPr wrap="square" lIns="0" tIns="0" rIns="0" bIns="0" rtlCol="0" anchor="ctr"/>
          <a:lstStyle/>
          <a:p>
            <a:pPr indent="0" marL="0">
              <a:buNone/>
            </a:pPr>
            <a:r>
              <a:rPr lang="en-US" sz="1350" dirty="0">
                <a:solidFill>
                  <a:srgbClr val="1B1F2A"/>
                </a:solidFill>
                <a:latin typeface="Calibri" pitchFamily="34" charset="0"/>
                <a:ea typeface="Calibri" pitchFamily="34" charset="-122"/>
                <a:cs typeface="Calibri" pitchFamily="34" charset="-120"/>
              </a:rPr>
              <a:t>Combiné cuatro señales distintas —cuánto tráfico de paso soporta cada equipo, si su caída desconecta a otros, si forma parte de un cuello de botella y cuánto daño provoca— en un único ranking. Estos son los cinco primeros:</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502920"/>
                <a:gridCol w="2606040"/>
                <a:gridCol w="2103120"/>
                <a:gridCol w="585216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Equipo</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Dónde está</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Qué pasa si falla</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r>
              <a:tr h="566928">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INTERNET-MPLS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Nube del proveedor</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Toda la universidad se queda sin Internet y sin comunicación entre campus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66928">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BAL-AUL2-D1</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Balzay</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10 equipos de aulas quedan aislados. Es el que más usuarios deja sin servicio por sí solo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66928">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DATCC-2A-C3</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Central</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La red NO se parte (tiene gemelo), pero Central pierde la mitad de su capacidad</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66928">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CPAR-C10</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Paraíso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Campus Paraíso entero se desconecta: 44 equipos, el 25 % de la universidad</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66928">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ROUTER-HUAYNA-CAPAC</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Paraíso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Lo mismo: es el otro eslabón de la cadena de Paraíso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sp>
        <p:nvSpPr>
          <p:cNvPr id="6" name="Shape 3"/>
          <p:cNvSpPr/>
          <p:nvPr/>
        </p:nvSpPr>
        <p:spPr>
          <a:xfrm>
            <a:off x="548640" y="5212080"/>
            <a:ext cx="11064240" cy="868680"/>
          </a:xfrm>
          <a:prstGeom prst="roundRect">
            <a:avLst>
              <a:gd name="adj" fmla="val 8421"/>
            </a:avLst>
          </a:prstGeom>
          <a:solidFill>
            <a:srgbClr val="EDF1FB"/>
          </a:solidFill>
          <a:ln w="12700">
            <a:solidFill>
              <a:srgbClr val="EDF1FB"/>
            </a:solidFill>
            <a:prstDash val="solid"/>
          </a:ln>
          <a:effectLst>
            <a:outerShdw sx="100000" sy="100000" kx="0" ky="0" algn="bl" rotWithShape="0" blurRad="76200" dist="508" dir="5400000">
              <a:srgbClr val="9AA3B0">
                <a:alpha val="25000"/>
              </a:srgbClr>
            </a:outerShdw>
          </a:effectLst>
        </p:spPr>
      </p:sp>
      <p:sp>
        <p:nvSpPr>
          <p:cNvPr id="7" name="Text 4"/>
          <p:cNvSpPr/>
          <p:nvPr/>
        </p:nvSpPr>
        <p:spPr>
          <a:xfrm>
            <a:off x="822960" y="5349240"/>
            <a:ext cx="10515600" cy="640080"/>
          </a:xfrm>
          <a:prstGeom prst="rect">
            <a:avLst/>
          </a:prstGeom>
          <a:noFill/>
          <a:ln/>
        </p:spPr>
        <p:txBody>
          <a:bodyPr wrap="square" lIns="0" tIns="0" rIns="0" bIns="0" rtlCol="0" anchor="ctr"/>
          <a:lstStyle/>
          <a:p>
            <a:pPr indent="0" marL="0">
              <a:buNone/>
            </a:pPr>
            <a:r>
              <a:rPr lang="en-US" sz="1350" dirty="0">
                <a:solidFill>
                  <a:srgbClr val="1E2761"/>
                </a:solidFill>
                <a:latin typeface="Calibri" pitchFamily="34" charset="0"/>
                <a:ea typeface="Calibri" pitchFamily="34" charset="-122"/>
                <a:cs typeface="Calibri" pitchFamily="34" charset="-120"/>
              </a:rPr>
              <a:t>La sorpresa fue el puesto 2: BAL-AUL2-D1 no es un equipo importante por sí mismo, pero es el único paso hacia diez aulas. Ninguna medida por separado lo habría detectado — hizo falta combinar las cuatro.</a:t>
            </a:r>
            <a:endParaRPr lang="en-US" sz="1350" dirty="0"/>
          </a:p>
        </p:txBody>
      </p:sp>
      <p:sp>
        <p:nvSpPr>
          <p:cNvPr id="9" name="Text 5"/>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0" name="Text 6"/>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LA PROPUESTA</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Cinco cables nuevos, elegidos con criterio</a:t>
            </a:r>
            <a:endParaRPr lang="en-US" sz="3100" dirty="0"/>
          </a:p>
        </p:txBody>
      </p:sp>
      <p:sp>
        <p:nvSpPr>
          <p:cNvPr id="4" name="Text 2"/>
          <p:cNvSpPr/>
          <p:nvPr/>
        </p:nvSpPr>
        <p:spPr>
          <a:xfrm>
            <a:off x="548640" y="1444752"/>
            <a:ext cx="11064240" cy="365760"/>
          </a:xfrm>
          <a:prstGeom prst="rect">
            <a:avLst/>
          </a:prstGeom>
          <a:noFill/>
          <a:ln/>
        </p:spPr>
        <p:txBody>
          <a:bodyPr wrap="square" lIns="0" tIns="0" rIns="0" bIns="0" rtlCol="0" anchor="ctr"/>
          <a:lstStyle/>
          <a:p>
            <a:pPr indent="0" marL="0">
              <a:buNone/>
            </a:pPr>
            <a:r>
              <a:rPr lang="en-US" sz="1350" dirty="0">
                <a:solidFill>
                  <a:srgbClr val="1B1F2A"/>
                </a:solidFill>
                <a:latin typeface="Calibri" pitchFamily="34" charset="0"/>
                <a:ea typeface="Calibri" pitchFamily="34" charset="-122"/>
                <a:cs typeface="Calibri" pitchFamily="34" charset="-120"/>
              </a:rPr>
              <a:t>El enunciado permite un máximo de cinco cambios. Cada uno de los míos sale de un problema concreto que el análisis detectó, no de una intuición.</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502920"/>
                <a:gridCol w="5120640"/>
                <a:gridCol w="5440680"/>
              </a:tblGrid>
              <a:tr h="5486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Qué hacer</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Por qué</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r>
              <a:tr h="548640">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Ampliar a 10 Gbps el único cable de salida de Paraíso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Es el cuello de botella más grave de la universidad. Hoy son 1 000 Mbps para 35 equipos.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48640">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Dar una segunda ruta a Hospitalidad</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Depende de un solo cable hacia el proveedor</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48640">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Dar una segunda ruta al Consultorio Jurídico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Mismo problema que Hospitalidad</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48640">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Dar una segunda ruta a Yanuncay</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Sus 11 equipos salen del campus por un único cable</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548640">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Ruta alterna para el equipo más cargado de Balzay</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Mitiga el punto crítico número 2 del ranking</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sp>
        <p:nvSpPr>
          <p:cNvPr id="6" name="Shape 3"/>
          <p:cNvSpPr/>
          <p:nvPr/>
        </p:nvSpPr>
        <p:spPr>
          <a:xfrm>
            <a:off x="548640" y="4892040"/>
            <a:ext cx="11064240" cy="1188720"/>
          </a:xfrm>
          <a:prstGeom prst="roundRect">
            <a:avLst>
              <a:gd name="adj" fmla="val 6154"/>
            </a:avLst>
          </a:prstGeom>
          <a:solidFill>
            <a:srgbClr val="EDF1FB"/>
          </a:solidFill>
          <a:ln w="12700">
            <a:solidFill>
              <a:srgbClr val="EDF1FB"/>
            </a:solidFill>
            <a:prstDash val="solid"/>
          </a:ln>
          <a:effectLst>
            <a:outerShdw sx="100000" sy="100000" kx="0" ky="0" algn="bl" rotWithShape="0" blurRad="76200" dist="508" dir="5400000">
              <a:srgbClr val="9AA3B0">
                <a:alpha val="25000"/>
              </a:srgbClr>
            </a:outerShdw>
          </a:effectLst>
        </p:spPr>
      </p:sp>
      <p:sp>
        <p:nvSpPr>
          <p:cNvPr id="7" name="Text 4"/>
          <p:cNvSpPr/>
          <p:nvPr/>
        </p:nvSpPr>
        <p:spPr>
          <a:xfrm>
            <a:off x="822960" y="5010912"/>
            <a:ext cx="105156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Y la número 1 es, además, la más barata</a:t>
            </a:r>
            <a:endParaRPr lang="en-US" sz="1500" dirty="0"/>
          </a:p>
        </p:txBody>
      </p:sp>
      <p:sp>
        <p:nvSpPr>
          <p:cNvPr id="8" name="Text 5"/>
          <p:cNvSpPr/>
          <p:nvPr/>
        </p:nvSpPr>
        <p:spPr>
          <a:xfrm>
            <a:off x="822960" y="5340096"/>
            <a:ext cx="10515600" cy="640080"/>
          </a:xfrm>
          <a:prstGeom prst="rect">
            <a:avLst/>
          </a:prstGeom>
          <a:noFill/>
          <a:ln/>
        </p:spPr>
        <p:txBody>
          <a:bodyPr wrap="square" lIns="0" tIns="0" rIns="0" bIns="0" rtlCol="0" anchor="t"/>
          <a:lstStyle/>
          <a:p>
            <a:pPr indent="0" marL="0">
              <a:buNone/>
            </a:pPr>
            <a:r>
              <a:rPr lang="en-US" sz="1350" dirty="0">
                <a:solidFill>
                  <a:srgbClr val="1B1F2A"/>
                </a:solidFill>
                <a:latin typeface="Calibri" pitchFamily="34" charset="0"/>
                <a:ea typeface="Calibri" pitchFamily="34" charset="-122"/>
                <a:cs typeface="Calibri" pitchFamily="34" charset="-120"/>
              </a:rPr>
              <a:t>El cable ya está tendido: solo hay que cambiar la óptica en los dos extremos y, quizá, contratar más ancho de banda al proveedor. Sin obra civil. Las intervenciones 2 y 3, en cambio, requieren fibra nueva, así que serían las más caras.</a:t>
            </a:r>
            <a:endParaRPr lang="en-US" sz="1350" dirty="0"/>
          </a:p>
        </p:txBody>
      </p:sp>
      <p:sp>
        <p:nvSpPr>
          <p:cNvPr id="10" name="Text 6"/>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1" name="Text 7"/>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ANTES Y DESPUÉS</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Qué mejora, con números</a:t>
            </a:r>
            <a:endParaRPr lang="en-US" sz="3100" dirty="0"/>
          </a:p>
        </p:txBody>
      </p:sp>
      <p:sp>
        <p:nvSpPr>
          <p:cNvPr id="4" name="Shape 2"/>
          <p:cNvSpPr/>
          <p:nvPr/>
        </p:nvSpPr>
        <p:spPr>
          <a:xfrm>
            <a:off x="548640" y="1463040"/>
            <a:ext cx="11064240" cy="1481328"/>
          </a:xfrm>
          <a:prstGeom prst="roundRect">
            <a:avLst>
              <a:gd name="adj" fmla="val 4938"/>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5" name="Text 3"/>
          <p:cNvSpPr/>
          <p:nvPr/>
        </p:nvSpPr>
        <p:spPr>
          <a:xfrm>
            <a:off x="868680" y="1554480"/>
            <a:ext cx="10424160" cy="274320"/>
          </a:xfrm>
          <a:prstGeom prst="rect">
            <a:avLst/>
          </a:prstGeom>
          <a:noFill/>
          <a:ln/>
        </p:spPr>
        <p:txBody>
          <a:bodyPr wrap="square" lIns="0" tIns="0" rIns="0" bIns="0" rtlCol="0" anchor="ctr"/>
          <a:lstStyle/>
          <a:p>
            <a:pPr indent="0" marL="0">
              <a:buNone/>
            </a:pPr>
            <a:r>
              <a:rPr lang="en-US" sz="1250" b="1" spc="120" kern="0" dirty="0">
                <a:solidFill>
                  <a:srgbClr val="A01A24"/>
                </a:solidFill>
                <a:latin typeface="Calibri" pitchFamily="34" charset="0"/>
                <a:ea typeface="Calibri" pitchFamily="34" charset="-122"/>
                <a:cs typeface="Calibri" pitchFamily="34" charset="-120"/>
              </a:rPr>
              <a:t>El cambio más grande</a:t>
            </a:r>
            <a:endParaRPr lang="en-US" sz="1250" dirty="0"/>
          </a:p>
        </p:txBody>
      </p:sp>
      <p:sp>
        <p:nvSpPr>
          <p:cNvPr id="6" name="Text 4"/>
          <p:cNvSpPr/>
          <p:nvPr/>
        </p:nvSpPr>
        <p:spPr>
          <a:xfrm>
            <a:off x="868680" y="1856232"/>
            <a:ext cx="1042416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 caudal de salida de Paraíso pasa de 1 000 a 10 000 Mbps: se multiplica por diez.</a:t>
            </a:r>
            <a:endParaRPr lang="en-US" sz="2000" dirty="0"/>
          </a:p>
        </p:txBody>
      </p:sp>
      <p:sp>
        <p:nvSpPr>
          <p:cNvPr id="7" name="Text 5"/>
          <p:cNvSpPr/>
          <p:nvPr/>
        </p:nvSpPr>
        <p:spPr>
          <a:xfrm>
            <a:off x="868680" y="2487168"/>
            <a:ext cx="10424160" cy="320040"/>
          </a:xfrm>
          <a:prstGeom prst="rect">
            <a:avLst/>
          </a:prstGeom>
          <a:noFill/>
          <a:ln/>
        </p:spPr>
        <p:txBody>
          <a:bodyPr wrap="square" lIns="0" tIns="0" rIns="0" bIns="0" rtlCol="0" anchor="ctr"/>
          <a:lstStyle/>
          <a:p>
            <a:pPr indent="0" marL="0">
              <a:buNone/>
            </a:pPr>
            <a:r>
              <a:rPr lang="en-US" sz="1350" i="1" dirty="0">
                <a:solidFill>
                  <a:srgbClr val="1B1F2A"/>
                </a:solidFill>
                <a:latin typeface="Calibri" pitchFamily="34" charset="0"/>
                <a:ea typeface="Calibri" pitchFamily="34" charset="-122"/>
                <a:cs typeface="Calibri" pitchFamily="34" charset="-120"/>
              </a:rPr>
              <a:t>Con una sola intervención, la más barata de las cinco.</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6583680" cy="914400"/>
        </p:xfrm>
        <a:graphic>
          <a:graphicData uri="http://schemas.openxmlformats.org/drawingml/2006/table">
            <a:tbl>
              <a:tblPr/>
              <a:tblGrid>
                <a:gridCol w="2926080"/>
                <a:gridCol w="1188720"/>
                <a:gridCol w="1280160"/>
                <a:gridCol w="118872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Qué se mide</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Antes</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Después</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Mejora</a:t>
                      </a:r>
                      <a:endParaRPr lang="en-US" sz="11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E2761"/>
                    </a:solidFill>
                  </a:tcPr>
                </a:tc>
              </a:tr>
              <a:tr h="384048">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Puntos únicos de fallo (cables)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141</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138</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84048">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Distancia media entre equipos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5,83 saltos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5,65 saltos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−3,1 %</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84048">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Calidad efectiva del servicio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0,2082</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0,2155</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+3,5 %</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84048">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Resistencia ante ataques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0,0477</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0,0495</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dirty="0">
                          <a:solidFill>
                            <a:srgbClr val="1B1F2A"/>
                          </a:solidFill>
                          <a:latin typeface="Calibri" pitchFamily="34" charset="0"/>
                          <a:ea typeface="Calibri" pitchFamily="34" charset="-122"/>
                          <a:cs typeface="Calibri" pitchFamily="34" charset="-120"/>
                        </a:rPr>
                        <a:t>+3,7 %</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84048">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Caudal de salida de Paraíso</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1 000 Mbps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10 000 Mbps</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algn="l" indent="0" marL="0">
                        <a:buNone/>
                      </a:pPr>
                      <a:r>
                        <a:rPr lang="en-US" sz="1250" b="1" dirty="0">
                          <a:solidFill>
                            <a:srgbClr val="A01A24"/>
                          </a:solidFill>
                          <a:latin typeface="Calibri" pitchFamily="34" charset="0"/>
                          <a:ea typeface="Calibri" pitchFamily="34" charset="-122"/>
                          <a:cs typeface="Calibri" pitchFamily="34" charset="-120"/>
                        </a:rPr>
                        <a:t>+900 %</a:t>
                      </a:r>
                      <a:endParaRPr lang="en-US" sz="1250" dirty="0">
                        <a:latin typeface="Calibri" charset="0"/>
                        <a:ea typeface="Calibri" charset="0"/>
                        <a:cs typeface="Calibri" charset="0"/>
                      </a:endParaRPr>
                    </a:p>
                  </a:txBody>
                  <a:tcPr marL="91440" marR="9144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sp>
        <p:nvSpPr>
          <p:cNvPr id="9" name="Shape 6"/>
          <p:cNvSpPr/>
          <p:nvPr/>
        </p:nvSpPr>
        <p:spPr>
          <a:xfrm>
            <a:off x="7406640" y="3108960"/>
            <a:ext cx="4206240" cy="2697480"/>
          </a:xfrm>
          <a:prstGeom prst="roundRect">
            <a:avLst>
              <a:gd name="adj" fmla="val 2712"/>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0" name="Text 7"/>
          <p:cNvSpPr/>
          <p:nvPr/>
        </p:nvSpPr>
        <p:spPr>
          <a:xfrm>
            <a:off x="7680960" y="3246120"/>
            <a:ext cx="3931920" cy="5486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¿Y si se eligieran los cables al azar?</a:t>
            </a:r>
            <a:endParaRPr lang="en-US" sz="1600" dirty="0"/>
          </a:p>
        </p:txBody>
      </p:sp>
      <p:sp>
        <p:nvSpPr>
          <p:cNvPr id="11" name="Text 8"/>
          <p:cNvSpPr/>
          <p:nvPr/>
        </p:nvSpPr>
        <p:spPr>
          <a:xfrm>
            <a:off x="7680960" y="3794760"/>
            <a:ext cx="3657600" cy="1920240"/>
          </a:xfrm>
          <a:prstGeom prst="rect">
            <a:avLst/>
          </a:prstGeom>
          <a:noFill/>
          <a:ln/>
        </p:spPr>
        <p:txBody>
          <a:bodyPr wrap="square" lIns="0" tIns="0" rIns="0" bIns="0" rtlCol="0" anchor="t"/>
          <a:lstStyle/>
          <a:p>
            <a:pPr indent="0" marL="0">
              <a:spcAft>
                <a:spcPts val="800"/>
              </a:spcAft>
              <a:buNone/>
            </a:pPr>
            <a:r>
              <a:rPr lang="en-US" sz="1300" dirty="0">
                <a:solidFill>
                  <a:srgbClr val="1B1F2A"/>
                </a:solidFill>
                <a:latin typeface="Calibri" pitchFamily="34" charset="0"/>
                <a:ea typeface="Calibri" pitchFamily="34" charset="-122"/>
                <a:cs typeface="Calibri" pitchFamily="34" charset="-120"/>
              </a:rPr>
              <a:t>Lo comprobé: probé dos alternativas «sin pensar» —unir los equipos más conectados, y poner cinco cables al azar.</a:t>
            </a:r>
            <a:endParaRPr lang="en-US" sz="1300" dirty="0"/>
          </a:p>
          <a:p>
            <a:pPr indent="0" marL="0">
              <a:spcAft>
                <a:spcPts val="800"/>
              </a:spcAft>
              <a:buNone/>
            </a:pPr>
            <a:r>
              <a:rPr lang="en-US" sz="1300" b="1" dirty="0">
                <a:solidFill>
                  <a:srgbClr val="1B1F2A"/>
                </a:solidFill>
                <a:latin typeface="Calibri" pitchFamily="34" charset="0"/>
                <a:ea typeface="Calibri" pitchFamily="34" charset="-122"/>
                <a:cs typeface="Calibri" pitchFamily="34" charset="-120"/>
              </a:rPr>
              <a:t>Las dos mejoran los promedios… y ninguna resuelve Paraíso: lo dejan en 2 000 en vez de 10 000. Ninguna toca Hospitalidad.</a:t>
            </a:r>
            <a:endParaRPr lang="en-US" sz="1300" dirty="0"/>
          </a:p>
          <a:p>
            <a:pPr indent="0" marL="0">
              <a:spcAft>
                <a:spcPts val="800"/>
              </a:spcAft>
              <a:buNone/>
            </a:pPr>
            <a:r>
              <a:rPr lang="en-US" sz="1300" i="1" dirty="0">
                <a:solidFill>
                  <a:srgbClr val="1B1F2A"/>
                </a:solidFill>
                <a:latin typeface="Calibri" pitchFamily="34" charset="0"/>
                <a:ea typeface="Calibri" pitchFamily="34" charset="-122"/>
                <a:cs typeface="Calibri" pitchFamily="34" charset="-120"/>
              </a:rPr>
              <a:t>La lección: mejorar un promedio no es lo mismo que reparar una avería.</a:t>
            </a:r>
            <a:endParaRPr lang="en-US" sz="1300" dirty="0"/>
          </a:p>
        </p:txBody>
      </p:sp>
      <p:sp>
        <p:nvSpPr>
          <p:cNvPr id="13" name="Text 9"/>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4" name="Text 10"/>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150" b="1" spc="140" kern="0" dirty="0">
                <a:solidFill>
                  <a:srgbClr val="A01A24"/>
                </a:solidFill>
                <a:latin typeface="Calibri" pitchFamily="34" charset="0"/>
                <a:ea typeface="Calibri" pitchFamily="34" charset="-122"/>
                <a:cs typeface="Calibri" pitchFamily="34" charset="-120"/>
              </a:rPr>
              <a:t>CONCLUSIONES</a:t>
            </a:r>
            <a:endParaRPr lang="en-US" sz="1150" dirty="0"/>
          </a:p>
        </p:txBody>
      </p:sp>
      <p:sp>
        <p:nvSpPr>
          <p:cNvPr id="3" name="Text 1"/>
          <p:cNvSpPr/>
          <p:nvPr/>
        </p:nvSpPr>
        <p:spPr>
          <a:xfrm>
            <a:off x="548640" y="548640"/>
            <a:ext cx="11064240" cy="685800"/>
          </a:xfrm>
          <a:prstGeom prst="rect">
            <a:avLst/>
          </a:prstGeom>
          <a:noFill/>
          <a:ln/>
        </p:spPr>
        <p:txBody>
          <a:bodyPr wrap="square" lIns="0" tIns="0" rIns="0" bIns="0" rtlCol="0" anchor="t"/>
          <a:lstStyle/>
          <a:p>
            <a:pPr indent="0" marL="0">
              <a:buNone/>
            </a:pPr>
            <a:r>
              <a:rPr lang="en-US" sz="3100" b="1" dirty="0">
                <a:solidFill>
                  <a:srgbClr val="1E2761"/>
                </a:solidFill>
                <a:latin typeface="Cambria" pitchFamily="34" charset="0"/>
                <a:ea typeface="Cambria" pitchFamily="34" charset="-122"/>
                <a:cs typeface="Cambria" pitchFamily="34" charset="-120"/>
              </a:rPr>
              <a:t>Lo que aprendí de esta red</a:t>
            </a:r>
            <a:endParaRPr lang="en-US" sz="3100" dirty="0"/>
          </a:p>
        </p:txBody>
      </p:sp>
      <p:sp>
        <p:nvSpPr>
          <p:cNvPr id="4" name="Shape 2"/>
          <p:cNvSpPr/>
          <p:nvPr/>
        </p:nvSpPr>
        <p:spPr>
          <a:xfrm>
            <a:off x="548640" y="1481328"/>
            <a:ext cx="11064240" cy="841248"/>
          </a:xfrm>
          <a:prstGeom prst="roundRect">
            <a:avLst>
              <a:gd name="adj" fmla="val 8696"/>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5" name="Shape 3"/>
          <p:cNvSpPr/>
          <p:nvPr/>
        </p:nvSpPr>
        <p:spPr>
          <a:xfrm>
            <a:off x="777240" y="1709928"/>
            <a:ext cx="384048" cy="384048"/>
          </a:xfrm>
          <a:prstGeom prst="ellipse">
            <a:avLst/>
          </a:prstGeom>
          <a:solidFill>
            <a:srgbClr val="1E2761"/>
          </a:solidFill>
          <a:ln w="12700">
            <a:solidFill>
              <a:srgbClr val="1E2761"/>
            </a:solidFill>
            <a:prstDash val="solid"/>
          </a:ln>
        </p:spPr>
      </p:sp>
      <p:sp>
        <p:nvSpPr>
          <p:cNvPr id="6" name="Text 4"/>
          <p:cNvSpPr/>
          <p:nvPr/>
        </p:nvSpPr>
        <p:spPr>
          <a:xfrm>
            <a:off x="777240" y="1709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1600200"/>
            <a:ext cx="996696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Los algoritmos encontraron cosas que los planos no muestran</a:t>
            </a:r>
            <a:endParaRPr lang="en-US" sz="1450" dirty="0"/>
          </a:p>
        </p:txBody>
      </p:sp>
      <p:sp>
        <p:nvSpPr>
          <p:cNvPr id="8" name="Text 6"/>
          <p:cNvSpPr/>
          <p:nvPr/>
        </p:nvSpPr>
        <p:spPr>
          <a:xfrm>
            <a:off x="1325880" y="1901952"/>
            <a:ext cx="9966960" cy="329184"/>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Un bloque funcional de equipos de salida, rutas de once saltos y cuellos de botella que ningún diagrama dibuja.</a:t>
            </a:r>
            <a:endParaRPr lang="en-US" sz="1250" dirty="0"/>
          </a:p>
        </p:txBody>
      </p:sp>
      <p:sp>
        <p:nvSpPr>
          <p:cNvPr id="9" name="Shape 7"/>
          <p:cNvSpPr/>
          <p:nvPr/>
        </p:nvSpPr>
        <p:spPr>
          <a:xfrm>
            <a:off x="548640" y="2395728"/>
            <a:ext cx="11064240" cy="841248"/>
          </a:xfrm>
          <a:prstGeom prst="roundRect">
            <a:avLst>
              <a:gd name="adj" fmla="val 8696"/>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0" name="Shape 8"/>
          <p:cNvSpPr/>
          <p:nvPr/>
        </p:nvSpPr>
        <p:spPr>
          <a:xfrm>
            <a:off x="777240" y="2624328"/>
            <a:ext cx="384048" cy="384048"/>
          </a:xfrm>
          <a:prstGeom prst="ellipse">
            <a:avLst/>
          </a:prstGeom>
          <a:solidFill>
            <a:srgbClr val="1E2761"/>
          </a:solidFill>
          <a:ln w="12700">
            <a:solidFill>
              <a:srgbClr val="1E2761"/>
            </a:solidFill>
            <a:prstDash val="solid"/>
          </a:ln>
        </p:spPr>
      </p:sp>
      <p:sp>
        <p:nvSpPr>
          <p:cNvPr id="11" name="Text 9"/>
          <p:cNvSpPr/>
          <p:nvPr/>
        </p:nvSpPr>
        <p:spPr>
          <a:xfrm>
            <a:off x="777240" y="2624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25880" y="2514600"/>
            <a:ext cx="996696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La red aguanta la mala suerte, no la mala intención</a:t>
            </a:r>
            <a:endParaRPr lang="en-US" sz="1450" dirty="0"/>
          </a:p>
        </p:txBody>
      </p:sp>
      <p:sp>
        <p:nvSpPr>
          <p:cNvPr id="13" name="Text 11"/>
          <p:cNvSpPr/>
          <p:nvPr/>
        </p:nvSpPr>
        <p:spPr>
          <a:xfrm>
            <a:off x="1325880" y="2816352"/>
            <a:ext cx="9966960" cy="329184"/>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42 equipos al azar para romperla, o 4 bien elegidos. Mantenimiento y seguridad necesitan planes distintos.</a:t>
            </a:r>
            <a:endParaRPr lang="en-US" sz="1250" dirty="0"/>
          </a:p>
        </p:txBody>
      </p:sp>
      <p:sp>
        <p:nvSpPr>
          <p:cNvPr id="14" name="Shape 12"/>
          <p:cNvSpPr/>
          <p:nvPr/>
        </p:nvSpPr>
        <p:spPr>
          <a:xfrm>
            <a:off x="548640" y="3310128"/>
            <a:ext cx="11064240" cy="841248"/>
          </a:xfrm>
          <a:prstGeom prst="roundRect">
            <a:avLst>
              <a:gd name="adj" fmla="val 8696"/>
            </a:avLst>
          </a:prstGeom>
          <a:solidFill>
            <a:srgbClr val="F4F6FA"/>
          </a:solidFill>
          <a:ln w="12700">
            <a:solidFill>
              <a:srgbClr val="F4F6FA"/>
            </a:solidFill>
            <a:prstDash val="solid"/>
          </a:ln>
          <a:effectLst>
            <a:outerShdw sx="100000" sy="100000" kx="0" ky="0" algn="bl" rotWithShape="0" blurRad="76200" dist="508" dir="5400000">
              <a:srgbClr val="9AA3B0">
                <a:alpha val="25000"/>
              </a:srgbClr>
            </a:outerShdw>
          </a:effectLst>
        </p:spPr>
      </p:sp>
      <p:sp>
        <p:nvSpPr>
          <p:cNvPr id="15" name="Shape 13"/>
          <p:cNvSpPr/>
          <p:nvPr/>
        </p:nvSpPr>
        <p:spPr>
          <a:xfrm>
            <a:off x="777240" y="3538728"/>
            <a:ext cx="384048" cy="384048"/>
          </a:xfrm>
          <a:prstGeom prst="ellipse">
            <a:avLst/>
          </a:prstGeom>
          <a:solidFill>
            <a:srgbClr val="1E2761"/>
          </a:solidFill>
          <a:ln w="12700">
            <a:solidFill>
              <a:srgbClr val="1E2761"/>
            </a:solidFill>
            <a:prstDash val="solid"/>
          </a:ln>
        </p:spPr>
      </p:sp>
      <p:sp>
        <p:nvSpPr>
          <p:cNvPr id="16" name="Text 14"/>
          <p:cNvSpPr/>
          <p:nvPr/>
        </p:nvSpPr>
        <p:spPr>
          <a:xfrm>
            <a:off x="777240" y="3538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25880" y="3429000"/>
            <a:ext cx="996696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El servicio se degrada antes de que la red se caiga</a:t>
            </a:r>
            <a:endParaRPr lang="en-US" sz="1450" dirty="0"/>
          </a:p>
        </p:txBody>
      </p:sp>
      <p:sp>
        <p:nvSpPr>
          <p:cNvPr id="18" name="Text 16"/>
          <p:cNvSpPr/>
          <p:nvPr/>
        </p:nvSpPr>
        <p:spPr>
          <a:xfrm>
            <a:off x="1325880" y="3730752"/>
            <a:ext cx="9966960" cy="329184"/>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Hay que vigilar la calidad, no solo si hay conexión: cuando el monitoreo avisa, ya es tarde.</a:t>
            </a:r>
            <a:endParaRPr lang="en-US" sz="1250" dirty="0"/>
          </a:p>
        </p:txBody>
      </p:sp>
      <p:sp>
        <p:nvSpPr>
          <p:cNvPr id="19" name="Shape 17"/>
          <p:cNvSpPr/>
          <p:nvPr/>
        </p:nvSpPr>
        <p:spPr>
          <a:xfrm>
            <a:off x="548640" y="4224528"/>
            <a:ext cx="11064240" cy="841248"/>
          </a:xfrm>
          <a:prstGeom prst="roundRect">
            <a:avLst>
              <a:gd name="adj" fmla="val 8696"/>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20" name="Shape 18"/>
          <p:cNvSpPr/>
          <p:nvPr/>
        </p:nvSpPr>
        <p:spPr>
          <a:xfrm>
            <a:off x="777240" y="4453128"/>
            <a:ext cx="384048" cy="384048"/>
          </a:xfrm>
          <a:prstGeom prst="ellipse">
            <a:avLst/>
          </a:prstGeom>
          <a:solidFill>
            <a:srgbClr val="A01A24"/>
          </a:solidFill>
          <a:ln w="12700">
            <a:solidFill>
              <a:srgbClr val="A01A24"/>
            </a:solidFill>
            <a:prstDash val="solid"/>
          </a:ln>
        </p:spPr>
      </p:sp>
      <p:sp>
        <p:nvSpPr>
          <p:cNvPr id="21" name="Text 19"/>
          <p:cNvSpPr/>
          <p:nvPr/>
        </p:nvSpPr>
        <p:spPr>
          <a:xfrm>
            <a:off x="77724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325880" y="4343400"/>
            <a:ext cx="9966960" cy="292608"/>
          </a:xfrm>
          <a:prstGeom prst="rect">
            <a:avLst/>
          </a:prstGeom>
          <a:noFill/>
          <a:ln/>
        </p:spPr>
        <p:txBody>
          <a:bodyPr wrap="square" lIns="0" tIns="0" rIns="0" bIns="0" rtlCol="0" anchor="ctr"/>
          <a:lstStyle/>
          <a:p>
            <a:pPr indent="0" marL="0">
              <a:buNone/>
            </a:pPr>
            <a:r>
              <a:rPr lang="en-US" sz="1450" b="1" dirty="0">
                <a:solidFill>
                  <a:srgbClr val="A01A24"/>
                </a:solidFill>
                <a:latin typeface="Calibri" pitchFamily="34" charset="0"/>
                <a:ea typeface="Calibri" pitchFamily="34" charset="-122"/>
                <a:cs typeface="Calibri" pitchFamily="34" charset="-120"/>
              </a:rPr>
              <a:t>Campus Paraíso no tiene la protección que se le atribuye</a:t>
            </a:r>
            <a:endParaRPr lang="en-US" sz="1450" dirty="0"/>
          </a:p>
        </p:txBody>
      </p:sp>
      <p:sp>
        <p:nvSpPr>
          <p:cNvPr id="23" name="Text 21"/>
          <p:cNvSpPr/>
          <p:nvPr/>
        </p:nvSpPr>
        <p:spPr>
          <a:xfrm>
            <a:off x="1325880" y="4645152"/>
            <a:ext cx="9966960" cy="329184"/>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Tres análisis independientes lo confirman. Es el hallazgo más accionable del trabajo.</a:t>
            </a:r>
            <a:endParaRPr lang="en-US" sz="1250" dirty="0"/>
          </a:p>
        </p:txBody>
      </p:sp>
      <p:sp>
        <p:nvSpPr>
          <p:cNvPr id="24" name="Shape 22"/>
          <p:cNvSpPr/>
          <p:nvPr/>
        </p:nvSpPr>
        <p:spPr>
          <a:xfrm>
            <a:off x="548640" y="5138928"/>
            <a:ext cx="11064240" cy="841248"/>
          </a:xfrm>
          <a:prstGeom prst="roundRect">
            <a:avLst>
              <a:gd name="adj" fmla="val 8696"/>
            </a:avLst>
          </a:prstGeom>
          <a:solidFill>
            <a:srgbClr val="FDECEE"/>
          </a:solidFill>
          <a:ln w="12700">
            <a:solidFill>
              <a:srgbClr val="FDECEE"/>
            </a:solidFill>
            <a:prstDash val="solid"/>
          </a:ln>
          <a:effectLst>
            <a:outerShdw sx="100000" sy="100000" kx="0" ky="0" algn="bl" rotWithShape="0" blurRad="76200" dist="508" dir="5400000">
              <a:srgbClr val="9AA3B0">
                <a:alpha val="25000"/>
              </a:srgbClr>
            </a:outerShdw>
          </a:effectLst>
        </p:spPr>
      </p:sp>
      <p:sp>
        <p:nvSpPr>
          <p:cNvPr id="25" name="Shape 23"/>
          <p:cNvSpPr/>
          <p:nvPr/>
        </p:nvSpPr>
        <p:spPr>
          <a:xfrm>
            <a:off x="777240" y="5367528"/>
            <a:ext cx="384048" cy="384048"/>
          </a:xfrm>
          <a:prstGeom prst="ellipse">
            <a:avLst/>
          </a:prstGeom>
          <a:solidFill>
            <a:srgbClr val="A01A24"/>
          </a:solidFill>
          <a:ln w="12700">
            <a:solidFill>
              <a:srgbClr val="A01A24"/>
            </a:solidFill>
            <a:prstDash val="solid"/>
          </a:ln>
        </p:spPr>
      </p:sp>
      <p:sp>
        <p:nvSpPr>
          <p:cNvPr id="26" name="Text 24"/>
          <p:cNvSpPr/>
          <p:nvPr/>
        </p:nvSpPr>
        <p:spPr>
          <a:xfrm>
            <a:off x="777240" y="5367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325880" y="5257800"/>
            <a:ext cx="9966960" cy="292608"/>
          </a:xfrm>
          <a:prstGeom prst="rect">
            <a:avLst/>
          </a:prstGeom>
          <a:noFill/>
          <a:ln/>
        </p:spPr>
        <p:txBody>
          <a:bodyPr wrap="square" lIns="0" tIns="0" rIns="0" bIns="0" rtlCol="0" anchor="ctr"/>
          <a:lstStyle/>
          <a:p>
            <a:pPr indent="0" marL="0">
              <a:buNone/>
            </a:pPr>
            <a:r>
              <a:rPr lang="en-US" sz="1450" b="1" dirty="0">
                <a:solidFill>
                  <a:srgbClr val="A01A24"/>
                </a:solidFill>
                <a:latin typeface="Calibri" pitchFamily="34" charset="0"/>
                <a:ea typeface="Calibri" pitchFamily="34" charset="-122"/>
                <a:cs typeface="Calibri" pitchFamily="34" charset="-120"/>
              </a:rPr>
              <a:t>Y se arregla con lo más barato que había sobre la mesa</a:t>
            </a:r>
            <a:endParaRPr lang="en-US" sz="1450" dirty="0"/>
          </a:p>
        </p:txBody>
      </p:sp>
      <p:sp>
        <p:nvSpPr>
          <p:cNvPr id="28" name="Text 26"/>
          <p:cNvSpPr/>
          <p:nvPr/>
        </p:nvSpPr>
        <p:spPr>
          <a:xfrm>
            <a:off x="1325880" y="5559552"/>
            <a:ext cx="9966960" cy="329184"/>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Ampliar un cable ya tendido multiplica por diez su caudal de salida.</a:t>
            </a:r>
            <a:endParaRPr lang="en-US" sz="1250" dirty="0"/>
          </a:p>
        </p:txBody>
      </p:sp>
      <p:sp>
        <p:nvSpPr>
          <p:cNvPr id="30" name="Text 27"/>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31" name="Text 28"/>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3657600"/>
            <a:ext cx="5486400" cy="5486400"/>
          </a:xfrm>
          <a:prstGeom prst="ellipse">
            <a:avLst/>
          </a:prstGeom>
          <a:solidFill>
            <a:srgbClr val="2A3A7A">
              <a:alpha val="55000"/>
            </a:srgbClr>
          </a:solidFill>
          <a:ln w="12700">
            <a:solidFill>
              <a:srgbClr val="2A3A7A">
                <a:alpha val="0"/>
              </a:srgbClr>
            </a:solidFill>
            <a:prstDash val="solid"/>
          </a:ln>
        </p:spPr>
      </p:sp>
      <p:sp>
        <p:nvSpPr>
          <p:cNvPr id="3" name="Shape 1"/>
          <p:cNvSpPr/>
          <p:nvPr/>
        </p:nvSpPr>
        <p:spPr>
          <a:xfrm>
            <a:off x="9509760" y="-1280160"/>
            <a:ext cx="4206240" cy="4206240"/>
          </a:xfrm>
          <a:prstGeom prst="ellipse">
            <a:avLst/>
          </a:prstGeom>
          <a:solidFill>
            <a:srgbClr val="A01A24">
              <a:alpha val="32000"/>
            </a:srgbClr>
          </a:solidFill>
          <a:ln w="12700">
            <a:solidFill>
              <a:srgbClr val="A01A24">
                <a:alpha val="0"/>
              </a:srgbClr>
            </a:solidFill>
            <a:prstDash val="solid"/>
          </a:ln>
        </p:spPr>
      </p:sp>
      <p:sp>
        <p:nvSpPr>
          <p:cNvPr id="4" name="Text 2"/>
          <p:cNvSpPr/>
          <p:nvPr/>
        </p:nvSpPr>
        <p:spPr>
          <a:xfrm>
            <a:off x="548640" y="1097280"/>
            <a:ext cx="11064240" cy="320040"/>
          </a:xfrm>
          <a:prstGeom prst="rect">
            <a:avLst/>
          </a:prstGeom>
          <a:noFill/>
          <a:ln/>
        </p:spPr>
        <p:txBody>
          <a:bodyPr wrap="square" lIns="0" tIns="0" rIns="0" bIns="0" rtlCol="0" anchor="ctr"/>
          <a:lstStyle/>
          <a:p>
            <a:pPr indent="0" marL="0">
              <a:buNone/>
            </a:pPr>
            <a:r>
              <a:rPr lang="en-US" sz="1250" b="1" spc="160" kern="0" dirty="0">
                <a:solidFill>
                  <a:srgbClr val="CADCFC"/>
                </a:solidFill>
                <a:latin typeface="Calibri" pitchFamily="34" charset="0"/>
                <a:ea typeface="Calibri" pitchFamily="34" charset="-122"/>
                <a:cs typeface="Calibri" pitchFamily="34" charset="-120"/>
              </a:rPr>
              <a:t>LA PREGUNTA CON LA QUE CIERRA EL ENUNCIADO</a:t>
            </a:r>
            <a:endParaRPr lang="en-US" sz="1250" dirty="0"/>
          </a:p>
        </p:txBody>
      </p:sp>
      <p:sp>
        <p:nvSpPr>
          <p:cNvPr id="5" name="Text 3"/>
          <p:cNvSpPr/>
          <p:nvPr/>
        </p:nvSpPr>
        <p:spPr>
          <a:xfrm>
            <a:off x="548640" y="1536192"/>
            <a:ext cx="10241280" cy="1005840"/>
          </a:xfrm>
          <a:prstGeom prst="rect">
            <a:avLst/>
          </a:prstGeom>
          <a:noFill/>
          <a:ln/>
        </p:spPr>
        <p:txBody>
          <a:bodyPr wrap="square" lIns="0" tIns="0" rIns="0" bIns="0" rtlCol="0" anchor="ctr"/>
          <a:lstStyle/>
          <a:p>
            <a:pPr indent="0" marL="0">
              <a:buNone/>
            </a:pPr>
            <a:r>
              <a:rPr lang="en-US" sz="2500" i="1" dirty="0">
                <a:solidFill>
                  <a:srgbClr val="FFFFFF"/>
                </a:solidFill>
                <a:latin typeface="Cambria" pitchFamily="34" charset="0"/>
                <a:ea typeface="Cambria" pitchFamily="34" charset="-122"/>
                <a:cs typeface="Cambria" pitchFamily="34" charset="-120"/>
              </a:rPr>
              <a:t>«Si usted administrara esta red y tuviera presupuesto</a:t>
            </a:r>
            <a:endParaRPr lang="en-US" sz="2500" dirty="0"/>
          </a:p>
          <a:p>
            <a:pPr indent="0" marL="0">
              <a:buNone/>
            </a:pPr>
            <a:r>
              <a:rPr lang="en-US" sz="2500" i="1" dirty="0">
                <a:solidFill>
                  <a:srgbClr val="FFFFFF"/>
                </a:solidFill>
                <a:latin typeface="Cambria" pitchFamily="34" charset="0"/>
                <a:ea typeface="Cambria" pitchFamily="34" charset="-122"/>
                <a:cs typeface="Cambria" pitchFamily="34" charset="-120"/>
              </a:rPr>
              <a:t>para cinco cables, ¿cuáles construiría y por qué?»</a:t>
            </a:r>
            <a:endParaRPr lang="en-US" sz="2500" dirty="0"/>
          </a:p>
        </p:txBody>
      </p:sp>
      <p:sp>
        <p:nvSpPr>
          <p:cNvPr id="6" name="Shape 4"/>
          <p:cNvSpPr/>
          <p:nvPr/>
        </p:nvSpPr>
        <p:spPr>
          <a:xfrm>
            <a:off x="548640" y="2834640"/>
            <a:ext cx="11064240" cy="1783080"/>
          </a:xfrm>
          <a:prstGeom prst="roundRect">
            <a:avLst>
              <a:gd name="adj" fmla="val 4103"/>
            </a:avLst>
          </a:prstGeom>
          <a:solidFill>
            <a:srgbClr val="2A3A7A"/>
          </a:solidFill>
          <a:ln w="12700">
            <a:solidFill>
              <a:srgbClr val="2A3A7A"/>
            </a:solidFill>
            <a:prstDash val="solid"/>
          </a:ln>
        </p:spPr>
      </p:sp>
      <p:sp>
        <p:nvSpPr>
          <p:cNvPr id="7" name="Text 5"/>
          <p:cNvSpPr/>
          <p:nvPr/>
        </p:nvSpPr>
        <p:spPr>
          <a:xfrm>
            <a:off x="914400" y="3035808"/>
            <a:ext cx="1033272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Empezaría por Campus Paraíso.</a:t>
            </a:r>
            <a:endParaRPr lang="en-US" sz="2800" dirty="0"/>
          </a:p>
        </p:txBody>
      </p:sp>
      <p:sp>
        <p:nvSpPr>
          <p:cNvPr id="8" name="Text 6"/>
          <p:cNvSpPr/>
          <p:nvPr/>
        </p:nvSpPr>
        <p:spPr>
          <a:xfrm>
            <a:off x="914400" y="3611880"/>
            <a:ext cx="10332720" cy="914400"/>
          </a:xfrm>
          <a:prstGeom prst="rect">
            <a:avLst/>
          </a:prstGeom>
          <a:noFill/>
          <a:ln/>
        </p:spPr>
        <p:txBody>
          <a:bodyPr wrap="square" lIns="0" tIns="0" rIns="0" bIns="0" rtlCol="0" anchor="t"/>
          <a:lstStyle/>
          <a:p>
            <a:pPr indent="0" marL="0">
              <a:buNone/>
            </a:pPr>
            <a:r>
              <a:rPr lang="en-US" sz="1450" dirty="0">
                <a:solidFill>
                  <a:srgbClr val="CADCFC"/>
                </a:solidFill>
                <a:latin typeface="Calibri" pitchFamily="34" charset="0"/>
                <a:ea typeface="Calibri" pitchFamily="34" charset="-122"/>
                <a:cs typeface="Calibri" pitchFamily="34" charset="-120"/>
              </a:rPr>
              <a:t>Ampliar ese único cable de salida es, a la vez, lo más barato que se puede hacer (la fibra ya está tendida), lo de mayor impacto medido (el caudal se multiplica por diez) y lo que corrige una diferencia real entre lo que el informe técnico afirma y lo que los datos muestran.</a:t>
            </a:r>
            <a:endParaRPr lang="en-US" sz="1450" dirty="0"/>
          </a:p>
        </p:txBody>
      </p:sp>
      <p:sp>
        <p:nvSpPr>
          <p:cNvPr id="9" name="Text 7"/>
          <p:cNvSpPr/>
          <p:nvPr/>
        </p:nvSpPr>
        <p:spPr>
          <a:xfrm>
            <a:off x="548640" y="5029200"/>
            <a:ext cx="11064240" cy="10058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Gracias.  Quedo atento a sus preguntas.</a:t>
            </a:r>
            <a:endParaRPr lang="en-US" sz="2200" dirty="0"/>
          </a:p>
          <a:p>
            <a:pPr indent="0" marL="0">
              <a:buNone/>
            </a:pPr>
            <a:r>
              <a:rPr lang="en-US" sz="1300" dirty="0">
                <a:solidFill>
                  <a:srgbClr val="CADCFC"/>
                </a:solidFill>
                <a:latin typeface="Calibri" pitchFamily="34" charset="0"/>
                <a:ea typeface="Calibri" pitchFamily="34" charset="-122"/>
                <a:cs typeface="Calibri" pitchFamily="34" charset="-120"/>
              </a:rPr>
              <a:t>Efrain Adolfo Alvarado Plasencia  ·  efrain.alvarado@ucuenca.edu.ec</a:t>
            </a:r>
            <a:endParaRPr lang="en-US" sz="2200" dirty="0"/>
          </a:p>
        </p:txBody>
      </p:sp>
      <p:sp>
        <p:nvSpPr>
          <p:cNvPr id="11" name="Text 8"/>
          <p:cNvSpPr/>
          <p:nvPr/>
        </p:nvSpPr>
        <p:spPr>
          <a:xfrm>
            <a:off x="548640" y="6446520"/>
            <a:ext cx="5943600" cy="256032"/>
          </a:xfrm>
          <a:prstGeom prst="rect">
            <a:avLst/>
          </a:prstGeom>
          <a:noFill/>
          <a:ln/>
        </p:spPr>
        <p:txBody>
          <a:bodyPr wrap="square" lIns="0" tIns="0" rIns="0" bIns="0" rtlCol="0" anchor="ctr"/>
          <a:lstStyle/>
          <a:p>
            <a:pPr indent="0" marL="0">
              <a:buNone/>
            </a:pPr>
            <a:r>
              <a:rPr lang="en-US" sz="900" dirty="0">
                <a:solidFill>
                  <a:srgbClr val="9AA3B0"/>
                </a:solidFill>
                <a:latin typeface="Calibri" pitchFamily="34" charset="0"/>
                <a:ea typeface="Calibri" pitchFamily="34" charset="-122"/>
                <a:cs typeface="Calibri" pitchFamily="34" charset="-120"/>
              </a:rPr>
              <a:t>Redes Complejas 1217  ·  Red de datos UCuenca</a:t>
            </a:r>
            <a:endParaRPr lang="en-US" sz="900" dirty="0"/>
          </a:p>
        </p:txBody>
      </p:sp>
      <p:sp>
        <p:nvSpPr>
          <p:cNvPr id="12" name="Text 9"/>
          <p:cNvSpPr/>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3B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de Redes Complejas - Red de datos UCuenca</dc:title>
  <dc:subject>PptxGenJS Presentation</dc:subject>
  <dc:creator>Efrain Adolfo Alvarado Plasencia</dc:creator>
  <cp:lastModifiedBy>Efrain Adolfo Alvarado Plasencia</cp:lastModifiedBy>
  <cp:revision>1</cp:revision>
  <dcterms:created xsi:type="dcterms:W3CDTF">2026-08-25T19:48:39Z</dcterms:created>
  <dcterms:modified xsi:type="dcterms:W3CDTF">2026-08-25T19:48:39Z</dcterms:modified>
</cp:coreProperties>
</file>